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0" r:id="rId1"/>
  </p:sldMasterIdLst>
  <p:notesMasterIdLst>
    <p:notesMasterId r:id="rId53"/>
  </p:notesMasterIdLst>
  <p:handoutMasterIdLst>
    <p:handoutMasterId r:id="rId54"/>
  </p:handoutMasterIdLst>
  <p:sldIdLst>
    <p:sldId id="256" r:id="rId2"/>
    <p:sldId id="501" r:id="rId3"/>
    <p:sldId id="491" r:id="rId4"/>
    <p:sldId id="257" r:id="rId5"/>
    <p:sldId id="495" r:id="rId6"/>
    <p:sldId id="455" r:id="rId7"/>
    <p:sldId id="496" r:id="rId8"/>
    <p:sldId id="458" r:id="rId9"/>
    <p:sldId id="456" r:id="rId10"/>
    <p:sldId id="459" r:id="rId11"/>
    <p:sldId id="460" r:id="rId12"/>
    <p:sldId id="464" r:id="rId13"/>
    <p:sldId id="465" r:id="rId14"/>
    <p:sldId id="466" r:id="rId15"/>
    <p:sldId id="470" r:id="rId16"/>
    <p:sldId id="467" r:id="rId17"/>
    <p:sldId id="468" r:id="rId18"/>
    <p:sldId id="497" r:id="rId19"/>
    <p:sldId id="469" r:id="rId20"/>
    <p:sldId id="500" r:id="rId21"/>
    <p:sldId id="502" r:id="rId22"/>
    <p:sldId id="561" r:id="rId23"/>
    <p:sldId id="552" r:id="rId24"/>
    <p:sldId id="528" r:id="rId25"/>
    <p:sldId id="529" r:id="rId26"/>
    <p:sldId id="531" r:id="rId27"/>
    <p:sldId id="553" r:id="rId28"/>
    <p:sldId id="565" r:id="rId29"/>
    <p:sldId id="566" r:id="rId30"/>
    <p:sldId id="567" r:id="rId31"/>
    <p:sldId id="503" r:id="rId32"/>
    <p:sldId id="504" r:id="rId33"/>
    <p:sldId id="533" r:id="rId34"/>
    <p:sldId id="535" r:id="rId35"/>
    <p:sldId id="506" r:id="rId36"/>
    <p:sldId id="560" r:id="rId37"/>
    <p:sldId id="548" r:id="rId38"/>
    <p:sldId id="568" r:id="rId39"/>
    <p:sldId id="479" r:id="rId40"/>
    <p:sldId id="474" r:id="rId41"/>
    <p:sldId id="471" r:id="rId42"/>
    <p:sldId id="478" r:id="rId43"/>
    <p:sldId id="475" r:id="rId44"/>
    <p:sldId id="569" r:id="rId45"/>
    <p:sldId id="570" r:id="rId46"/>
    <p:sldId id="571" r:id="rId47"/>
    <p:sldId id="572" r:id="rId48"/>
    <p:sldId id="573" r:id="rId49"/>
    <p:sldId id="498" r:id="rId50"/>
    <p:sldId id="476" r:id="rId51"/>
    <p:sldId id="381" r:id="rId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327"/>
  </p:normalViewPr>
  <p:slideViewPr>
    <p:cSldViewPr snapToGrid="0" snapToObjects="1">
      <p:cViewPr varScale="1">
        <p:scale>
          <a:sx n="128" d="100"/>
          <a:sy n="128" d="100"/>
        </p:scale>
        <p:origin x="1704" y="176"/>
      </p:cViewPr>
      <p:guideLst>
        <p:guide orient="horz" pos="2160"/>
        <p:guide pos="2880"/>
      </p:guideLst>
    </p:cSldViewPr>
  </p:slideViewPr>
  <p:notesTextViewPr>
    <p:cViewPr>
      <p:scale>
        <a:sx n="100" d="100"/>
        <a:sy n="100" d="100"/>
      </p:scale>
      <p:origin x="0" y="0"/>
    </p:cViewPr>
  </p:notesTextViewPr>
  <p:sorterViewPr>
    <p:cViewPr>
      <p:scale>
        <a:sx n="146" d="100"/>
        <a:sy n="14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AD971EF-B8E8-5E4E-A252-CAE657155341}" type="datetimeFigureOut">
              <a:rPr lang="en-US" smtClean="0"/>
              <a:t>4/23/24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CD00CC4-C515-EF4A-859B-EC419CFE6516}" type="slidenum">
              <a:rPr lang="en-US" smtClean="0"/>
              <a:t>‹#›</a:t>
            </a:fld>
            <a:endParaRPr lang="en-US"/>
          </a:p>
        </p:txBody>
      </p:sp>
    </p:spTree>
    <p:extLst>
      <p:ext uri="{BB962C8B-B14F-4D97-AF65-F5344CB8AC3E}">
        <p14:creationId xmlns:p14="http://schemas.microsoft.com/office/powerpoint/2010/main" val="10381396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599B5E-E4DD-C949-B709-844818E87680}" type="datetimeFigureOut">
              <a:rPr lang="en-US" smtClean="0"/>
              <a:t>4/23/24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844B0F-8041-584B-ADCD-485AE030017A}" type="slidenum">
              <a:rPr lang="en-US" smtClean="0"/>
              <a:t>‹#›</a:t>
            </a:fld>
            <a:endParaRPr lang="en-US"/>
          </a:p>
        </p:txBody>
      </p:sp>
    </p:spTree>
    <p:extLst>
      <p:ext uri="{BB962C8B-B14F-4D97-AF65-F5344CB8AC3E}">
        <p14:creationId xmlns:p14="http://schemas.microsoft.com/office/powerpoint/2010/main" val="417929318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3</a:t>
            </a:fld>
            <a:endParaRPr lang="en-US" dirty="0"/>
          </a:p>
        </p:txBody>
      </p:sp>
    </p:spTree>
    <p:extLst>
      <p:ext uri="{BB962C8B-B14F-4D97-AF65-F5344CB8AC3E}">
        <p14:creationId xmlns:p14="http://schemas.microsoft.com/office/powerpoint/2010/main" val="165344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4</a:t>
            </a:fld>
            <a:endParaRPr lang="en-US" dirty="0"/>
          </a:p>
        </p:txBody>
      </p:sp>
    </p:spTree>
    <p:extLst>
      <p:ext uri="{BB962C8B-B14F-4D97-AF65-F5344CB8AC3E}">
        <p14:creationId xmlns:p14="http://schemas.microsoft.com/office/powerpoint/2010/main" val="1909002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5</a:t>
            </a:fld>
            <a:endParaRPr lang="en-US" dirty="0"/>
          </a:p>
        </p:txBody>
      </p:sp>
    </p:spTree>
    <p:extLst>
      <p:ext uri="{BB962C8B-B14F-4D97-AF65-F5344CB8AC3E}">
        <p14:creationId xmlns:p14="http://schemas.microsoft.com/office/powerpoint/2010/main" val="532670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844B0F-8041-584B-ADCD-485AE030017A}" type="slidenum">
              <a:rPr lang="en-US" smtClean="0"/>
              <a:t>36</a:t>
            </a:fld>
            <a:endParaRPr lang="en-US"/>
          </a:p>
        </p:txBody>
      </p:sp>
    </p:spTree>
    <p:extLst>
      <p:ext uri="{BB962C8B-B14F-4D97-AF65-F5344CB8AC3E}">
        <p14:creationId xmlns:p14="http://schemas.microsoft.com/office/powerpoint/2010/main" val="4069714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38</a:t>
            </a:fld>
            <a:endParaRPr lang="en-US"/>
          </a:p>
        </p:txBody>
      </p:sp>
    </p:spTree>
    <p:extLst>
      <p:ext uri="{BB962C8B-B14F-4D97-AF65-F5344CB8AC3E}">
        <p14:creationId xmlns:p14="http://schemas.microsoft.com/office/powerpoint/2010/main" val="1303455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39</a:t>
            </a:fld>
            <a:endParaRPr lang="en-US"/>
          </a:p>
        </p:txBody>
      </p:sp>
    </p:spTree>
    <p:extLst>
      <p:ext uri="{BB962C8B-B14F-4D97-AF65-F5344CB8AC3E}">
        <p14:creationId xmlns:p14="http://schemas.microsoft.com/office/powerpoint/2010/main" val="35005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40</a:t>
            </a:fld>
            <a:endParaRPr lang="en-US"/>
          </a:p>
        </p:txBody>
      </p:sp>
    </p:spTree>
    <p:extLst>
      <p:ext uri="{BB962C8B-B14F-4D97-AF65-F5344CB8AC3E}">
        <p14:creationId xmlns:p14="http://schemas.microsoft.com/office/powerpoint/2010/main" val="521595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41</a:t>
            </a:fld>
            <a:endParaRPr lang="en-US"/>
          </a:p>
        </p:txBody>
      </p:sp>
    </p:spTree>
    <p:extLst>
      <p:ext uri="{BB962C8B-B14F-4D97-AF65-F5344CB8AC3E}">
        <p14:creationId xmlns:p14="http://schemas.microsoft.com/office/powerpoint/2010/main" val="2947025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42</a:t>
            </a:fld>
            <a:endParaRPr lang="en-US"/>
          </a:p>
        </p:txBody>
      </p:sp>
    </p:spTree>
    <p:extLst>
      <p:ext uri="{BB962C8B-B14F-4D97-AF65-F5344CB8AC3E}">
        <p14:creationId xmlns:p14="http://schemas.microsoft.com/office/powerpoint/2010/main" val="17269564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43</a:t>
            </a:fld>
            <a:endParaRPr lang="en-US"/>
          </a:p>
        </p:txBody>
      </p:sp>
    </p:spTree>
    <p:extLst>
      <p:ext uri="{BB962C8B-B14F-4D97-AF65-F5344CB8AC3E}">
        <p14:creationId xmlns:p14="http://schemas.microsoft.com/office/powerpoint/2010/main" val="1101513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44</a:t>
            </a:fld>
            <a:endParaRPr lang="en-US"/>
          </a:p>
        </p:txBody>
      </p:sp>
    </p:spTree>
    <p:extLst>
      <p:ext uri="{BB962C8B-B14F-4D97-AF65-F5344CB8AC3E}">
        <p14:creationId xmlns:p14="http://schemas.microsoft.com/office/powerpoint/2010/main" val="336465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45</a:t>
            </a:fld>
            <a:endParaRPr lang="en-US"/>
          </a:p>
        </p:txBody>
      </p:sp>
    </p:spTree>
    <p:extLst>
      <p:ext uri="{BB962C8B-B14F-4D97-AF65-F5344CB8AC3E}">
        <p14:creationId xmlns:p14="http://schemas.microsoft.com/office/powerpoint/2010/main" val="861021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46</a:t>
            </a:fld>
            <a:endParaRPr lang="en-US"/>
          </a:p>
        </p:txBody>
      </p:sp>
    </p:spTree>
    <p:extLst>
      <p:ext uri="{BB962C8B-B14F-4D97-AF65-F5344CB8AC3E}">
        <p14:creationId xmlns:p14="http://schemas.microsoft.com/office/powerpoint/2010/main" val="233665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47</a:t>
            </a:fld>
            <a:endParaRPr lang="en-US"/>
          </a:p>
        </p:txBody>
      </p:sp>
    </p:spTree>
    <p:extLst>
      <p:ext uri="{BB962C8B-B14F-4D97-AF65-F5344CB8AC3E}">
        <p14:creationId xmlns:p14="http://schemas.microsoft.com/office/powerpoint/2010/main" val="21451740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48</a:t>
            </a:fld>
            <a:endParaRPr lang="en-US"/>
          </a:p>
        </p:txBody>
      </p:sp>
    </p:spTree>
    <p:extLst>
      <p:ext uri="{BB962C8B-B14F-4D97-AF65-F5344CB8AC3E}">
        <p14:creationId xmlns:p14="http://schemas.microsoft.com/office/powerpoint/2010/main" val="468703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844B0F-8041-584B-ADCD-485AE030017A}" type="slidenum">
              <a:rPr lang="en-US" smtClean="0"/>
              <a:t>50</a:t>
            </a:fld>
            <a:endParaRPr lang="en-US"/>
          </a:p>
        </p:txBody>
      </p:sp>
    </p:spTree>
    <p:extLst>
      <p:ext uri="{BB962C8B-B14F-4D97-AF65-F5344CB8AC3E}">
        <p14:creationId xmlns:p14="http://schemas.microsoft.com/office/powerpoint/2010/main" val="2928131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457200" y="18288"/>
            <a:ext cx="2895600" cy="329184"/>
          </a:xfrm>
          <a:prstGeom prst="rect">
            <a:avLst/>
          </a:prstGeom>
        </p:spPr>
        <p:txBody>
          <a:bodyPr/>
          <a:lstStyle/>
          <a:p>
            <a:endParaRPr lang="en-US" dirty="0"/>
          </a:p>
        </p:txBody>
      </p:sp>
      <p:sp>
        <p:nvSpPr>
          <p:cNvPr id="6" name="Slide Number Placeholder 5"/>
          <p:cNvSpPr>
            <a:spLocks noGrp="1"/>
          </p:cNvSpPr>
          <p:nvPr>
            <p:ph type="sldNum" sz="quarter" idx="12"/>
          </p:nvPr>
        </p:nvSpPr>
        <p:spPr>
          <a:xfrm>
            <a:off x="8426824" y="0"/>
            <a:ext cx="732118" cy="329184"/>
          </a:xfrm>
          <a:prstGeom prst="rect">
            <a:avLst/>
          </a:prstGeom>
        </p:spPr>
        <p:txBody>
          <a:bodyPr/>
          <a:lstStyle/>
          <a:p>
            <a:fld id="{7F5CE407-6216-4202-80E4-A30DC2F709B2}" type="slidenum">
              <a:rPr lang="en-US" smtClean="0"/>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402917" y="0"/>
            <a:ext cx="732118" cy="329184"/>
          </a:xfrm>
          <a:prstGeom prst="rect">
            <a:avLst/>
          </a:prstGeom>
        </p:spPr>
        <p:txBody>
          <a:bodyPr/>
          <a:lstStyle/>
          <a:p>
            <a:fld id="{F1E687AB-0FD7-C047-930B-FD009416571E}"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18288"/>
            <a:ext cx="2895600" cy="329184"/>
          </a:xfrm>
          <a:prstGeom prst="rect">
            <a:avLst/>
          </a:prstGeom>
        </p:spPr>
        <p:txBody>
          <a:bodyPr/>
          <a:lstStyle/>
          <a:p>
            <a:endParaRPr lang="en-US"/>
          </a:p>
        </p:txBody>
      </p:sp>
      <p:sp>
        <p:nvSpPr>
          <p:cNvPr id="5" name="Footer Placeholder 4"/>
          <p:cNvSpPr>
            <a:spLocks noGrp="1"/>
          </p:cNvSpPr>
          <p:nvPr>
            <p:ph type="ftr" sz="quarter" idx="11"/>
          </p:nvPr>
        </p:nvSpPr>
        <p:spPr>
          <a:xfrm>
            <a:off x="3429000" y="18288"/>
            <a:ext cx="4114800" cy="329184"/>
          </a:xfrm>
          <a:prstGeom prst="rect">
            <a:avLst/>
          </a:prstGeom>
        </p:spPr>
        <p:txBody>
          <a:bodyPr/>
          <a:lstStyle/>
          <a:p>
            <a:endParaRPr lang="en-US"/>
          </a:p>
        </p:txBody>
      </p:sp>
      <p:sp>
        <p:nvSpPr>
          <p:cNvPr id="6" name="Slide Number Placeholder 5"/>
          <p:cNvSpPr>
            <a:spLocks noGrp="1"/>
          </p:cNvSpPr>
          <p:nvPr>
            <p:ph type="sldNum" sz="quarter" idx="12"/>
          </p:nvPr>
        </p:nvSpPr>
        <p:spPr>
          <a:xfrm>
            <a:off x="7620000" y="18288"/>
            <a:ext cx="732118" cy="329184"/>
          </a:xfrm>
          <a:prstGeom prst="rect">
            <a:avLst/>
          </a:prstGeom>
        </p:spPr>
        <p:txBody>
          <a:bodyPr/>
          <a:lstStyle/>
          <a:p>
            <a:fld id="{F1E687AB-0FD7-C047-930B-FD009416571E}"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411882" y="18288"/>
            <a:ext cx="732118" cy="329184"/>
          </a:xfrm>
          <a:prstGeom prst="rect">
            <a:avLst/>
          </a:prstGeom>
        </p:spPr>
        <p:txBody>
          <a:bodyPr/>
          <a:lstStyle/>
          <a:p>
            <a:fld id="{F1E687AB-0FD7-C047-930B-FD009416571E}"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457200" y="18288"/>
            <a:ext cx="2895600" cy="329184"/>
          </a:xfrm>
          <a:prstGeom prst="rect">
            <a:avLst/>
          </a:prstGeom>
        </p:spPr>
        <p:txBody>
          <a:bodyPr/>
          <a:lstStyle/>
          <a:p>
            <a:endParaRPr lang="en-US" dirty="0"/>
          </a:p>
        </p:txBody>
      </p:sp>
      <p:sp>
        <p:nvSpPr>
          <p:cNvPr id="9" name="Slide Number Placeholder 8"/>
          <p:cNvSpPr>
            <a:spLocks noGrp="1"/>
          </p:cNvSpPr>
          <p:nvPr>
            <p:ph type="sldNum" sz="quarter" idx="12"/>
          </p:nvPr>
        </p:nvSpPr>
        <p:spPr>
          <a:xfrm>
            <a:off x="8411882" y="18288"/>
            <a:ext cx="732118" cy="329184"/>
          </a:xfrm>
          <a:prstGeom prst="rect">
            <a:avLst/>
          </a:prstGeom>
        </p:spPr>
        <p:txBody>
          <a:bodyPr/>
          <a:lstStyle/>
          <a:p>
            <a:fld id="{F1E687AB-0FD7-C047-930B-FD009416571E}"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a:xfrm>
            <a:off x="8411882" y="3347"/>
            <a:ext cx="732118" cy="329184"/>
          </a:xfrm>
          <a:prstGeom prst="rect">
            <a:avLst/>
          </a:prstGeom>
        </p:spPr>
        <p:txBody>
          <a:bodyPr/>
          <a:lstStyle/>
          <a:p>
            <a:fld id="{F1E687AB-0FD7-C047-930B-FD009416571E}"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18288"/>
            <a:ext cx="2895600" cy="329184"/>
          </a:xfrm>
          <a:prstGeom prst="rect">
            <a:avLst/>
          </a:prstGeom>
        </p:spPr>
        <p:txBody>
          <a:bodyPr/>
          <a:lstStyle/>
          <a:p>
            <a:endParaRPr lang="en-US"/>
          </a:p>
        </p:txBody>
      </p:sp>
      <p:sp>
        <p:nvSpPr>
          <p:cNvPr id="3" name="Footer Placeholder 2"/>
          <p:cNvSpPr>
            <a:spLocks noGrp="1"/>
          </p:cNvSpPr>
          <p:nvPr>
            <p:ph type="ftr" sz="quarter" idx="11"/>
          </p:nvPr>
        </p:nvSpPr>
        <p:spPr>
          <a:xfrm>
            <a:off x="3429000" y="18288"/>
            <a:ext cx="4114800" cy="329184"/>
          </a:xfrm>
          <a:prstGeom prst="rect">
            <a:avLst/>
          </a:prstGeom>
        </p:spPr>
        <p:txBody>
          <a:bodyPr/>
          <a:lstStyle/>
          <a:p>
            <a:endParaRPr lang="en-US"/>
          </a:p>
        </p:txBody>
      </p:sp>
      <p:sp>
        <p:nvSpPr>
          <p:cNvPr id="4" name="Slide Number Placeholder 3"/>
          <p:cNvSpPr>
            <a:spLocks noGrp="1"/>
          </p:cNvSpPr>
          <p:nvPr>
            <p:ph type="sldNum" sz="quarter" idx="12"/>
          </p:nvPr>
        </p:nvSpPr>
        <p:spPr>
          <a:xfrm>
            <a:off x="8411882" y="3347"/>
            <a:ext cx="732118" cy="329184"/>
          </a:xfrm>
          <a:prstGeom prst="rect">
            <a:avLst/>
          </a:prstGeom>
        </p:spPr>
        <p:txBody>
          <a:bodyPr/>
          <a:lstStyle/>
          <a:p>
            <a:fld id="{F1E687AB-0FD7-C047-930B-FD009416571E}"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18288"/>
            <a:ext cx="2895600" cy="329184"/>
          </a:xfrm>
          <a:prstGeom prst="rect">
            <a:avLst/>
          </a:prstGeom>
        </p:spPr>
        <p:txBody>
          <a:bodyPr/>
          <a:lstStyle/>
          <a:p>
            <a:endParaRPr lang="en-US"/>
          </a:p>
        </p:txBody>
      </p:sp>
      <p:sp>
        <p:nvSpPr>
          <p:cNvPr id="6" name="Footer Placeholder 5"/>
          <p:cNvSpPr>
            <a:spLocks noGrp="1"/>
          </p:cNvSpPr>
          <p:nvPr>
            <p:ph type="ftr" sz="quarter" idx="11"/>
          </p:nvPr>
        </p:nvSpPr>
        <p:spPr>
          <a:xfrm>
            <a:off x="3429000" y="18288"/>
            <a:ext cx="4114800" cy="329184"/>
          </a:xfrm>
          <a:prstGeom prst="rect">
            <a:avLst/>
          </a:prstGeom>
        </p:spPr>
        <p:txBody>
          <a:bodyPr/>
          <a:lstStyle/>
          <a:p>
            <a:endParaRPr lang="en-US"/>
          </a:p>
        </p:txBody>
      </p:sp>
      <p:sp>
        <p:nvSpPr>
          <p:cNvPr id="7" name="Slide Number Placeholder 6"/>
          <p:cNvSpPr>
            <a:spLocks noGrp="1"/>
          </p:cNvSpPr>
          <p:nvPr>
            <p:ph type="sldNum" sz="quarter" idx="12"/>
          </p:nvPr>
        </p:nvSpPr>
        <p:spPr>
          <a:xfrm>
            <a:off x="7620000" y="18288"/>
            <a:ext cx="732118" cy="329184"/>
          </a:xfrm>
          <a:prstGeom prst="rect">
            <a:avLst/>
          </a:prstGeom>
        </p:spPr>
        <p:txBody>
          <a:bodyPr/>
          <a:lstStyle/>
          <a:p>
            <a:fld id="{F1E687AB-0FD7-C047-930B-FD009416571E}"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18288"/>
            <a:ext cx="2895600" cy="329184"/>
          </a:xfrm>
          <a:prstGeom prst="rect">
            <a:avLst/>
          </a:prstGeom>
        </p:spPr>
        <p:txBody>
          <a:bodyPr/>
          <a:lstStyle/>
          <a:p>
            <a:endParaRPr lang="en-US" dirty="0"/>
          </a:p>
        </p:txBody>
      </p:sp>
      <p:sp>
        <p:nvSpPr>
          <p:cNvPr id="7" name="Slide Number Placeholder 6"/>
          <p:cNvSpPr>
            <a:spLocks noGrp="1"/>
          </p:cNvSpPr>
          <p:nvPr>
            <p:ph type="sldNum" sz="quarter" idx="12"/>
          </p:nvPr>
        </p:nvSpPr>
        <p:spPr>
          <a:xfrm>
            <a:off x="8411882" y="18288"/>
            <a:ext cx="732118" cy="329184"/>
          </a:xfrm>
          <a:prstGeom prst="rect">
            <a:avLst/>
          </a:prstGeom>
        </p:spPr>
        <p:txBody>
          <a:bodyPr/>
          <a:lstStyle/>
          <a:p>
            <a:fld id="{F1E687AB-0FD7-C047-930B-FD009416571E}"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18288"/>
            <a:ext cx="2895600" cy="329184"/>
          </a:xfrm>
          <a:prstGeom prst="rect">
            <a:avLst/>
          </a:prstGeom>
        </p:spPr>
        <p:txBody>
          <a:bodyPr/>
          <a:lstStyle/>
          <a:p>
            <a:endParaRPr lang="en-US"/>
          </a:p>
        </p:txBody>
      </p:sp>
      <p:sp>
        <p:nvSpPr>
          <p:cNvPr id="5" name="Footer Placeholder 4"/>
          <p:cNvSpPr>
            <a:spLocks noGrp="1"/>
          </p:cNvSpPr>
          <p:nvPr>
            <p:ph type="ftr" sz="quarter" idx="11"/>
          </p:nvPr>
        </p:nvSpPr>
        <p:spPr>
          <a:xfrm>
            <a:off x="3429000" y="18288"/>
            <a:ext cx="4114800" cy="329184"/>
          </a:xfrm>
          <a:prstGeom prst="rect">
            <a:avLst/>
          </a:prstGeom>
        </p:spPr>
        <p:txBody>
          <a:bodyPr/>
          <a:lstStyle/>
          <a:p>
            <a:endParaRPr lang="en-US"/>
          </a:p>
        </p:txBody>
      </p:sp>
      <p:sp>
        <p:nvSpPr>
          <p:cNvPr id="6" name="Slide Number Placeholder 5"/>
          <p:cNvSpPr>
            <a:spLocks noGrp="1"/>
          </p:cNvSpPr>
          <p:nvPr>
            <p:ph type="sldNum" sz="quarter" idx="12"/>
          </p:nvPr>
        </p:nvSpPr>
        <p:spPr>
          <a:xfrm>
            <a:off x="7620000" y="18288"/>
            <a:ext cx="732118" cy="329184"/>
          </a:xfrm>
          <a:prstGeom prst="rect">
            <a:avLst/>
          </a:prstGeom>
        </p:spPr>
        <p:txBody>
          <a:bodyPr/>
          <a:lstStyle/>
          <a:p>
            <a:fld id="{F1E687AB-0FD7-C047-930B-FD009416571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57200" y="18288"/>
            <a:ext cx="2895600" cy="329184"/>
          </a:xfrm>
          <a:prstGeom prst="rect">
            <a:avLst/>
          </a:prstGeom>
        </p:spPr>
        <p:txBody>
          <a:bodyPr/>
          <a:lstStyle/>
          <a:p>
            <a:endParaRPr lang="en-US"/>
          </a:p>
        </p:txBody>
      </p:sp>
      <p:sp>
        <p:nvSpPr>
          <p:cNvPr id="5" name="Footer Placeholder 4"/>
          <p:cNvSpPr>
            <a:spLocks noGrp="1"/>
          </p:cNvSpPr>
          <p:nvPr>
            <p:ph type="ftr" sz="quarter" idx="11"/>
          </p:nvPr>
        </p:nvSpPr>
        <p:spPr>
          <a:xfrm>
            <a:off x="3429000" y="18288"/>
            <a:ext cx="4114800" cy="329184"/>
          </a:xfrm>
          <a:prstGeom prst="rect">
            <a:avLst/>
          </a:prstGeom>
        </p:spPr>
        <p:txBody>
          <a:bodyPr/>
          <a:lstStyle/>
          <a:p>
            <a:endParaRPr lang="en-US"/>
          </a:p>
        </p:txBody>
      </p:sp>
      <p:sp>
        <p:nvSpPr>
          <p:cNvPr id="6" name="Slide Number Placeholder 5"/>
          <p:cNvSpPr>
            <a:spLocks noGrp="1"/>
          </p:cNvSpPr>
          <p:nvPr>
            <p:ph type="sldNum" sz="quarter" idx="12"/>
          </p:nvPr>
        </p:nvSpPr>
        <p:spPr>
          <a:xfrm>
            <a:off x="7620000" y="18288"/>
            <a:ext cx="732118" cy="329184"/>
          </a:xfrm>
          <a:prstGeom prst="rect">
            <a:avLst/>
          </a:prstGeom>
        </p:spPr>
        <p:txBody>
          <a:bodyPr/>
          <a:lstStyle/>
          <a:p>
            <a:fld id="{F1E687AB-0FD7-C047-930B-FD009416571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Blank">
    <p:spTree>
      <p:nvGrpSpPr>
        <p:cNvPr id="1" name=""/>
        <p:cNvGrpSpPr/>
        <p:nvPr/>
      </p:nvGrpSpPr>
      <p:grpSpPr>
        <a:xfrm>
          <a:off x="0" y="0"/>
          <a:ext cx="0" cy="0"/>
          <a:chOff x="0" y="0"/>
          <a:chExt cx="0" cy="0"/>
        </a:xfrm>
      </p:grpSpPr>
      <p:sp>
        <p:nvSpPr>
          <p:cNvPr id="4" name="Content Placeholder 3"/>
          <p:cNvSpPr>
            <a:spLocks noGrp="1"/>
          </p:cNvSpPr>
          <p:nvPr>
            <p:ph sz="quarter" idx="11"/>
          </p:nvPr>
        </p:nvSpPr>
        <p:spPr>
          <a:xfrm>
            <a:off x="228600" y="457200"/>
            <a:ext cx="8686800" cy="5334001"/>
          </a:xfrm>
        </p:spPr>
        <p:txBody>
          <a:bodyPr/>
          <a:lstStyle/>
          <a:p>
            <a:pPr lvl="0"/>
            <a:endParaRPr lang="en-US" dirty="0"/>
          </a:p>
        </p:txBody>
      </p:sp>
      <p:sp>
        <p:nvSpPr>
          <p:cNvPr id="3" name="Footer Placeholder 1"/>
          <p:cNvSpPr>
            <a:spLocks noGrp="1"/>
          </p:cNvSpPr>
          <p:nvPr>
            <p:ph type="ftr" idx="12"/>
          </p:nvPr>
        </p:nvSpPr>
        <p:spPr>
          <a:xfrm>
            <a:off x="1143000" y="6324600"/>
            <a:ext cx="7086600" cy="433388"/>
          </a:xfrm>
          <a:prstGeom prst="rect">
            <a:avLst/>
          </a:prstGeom>
        </p:spPr>
        <p:txBody>
          <a:bodyPr/>
          <a:lstStyle>
            <a:lvl1pPr>
              <a:defRPr/>
            </a:lvl1pPr>
          </a:lstStyle>
          <a:p>
            <a:r>
              <a:rPr lang="en-US"/>
              <a:t> From A Practical Guide to Ubuntu Linux</a:t>
            </a:r>
            <a:r>
              <a:rPr lang="en-US" baseline="30000"/>
              <a:t>®</a:t>
            </a:r>
            <a:r>
              <a:rPr lang="en-US"/>
              <a:t>, Fourth Edition, by Mark G. Sobell (ISBN-13: 978-0-13-392731-3). Copyright </a:t>
            </a:r>
            <a:r>
              <a:rPr lang="en-US" baseline="30000"/>
              <a:t>©</a:t>
            </a:r>
            <a:r>
              <a:rPr lang="en-US"/>
              <a:t> 2015 Mark G. Sobell. All rights reserved.</a:t>
            </a:r>
          </a:p>
        </p:txBody>
      </p:sp>
    </p:spTree>
    <p:extLst>
      <p:ext uri="{BB962C8B-B14F-4D97-AF65-F5344CB8AC3E}">
        <p14:creationId xmlns:p14="http://schemas.microsoft.com/office/powerpoint/2010/main" val="1919741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36576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571812"/>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5"/>
          <p:cNvSpPr>
            <a:spLocks noGrp="1"/>
          </p:cNvSpPr>
          <p:nvPr>
            <p:ph type="sldNum" sz="quarter" idx="4"/>
          </p:nvPr>
        </p:nvSpPr>
        <p:spPr>
          <a:xfrm>
            <a:off x="8426824" y="0"/>
            <a:ext cx="732118" cy="329184"/>
          </a:xfrm>
          <a:prstGeom prst="rect">
            <a:avLst/>
          </a:prstGeom>
        </p:spPr>
        <p:txBody>
          <a:bodyPr/>
          <a:lstStyle/>
          <a:p>
            <a:fld id="{7F5CE407-6216-4202-80E4-A30DC2F709B2}" type="slidenum">
              <a:rPr lang="en-US" smtClean="0"/>
              <a:t>‹#›</a:t>
            </a:fld>
            <a:endParaRPr lang="en-US" dirty="0"/>
          </a:p>
        </p:txBody>
      </p:sp>
      <p:sp>
        <p:nvSpPr>
          <p:cNvPr id="9" name="TextBox 8"/>
          <p:cNvSpPr txBox="1"/>
          <p:nvPr userDrawn="1"/>
        </p:nvSpPr>
        <p:spPr>
          <a:xfrm>
            <a:off x="3799004" y="6472518"/>
            <a:ext cx="1432479" cy="307777"/>
          </a:xfrm>
          <a:prstGeom prst="rect">
            <a:avLst/>
          </a:prstGeom>
          <a:noFill/>
        </p:spPr>
        <p:txBody>
          <a:bodyPr wrap="none" rtlCol="0">
            <a:spAutoFit/>
          </a:bodyPr>
          <a:lstStyle/>
          <a:p>
            <a:r>
              <a:rPr lang="en-US" sz="1400" dirty="0"/>
              <a:t>Drexel University</a:t>
            </a:r>
          </a:p>
        </p:txBody>
      </p:sp>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Lst>
  <p:hf hdr="0" ftr="0" dt="0"/>
  <p:txStyles>
    <p:titleStyle>
      <a:lvl1pPr algn="l" defTabSz="914400" rtl="0" eaLnBrk="1" latinLnBrk="0" hangingPunct="1">
        <a:spcBef>
          <a:spcPct val="0"/>
        </a:spcBef>
        <a:buNone/>
        <a:defRPr sz="4000" kern="1200" spc="-100" baseline="0">
          <a:solidFill>
            <a:schemeClr val="bg2">
              <a:lumMod val="50000"/>
            </a:schemeClr>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CT210 Open Server I</a:t>
            </a:r>
          </a:p>
        </p:txBody>
      </p:sp>
      <p:sp>
        <p:nvSpPr>
          <p:cNvPr id="3" name="Subtitle 2"/>
          <p:cNvSpPr>
            <a:spLocks noGrp="1"/>
          </p:cNvSpPr>
          <p:nvPr>
            <p:ph type="subTitle" idx="1"/>
          </p:nvPr>
        </p:nvSpPr>
        <p:spPr/>
        <p:txBody>
          <a:bodyPr/>
          <a:lstStyle/>
          <a:p>
            <a:r>
              <a:rPr lang="en-US" dirty="0"/>
              <a:t>Week 4</a:t>
            </a:r>
          </a:p>
          <a:p>
            <a:pPr marL="0" marR="0">
              <a:spcBef>
                <a:spcPts val="0"/>
              </a:spcBef>
              <a:spcAft>
                <a:spcPts val="0"/>
              </a:spcAft>
            </a:pPr>
            <a:r>
              <a:rPr lang="en-US" dirty="0">
                <a:effectLst/>
                <a:ea typeface="Times New Roman" panose="02020603050405020304" pitchFamily="18" charset="0"/>
              </a:rPr>
              <a:t>Managing Software Packages</a:t>
            </a:r>
          </a:p>
          <a:p>
            <a:r>
              <a:rPr lang="en-US" dirty="0">
                <a:effectLst/>
                <a:ea typeface="Times New Roman" panose="02020603050405020304" pitchFamily="18" charset="0"/>
              </a:rPr>
              <a:t>Navigating and Essential Commands </a:t>
            </a:r>
            <a:endParaRPr lang="en-US" dirty="0"/>
          </a:p>
          <a:p>
            <a:endParaRPr lang="en-US" dirty="0"/>
          </a:p>
          <a:p>
            <a:endParaRPr lang="en-US" dirty="0"/>
          </a:p>
        </p:txBody>
      </p:sp>
    </p:spTree>
    <p:extLst>
      <p:ext uri="{BB962C8B-B14F-4D97-AF65-F5344CB8AC3E}">
        <p14:creationId xmlns:p14="http://schemas.microsoft.com/office/powerpoint/2010/main" val="3342034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CT210 Open Server I</a:t>
            </a:r>
          </a:p>
        </p:txBody>
      </p:sp>
      <p:sp>
        <p:nvSpPr>
          <p:cNvPr id="3" name="Subtitle 2"/>
          <p:cNvSpPr>
            <a:spLocks noGrp="1"/>
          </p:cNvSpPr>
          <p:nvPr>
            <p:ph type="subTitle" idx="1"/>
          </p:nvPr>
        </p:nvSpPr>
        <p:spPr/>
        <p:txBody>
          <a:bodyPr/>
          <a:lstStyle/>
          <a:p>
            <a:pPr marL="0" marR="0">
              <a:spcBef>
                <a:spcPts val="0"/>
              </a:spcBef>
              <a:spcAft>
                <a:spcPts val="0"/>
              </a:spcAft>
            </a:pPr>
            <a:r>
              <a:rPr lang="en-US" dirty="0">
                <a:effectLst/>
                <a:ea typeface="Times New Roman" panose="02020603050405020304" pitchFamily="18" charset="0"/>
              </a:rPr>
              <a:t>Managing Software Packages</a:t>
            </a:r>
          </a:p>
          <a:p>
            <a:endParaRPr lang="en-US" dirty="0"/>
          </a:p>
          <a:p>
            <a:endParaRPr lang="en-US" dirty="0"/>
          </a:p>
        </p:txBody>
      </p:sp>
    </p:spTree>
    <p:extLst>
      <p:ext uri="{BB962C8B-B14F-4D97-AF65-F5344CB8AC3E}">
        <p14:creationId xmlns:p14="http://schemas.microsoft.com/office/powerpoint/2010/main" val="78891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Installing Software - Definitions</a:t>
            </a:r>
          </a:p>
        </p:txBody>
      </p:sp>
      <p:sp>
        <p:nvSpPr>
          <p:cNvPr id="3" name="Content Placeholder 2"/>
          <p:cNvSpPr>
            <a:spLocks noGrp="1"/>
          </p:cNvSpPr>
          <p:nvPr>
            <p:ph idx="1"/>
          </p:nvPr>
        </p:nvSpPr>
        <p:spPr>
          <a:xfrm>
            <a:off x="457200" y="1283578"/>
            <a:ext cx="8229600" cy="4876800"/>
          </a:xfrm>
        </p:spPr>
        <p:txBody>
          <a:bodyPr>
            <a:normAutofit lnSpcReduction="10000"/>
          </a:bodyPr>
          <a:lstStyle/>
          <a:p>
            <a:r>
              <a:rPr lang="en-US" dirty="0"/>
              <a:t>Software package </a:t>
            </a:r>
          </a:p>
          <a:p>
            <a:pPr lvl="1"/>
            <a:r>
              <a:rPr lang="en-US" dirty="0"/>
              <a:t>a collection of scripts program files and directories required to install and run an application or utility</a:t>
            </a:r>
          </a:p>
          <a:p>
            <a:pPr lvl="1"/>
            <a:r>
              <a:rPr lang="en-US" dirty="0"/>
              <a:t>Dependencies - the list of other software package that a package depends on. In other words, scripts and program files that the software package uses that are part of another package.</a:t>
            </a:r>
          </a:p>
          <a:p>
            <a:r>
              <a:rPr lang="en-US" dirty="0"/>
              <a:t>PMS </a:t>
            </a:r>
            <a:r>
              <a:rPr lang="mr-IN" dirty="0"/>
              <a:t>–</a:t>
            </a:r>
            <a:r>
              <a:rPr lang="en-US" dirty="0"/>
              <a:t> Package Management System</a:t>
            </a:r>
          </a:p>
          <a:p>
            <a:pPr lvl="1"/>
            <a:r>
              <a:rPr lang="en-US" dirty="0"/>
              <a:t>A set of utilities that allows you to install, upgrade, remove, and search software packages easily and in a consistent manner</a:t>
            </a:r>
          </a:p>
        </p:txBody>
      </p:sp>
      <p:sp>
        <p:nvSpPr>
          <p:cNvPr id="4" name="Slide Number Placeholder 3"/>
          <p:cNvSpPr>
            <a:spLocks noGrp="1"/>
          </p:cNvSpPr>
          <p:nvPr>
            <p:ph type="sldNum" sz="quarter" idx="12"/>
          </p:nvPr>
        </p:nvSpPr>
        <p:spPr/>
        <p:txBody>
          <a:bodyPr/>
          <a:lstStyle/>
          <a:p>
            <a:fld id="{F1E687AB-0FD7-C047-930B-FD009416571E}" type="slidenum">
              <a:rPr lang="en-US" smtClean="0"/>
              <a:t>3</a:t>
            </a:fld>
            <a:endParaRPr lang="en-US" dirty="0"/>
          </a:p>
        </p:txBody>
      </p:sp>
    </p:spTree>
    <p:extLst>
      <p:ext uri="{BB962C8B-B14F-4D97-AF65-F5344CB8AC3E}">
        <p14:creationId xmlns:p14="http://schemas.microsoft.com/office/powerpoint/2010/main" val="1398691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Installing Software - Definitions</a:t>
            </a:r>
          </a:p>
        </p:txBody>
      </p:sp>
      <p:sp>
        <p:nvSpPr>
          <p:cNvPr id="3" name="Content Placeholder 2"/>
          <p:cNvSpPr>
            <a:spLocks noGrp="1"/>
          </p:cNvSpPr>
          <p:nvPr>
            <p:ph idx="1"/>
          </p:nvPr>
        </p:nvSpPr>
        <p:spPr/>
        <p:txBody>
          <a:bodyPr/>
          <a:lstStyle/>
          <a:p>
            <a:r>
              <a:rPr lang="en-US" dirty="0"/>
              <a:t>PMS cont’</a:t>
            </a:r>
          </a:p>
          <a:p>
            <a:pPr lvl="1"/>
            <a:r>
              <a:rPr lang="en-US" dirty="0"/>
              <a:t>Uses a local database to</a:t>
            </a:r>
          </a:p>
          <a:p>
            <a:pPr lvl="2"/>
            <a:r>
              <a:rPr lang="en-US" dirty="0"/>
              <a:t>Keeps track of all the files that belong to packages </a:t>
            </a:r>
          </a:p>
          <a:p>
            <a:pPr lvl="2"/>
            <a:r>
              <a:rPr lang="en-US" dirty="0"/>
              <a:t>Keeps track of package dependencies</a:t>
            </a:r>
          </a:p>
          <a:p>
            <a:pPr lvl="2"/>
            <a:r>
              <a:rPr lang="en-US" dirty="0"/>
              <a:t>Keeps version information for packages</a:t>
            </a:r>
          </a:p>
          <a:p>
            <a:r>
              <a:rPr lang="en-US" dirty="0"/>
              <a:t>Repositories </a:t>
            </a:r>
          </a:p>
          <a:p>
            <a:pPr lvl="1"/>
            <a:r>
              <a:rPr lang="en-US" dirty="0"/>
              <a:t>Apt-get downloads package headers and packages from servers called repositories that can reside on the Internet, a DVD, or a local network.</a:t>
            </a:r>
          </a:p>
          <a:p>
            <a:pPr lvl="1"/>
            <a:endParaRPr lang="en-US" dirty="0"/>
          </a:p>
          <a:p>
            <a:endParaRPr lang="en-US" dirty="0"/>
          </a:p>
        </p:txBody>
      </p:sp>
      <p:sp>
        <p:nvSpPr>
          <p:cNvPr id="5" name="Slide Number Placeholder 4"/>
          <p:cNvSpPr>
            <a:spLocks noGrp="1"/>
          </p:cNvSpPr>
          <p:nvPr>
            <p:ph type="sldNum" sz="quarter" idx="12"/>
          </p:nvPr>
        </p:nvSpPr>
        <p:spPr/>
        <p:txBody>
          <a:bodyPr/>
          <a:lstStyle/>
          <a:p>
            <a:fld id="{F1E687AB-0FD7-C047-930B-FD009416571E}" type="slidenum">
              <a:rPr lang="en-US" smtClean="0"/>
              <a:t>4</a:t>
            </a:fld>
            <a:endParaRPr lang="en-US" dirty="0"/>
          </a:p>
        </p:txBody>
      </p:sp>
    </p:spTree>
    <p:extLst>
      <p:ext uri="{BB962C8B-B14F-4D97-AF65-F5344CB8AC3E}">
        <p14:creationId xmlns:p14="http://schemas.microsoft.com/office/powerpoint/2010/main" val="2410496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 software package utility provides a command line interface to:</a:t>
            </a:r>
          </a:p>
          <a:p>
            <a:pPr lvl="1"/>
            <a:r>
              <a:rPr lang="en-US" dirty="0"/>
              <a:t>Install software packages</a:t>
            </a:r>
          </a:p>
          <a:p>
            <a:pPr lvl="1"/>
            <a:r>
              <a:rPr lang="en-US" dirty="0"/>
              <a:t>Remove software packages</a:t>
            </a:r>
          </a:p>
          <a:p>
            <a:pPr lvl="1"/>
            <a:r>
              <a:rPr lang="en-US" dirty="0"/>
              <a:t>Update or upgrade software packages</a:t>
            </a:r>
          </a:p>
          <a:p>
            <a:pPr lvl="1"/>
            <a:r>
              <a:rPr lang="en-US" dirty="0"/>
              <a:t>Install/remove dependent packages</a:t>
            </a:r>
          </a:p>
          <a:p>
            <a:pPr lvl="1"/>
            <a:r>
              <a:rPr lang="en-US" dirty="0"/>
              <a:t>Obtain source code</a:t>
            </a: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F1E687AB-0FD7-C047-930B-FD009416571E}" type="slidenum">
              <a:rPr lang="en-US" smtClean="0"/>
              <a:t>5</a:t>
            </a:fld>
            <a:endParaRPr lang="en-US" dirty="0"/>
          </a:p>
        </p:txBody>
      </p:sp>
      <p:sp>
        <p:nvSpPr>
          <p:cNvPr id="6" name="Title 1"/>
          <p:cNvSpPr>
            <a:spLocks noGrp="1"/>
          </p:cNvSpPr>
          <p:nvPr>
            <p:ph type="title"/>
          </p:nvPr>
        </p:nvSpPr>
        <p:spPr>
          <a:xfrm>
            <a:off x="457200" y="365760"/>
            <a:ext cx="8229600" cy="990600"/>
          </a:xfrm>
        </p:spPr>
        <p:txBody>
          <a:bodyPr/>
          <a:lstStyle/>
          <a:p>
            <a:r>
              <a:rPr lang="en-US" dirty="0"/>
              <a:t>Installing Software - Utilities</a:t>
            </a:r>
          </a:p>
        </p:txBody>
      </p:sp>
    </p:spTree>
    <p:extLst>
      <p:ext uri="{BB962C8B-B14F-4D97-AF65-F5344CB8AC3E}">
        <p14:creationId xmlns:p14="http://schemas.microsoft.com/office/powerpoint/2010/main" val="928968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Software Packages</a:t>
            </a:r>
          </a:p>
        </p:txBody>
      </p:sp>
      <p:sp>
        <p:nvSpPr>
          <p:cNvPr id="3" name="Slide Number Placeholder 2"/>
          <p:cNvSpPr>
            <a:spLocks noGrp="1"/>
          </p:cNvSpPr>
          <p:nvPr>
            <p:ph type="sldNum" sz="quarter" idx="12"/>
          </p:nvPr>
        </p:nvSpPr>
        <p:spPr/>
        <p:txBody>
          <a:bodyPr/>
          <a:lstStyle/>
          <a:p>
            <a:fld id="{F1E687AB-0FD7-C047-930B-FD009416571E}" type="slidenum">
              <a:rPr lang="en-US" smtClean="0"/>
              <a:t>6</a:t>
            </a:fld>
            <a:endParaRPr lang="en-US" dirty="0"/>
          </a:p>
        </p:txBody>
      </p:sp>
      <p:sp>
        <p:nvSpPr>
          <p:cNvPr id="5" name="Content Placeholder 2"/>
          <p:cNvSpPr txBox="1">
            <a:spLocks/>
          </p:cNvSpPr>
          <p:nvPr/>
        </p:nvSpPr>
        <p:spPr>
          <a:xfrm>
            <a:off x="457200" y="1356360"/>
            <a:ext cx="8229600" cy="4876800"/>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sz="2800" dirty="0"/>
              <a:t>Understanding Linux Package Management</a:t>
            </a:r>
          </a:p>
          <a:p>
            <a:pPr lvl="1"/>
            <a:r>
              <a:rPr lang="en-US" sz="2400" dirty="0"/>
              <a:t>Debian packages</a:t>
            </a:r>
          </a:p>
          <a:p>
            <a:pPr lvl="1"/>
            <a:r>
              <a:rPr lang="en-US" sz="2400" dirty="0"/>
              <a:t>Snap Packages</a:t>
            </a:r>
          </a:p>
          <a:p>
            <a:r>
              <a:rPr lang="en-US" sz="2800" dirty="0"/>
              <a:t>Managing Debian packages with apt</a:t>
            </a:r>
          </a:p>
          <a:p>
            <a:pPr lvl="1"/>
            <a:r>
              <a:rPr lang="en-US" sz="2400" dirty="0"/>
              <a:t>apt or Advance Packaging Tool</a:t>
            </a:r>
          </a:p>
          <a:p>
            <a:pPr lvl="1"/>
            <a:r>
              <a:rPr lang="en-US" sz="2400" dirty="0"/>
              <a:t>Powerful command line tool</a:t>
            </a:r>
          </a:p>
          <a:p>
            <a:pPr lvl="1"/>
            <a:r>
              <a:rPr lang="en-US" sz="2400" dirty="0"/>
              <a:t>Can be used in automated scripts</a:t>
            </a:r>
          </a:p>
          <a:p>
            <a:r>
              <a:rPr lang="en-US" sz="2800" dirty="0"/>
              <a:t>Example for installing </a:t>
            </a:r>
            <a:r>
              <a:rPr lang="en-US" sz="2800" dirty="0" err="1"/>
              <a:t>openssh</a:t>
            </a:r>
            <a:endParaRPr lang="en-US" sz="2800" dirty="0"/>
          </a:p>
          <a:p>
            <a:pPr marL="274320" lvl="1" indent="0">
              <a:buNone/>
            </a:pPr>
            <a:r>
              <a:rPr lang="en-US" sz="2000" dirty="0" err="1">
                <a:latin typeface="Courier New" panose="02070309020205020404" pitchFamily="49" charset="0"/>
                <a:cs typeface="Courier New" panose="02070309020205020404" pitchFamily="49" charset="0"/>
              </a:rPr>
              <a:t>sudo</a:t>
            </a:r>
            <a:r>
              <a:rPr lang="en-US" sz="2000" dirty="0">
                <a:latin typeface="Courier New" panose="02070309020205020404" pitchFamily="49" charset="0"/>
                <a:cs typeface="Courier New" panose="02070309020205020404" pitchFamily="49" charset="0"/>
              </a:rPr>
              <a:t> apt install </a:t>
            </a:r>
            <a:r>
              <a:rPr lang="en-US" sz="2000" dirty="0" err="1">
                <a:latin typeface="Courier New" panose="02070309020205020404" pitchFamily="49" charset="0"/>
                <a:cs typeface="Courier New" panose="02070309020205020404" pitchFamily="49" charset="0"/>
              </a:rPr>
              <a:t>openssh</a:t>
            </a:r>
            <a:r>
              <a:rPr lang="en-US" sz="2000" dirty="0">
                <a:latin typeface="Courier New" panose="02070309020205020404" pitchFamily="49" charset="0"/>
                <a:cs typeface="Courier New" panose="02070309020205020404" pitchFamily="49" charset="0"/>
              </a:rPr>
              <a:t>-server</a:t>
            </a:r>
          </a:p>
          <a:p>
            <a:r>
              <a:rPr lang="en-US" sz="2800" dirty="0"/>
              <a:t>Can install multiple packages at a time</a:t>
            </a:r>
          </a:p>
          <a:p>
            <a:pPr marL="274320" lvl="1" indent="0">
              <a:buNone/>
            </a:pPr>
            <a:r>
              <a:rPr lang="en-US" sz="2000" dirty="0" err="1">
                <a:latin typeface="Courier New" panose="02070309020205020404" pitchFamily="49" charset="0"/>
                <a:cs typeface="Courier New" panose="02070309020205020404" pitchFamily="49" charset="0"/>
              </a:rPr>
              <a:t>sudo</a:t>
            </a:r>
            <a:r>
              <a:rPr lang="en-US" sz="2000" dirty="0">
                <a:latin typeface="Courier New" panose="02070309020205020404" pitchFamily="49" charset="0"/>
                <a:cs typeface="Courier New" panose="02070309020205020404" pitchFamily="49" charset="0"/>
              </a:rPr>
              <a:t> apt install &lt;package1&gt; &lt;package2&gt; &lt;package3&gt;</a:t>
            </a:r>
          </a:p>
        </p:txBody>
      </p:sp>
    </p:spTree>
    <p:extLst>
      <p:ext uri="{BB962C8B-B14F-4D97-AF65-F5344CB8AC3E}">
        <p14:creationId xmlns:p14="http://schemas.microsoft.com/office/powerpoint/2010/main" val="1291634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2EA00-DCE1-E446-DAC0-48B0E170DB57}"/>
              </a:ext>
            </a:extLst>
          </p:cNvPr>
          <p:cNvSpPr>
            <a:spLocks noGrp="1"/>
          </p:cNvSpPr>
          <p:nvPr>
            <p:ph type="title"/>
          </p:nvPr>
        </p:nvSpPr>
        <p:spPr/>
        <p:txBody>
          <a:bodyPr>
            <a:normAutofit/>
          </a:bodyPr>
          <a:lstStyle/>
          <a:p>
            <a:r>
              <a:rPr lang="en-US" sz="4000" dirty="0"/>
              <a:t>Managing Debian packages with apt</a:t>
            </a:r>
            <a:endParaRPr lang="en-US" dirty="0"/>
          </a:p>
        </p:txBody>
      </p:sp>
      <p:sp>
        <p:nvSpPr>
          <p:cNvPr id="3" name="Content Placeholder 2">
            <a:extLst>
              <a:ext uri="{FF2B5EF4-FFF2-40B4-BE49-F238E27FC236}">
                <a16:creationId xmlns:a16="http://schemas.microsoft.com/office/drawing/2014/main" id="{ED0FC0BA-B99D-9992-5FCB-A1A377E36AA0}"/>
              </a:ext>
            </a:extLst>
          </p:cNvPr>
          <p:cNvSpPr>
            <a:spLocks noGrp="1"/>
          </p:cNvSpPr>
          <p:nvPr>
            <p:ph idx="1"/>
          </p:nvPr>
        </p:nvSpPr>
        <p:spPr/>
        <p:txBody>
          <a:bodyPr/>
          <a:lstStyle/>
          <a:p>
            <a:r>
              <a:rPr lang="en-US" dirty="0"/>
              <a:t>Package managers</a:t>
            </a:r>
          </a:p>
          <a:p>
            <a:pPr lvl="1"/>
            <a:r>
              <a:rPr lang="en-US" dirty="0" err="1"/>
              <a:t>dpkg</a:t>
            </a:r>
            <a:r>
              <a:rPr lang="en-US" dirty="0"/>
              <a:t> </a:t>
            </a:r>
            <a:r>
              <a:rPr lang="mr-IN" dirty="0"/>
              <a:t>–</a:t>
            </a:r>
            <a:r>
              <a:rPr lang="en-US" dirty="0"/>
              <a:t> Debian package management system</a:t>
            </a:r>
          </a:p>
          <a:p>
            <a:pPr lvl="2"/>
            <a:r>
              <a:rPr lang="en-US" dirty="0"/>
              <a:t>Works with “deb” files; names end with .deb</a:t>
            </a:r>
          </a:p>
          <a:p>
            <a:pPr lvl="1"/>
            <a:r>
              <a:rPr lang="en-US" dirty="0"/>
              <a:t>APT </a:t>
            </a:r>
            <a:r>
              <a:rPr lang="mr-IN" dirty="0"/>
              <a:t>–</a:t>
            </a:r>
            <a:r>
              <a:rPr lang="en-US" dirty="0"/>
              <a:t> Advanced Package Tool</a:t>
            </a:r>
          </a:p>
          <a:p>
            <a:pPr lvl="2"/>
            <a:r>
              <a:rPr lang="en-US" dirty="0"/>
              <a:t>Downloads packages and then uses </a:t>
            </a:r>
            <a:r>
              <a:rPr lang="en-US" dirty="0" err="1"/>
              <a:t>dpkg</a:t>
            </a:r>
            <a:r>
              <a:rPr lang="en-US" dirty="0"/>
              <a:t> to install them</a:t>
            </a:r>
          </a:p>
          <a:p>
            <a:pPr lvl="1"/>
            <a:r>
              <a:rPr lang="en-US" dirty="0"/>
              <a:t>The command used is </a:t>
            </a:r>
            <a:r>
              <a:rPr lang="en-US" dirty="0">
                <a:latin typeface="Courier New" panose="02070309020205020404" pitchFamily="49" charset="0"/>
                <a:cs typeface="Courier New" panose="02070309020205020404" pitchFamily="49" charset="0"/>
              </a:rPr>
              <a:t>apt</a:t>
            </a:r>
            <a:r>
              <a:rPr lang="en-US" dirty="0"/>
              <a:t> (previously </a:t>
            </a:r>
            <a:r>
              <a:rPr lang="en-US" dirty="0">
                <a:latin typeface="Courier New" panose="02070309020205020404" pitchFamily="49" charset="0"/>
                <a:cs typeface="Courier New" panose="02070309020205020404" pitchFamily="49" charset="0"/>
              </a:rPr>
              <a:t>apt-get</a:t>
            </a:r>
            <a:r>
              <a:rPr lang="en-US" dirty="0"/>
              <a:t>)</a:t>
            </a:r>
          </a:p>
          <a:p>
            <a:endParaRPr lang="en-US" dirty="0"/>
          </a:p>
        </p:txBody>
      </p:sp>
      <p:sp>
        <p:nvSpPr>
          <p:cNvPr id="4" name="Slide Number Placeholder 3">
            <a:extLst>
              <a:ext uri="{FF2B5EF4-FFF2-40B4-BE49-F238E27FC236}">
                <a16:creationId xmlns:a16="http://schemas.microsoft.com/office/drawing/2014/main" id="{00766A7F-9F3D-2B3B-B3BE-F86873AD55C7}"/>
              </a:ext>
            </a:extLst>
          </p:cNvPr>
          <p:cNvSpPr>
            <a:spLocks noGrp="1"/>
          </p:cNvSpPr>
          <p:nvPr>
            <p:ph type="sldNum" sz="quarter" idx="12"/>
          </p:nvPr>
        </p:nvSpPr>
        <p:spPr/>
        <p:txBody>
          <a:bodyPr/>
          <a:lstStyle/>
          <a:p>
            <a:fld id="{F1E687AB-0FD7-C047-930B-FD009416571E}" type="slidenum">
              <a:rPr lang="en-US" smtClean="0"/>
              <a:t>7</a:t>
            </a:fld>
            <a:endParaRPr lang="en-US" dirty="0"/>
          </a:p>
        </p:txBody>
      </p:sp>
    </p:spTree>
    <p:extLst>
      <p:ext uri="{BB962C8B-B14F-4D97-AF65-F5344CB8AC3E}">
        <p14:creationId xmlns:p14="http://schemas.microsoft.com/office/powerpoint/2010/main" val="603568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Packages - Example</a:t>
            </a:r>
          </a:p>
        </p:txBody>
      </p:sp>
      <p:sp>
        <p:nvSpPr>
          <p:cNvPr id="3" name="Slide Number Placeholder 2"/>
          <p:cNvSpPr>
            <a:spLocks noGrp="1"/>
          </p:cNvSpPr>
          <p:nvPr>
            <p:ph type="sldNum" sz="quarter" idx="12"/>
          </p:nvPr>
        </p:nvSpPr>
        <p:spPr/>
        <p:txBody>
          <a:bodyPr/>
          <a:lstStyle/>
          <a:p>
            <a:fld id="{F1E687AB-0FD7-C047-930B-FD009416571E}" type="slidenum">
              <a:rPr lang="en-US" smtClean="0"/>
              <a:t>8</a:t>
            </a:fld>
            <a:endParaRPr lang="en-US" dirty="0"/>
          </a:p>
        </p:txBody>
      </p:sp>
      <p:sp>
        <p:nvSpPr>
          <p:cNvPr id="4" name="Rectangle 3"/>
          <p:cNvSpPr txBox="1">
            <a:spLocks noChangeArrowheads="1"/>
          </p:cNvSpPr>
          <p:nvPr/>
        </p:nvSpPr>
        <p:spPr>
          <a:xfrm>
            <a:off x="457200" y="1219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Installing </a:t>
            </a:r>
            <a:r>
              <a:rPr lang="en-US" dirty="0" err="1"/>
              <a:t>apache</a:t>
            </a:r>
            <a:r>
              <a:rPr lang="en-US" dirty="0"/>
              <a:t> web server software</a:t>
            </a:r>
          </a:p>
        </p:txBody>
      </p:sp>
      <p:pic>
        <p:nvPicPr>
          <p:cNvPr id="5" name="Picture 4">
            <a:extLst>
              <a:ext uri="{FF2B5EF4-FFF2-40B4-BE49-F238E27FC236}">
                <a16:creationId xmlns:a16="http://schemas.microsoft.com/office/drawing/2014/main" id="{62AF53E7-44D0-DCAB-8A0D-E9240B28BA25}"/>
              </a:ext>
            </a:extLst>
          </p:cNvPr>
          <p:cNvPicPr>
            <a:picLocks noChangeAspect="1"/>
          </p:cNvPicPr>
          <p:nvPr/>
        </p:nvPicPr>
        <p:blipFill>
          <a:blip r:embed="rId2"/>
          <a:stretch>
            <a:fillRect/>
          </a:stretch>
        </p:blipFill>
        <p:spPr>
          <a:xfrm>
            <a:off x="685800" y="1734219"/>
            <a:ext cx="7772400" cy="3389561"/>
          </a:xfrm>
          <a:prstGeom prst="rect">
            <a:avLst/>
          </a:prstGeom>
        </p:spPr>
      </p:pic>
    </p:spTree>
    <p:extLst>
      <p:ext uri="{BB962C8B-B14F-4D97-AF65-F5344CB8AC3E}">
        <p14:creationId xmlns:p14="http://schemas.microsoft.com/office/powerpoint/2010/main" val="3618579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Packages</a:t>
            </a:r>
          </a:p>
        </p:txBody>
      </p:sp>
      <p:sp>
        <p:nvSpPr>
          <p:cNvPr id="3" name="Slide Number Placeholder 2"/>
          <p:cNvSpPr>
            <a:spLocks noGrp="1"/>
          </p:cNvSpPr>
          <p:nvPr>
            <p:ph type="sldNum" sz="quarter" idx="12"/>
          </p:nvPr>
        </p:nvSpPr>
        <p:spPr/>
        <p:txBody>
          <a:bodyPr/>
          <a:lstStyle/>
          <a:p>
            <a:fld id="{F1E687AB-0FD7-C047-930B-FD009416571E}" type="slidenum">
              <a:rPr lang="en-US" smtClean="0"/>
              <a:t>9</a:t>
            </a:fld>
            <a:endParaRPr lang="en-US" dirty="0"/>
          </a:p>
        </p:txBody>
      </p:sp>
      <p:sp>
        <p:nvSpPr>
          <p:cNvPr id="4" name="Rectangle 3"/>
          <p:cNvSpPr txBox="1">
            <a:spLocks noChangeArrowheads="1"/>
          </p:cNvSpPr>
          <p:nvPr/>
        </p:nvSpPr>
        <p:spPr>
          <a:xfrm>
            <a:off x="457200" y="1219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endParaRPr lang="en-US" dirty="0"/>
          </a:p>
          <a:p>
            <a:endParaRPr lang="en-US" dirty="0"/>
          </a:p>
        </p:txBody>
      </p:sp>
      <p:pic>
        <p:nvPicPr>
          <p:cNvPr id="5" name="Picture 4">
            <a:extLst>
              <a:ext uri="{FF2B5EF4-FFF2-40B4-BE49-F238E27FC236}">
                <a16:creationId xmlns:a16="http://schemas.microsoft.com/office/drawing/2014/main" id="{73DF4EFA-8A00-E7BC-067A-D4C2D252C1CB}"/>
              </a:ext>
            </a:extLst>
          </p:cNvPr>
          <p:cNvPicPr>
            <a:picLocks noChangeAspect="1"/>
          </p:cNvPicPr>
          <p:nvPr/>
        </p:nvPicPr>
        <p:blipFill>
          <a:blip r:embed="rId2"/>
          <a:stretch>
            <a:fillRect/>
          </a:stretch>
        </p:blipFill>
        <p:spPr>
          <a:xfrm>
            <a:off x="639482" y="1255199"/>
            <a:ext cx="7772400" cy="5134756"/>
          </a:xfrm>
          <a:prstGeom prst="rect">
            <a:avLst/>
          </a:prstGeom>
        </p:spPr>
      </p:pic>
    </p:spTree>
    <p:extLst>
      <p:ext uri="{BB962C8B-B14F-4D97-AF65-F5344CB8AC3E}">
        <p14:creationId xmlns:p14="http://schemas.microsoft.com/office/powerpoint/2010/main" val="1732287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Packages</a:t>
            </a:r>
          </a:p>
        </p:txBody>
      </p:sp>
      <p:sp>
        <p:nvSpPr>
          <p:cNvPr id="3" name="Slide Number Placeholder 2"/>
          <p:cNvSpPr>
            <a:spLocks noGrp="1"/>
          </p:cNvSpPr>
          <p:nvPr>
            <p:ph type="sldNum" sz="quarter" idx="12"/>
          </p:nvPr>
        </p:nvSpPr>
        <p:spPr/>
        <p:txBody>
          <a:bodyPr/>
          <a:lstStyle/>
          <a:p>
            <a:fld id="{F1E687AB-0FD7-C047-930B-FD009416571E}" type="slidenum">
              <a:rPr lang="en-US" smtClean="0"/>
              <a:t>10</a:t>
            </a:fld>
            <a:endParaRPr lang="en-US" dirty="0"/>
          </a:p>
        </p:txBody>
      </p:sp>
      <p:sp>
        <p:nvSpPr>
          <p:cNvPr id="4" name="Rectangle 3"/>
          <p:cNvSpPr txBox="1">
            <a:spLocks noChangeArrowheads="1"/>
          </p:cNvSpPr>
          <p:nvPr/>
        </p:nvSpPr>
        <p:spPr>
          <a:xfrm>
            <a:off x="457200" y="1219200"/>
            <a:ext cx="7954682" cy="2975113"/>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Examining the messages when using apt is a good practice</a:t>
            </a:r>
          </a:p>
          <a:p>
            <a:pPr lvl="1"/>
            <a:r>
              <a:rPr lang="en-US" dirty="0"/>
              <a:t>To ensure the software was installed correctly</a:t>
            </a:r>
          </a:p>
          <a:p>
            <a:pPr lvl="1"/>
            <a:r>
              <a:rPr lang="en-US" dirty="0"/>
              <a:t>To understand software dependencies</a:t>
            </a:r>
          </a:p>
          <a:p>
            <a:pPr lvl="2"/>
            <a:r>
              <a:rPr lang="en-US" dirty="0"/>
              <a:t>Needed or </a:t>
            </a:r>
          </a:p>
          <a:p>
            <a:pPr lvl="2"/>
            <a:r>
              <a:rPr lang="en-US" dirty="0"/>
              <a:t>No longer required</a:t>
            </a:r>
          </a:p>
          <a:p>
            <a:pPr marL="274320" lvl="1" indent="0">
              <a:buNone/>
            </a:pPr>
            <a:r>
              <a:rPr lang="en-US" dirty="0"/>
              <a:t> </a:t>
            </a:r>
          </a:p>
        </p:txBody>
      </p:sp>
      <p:pic>
        <p:nvPicPr>
          <p:cNvPr id="5" name="Picture 4">
            <a:extLst>
              <a:ext uri="{FF2B5EF4-FFF2-40B4-BE49-F238E27FC236}">
                <a16:creationId xmlns:a16="http://schemas.microsoft.com/office/drawing/2014/main" id="{C96D8D4A-0676-3725-59C6-3AF794CD46E1}"/>
              </a:ext>
            </a:extLst>
          </p:cNvPr>
          <p:cNvPicPr>
            <a:picLocks noChangeAspect="1"/>
          </p:cNvPicPr>
          <p:nvPr/>
        </p:nvPicPr>
        <p:blipFill>
          <a:blip r:embed="rId2"/>
          <a:stretch>
            <a:fillRect/>
          </a:stretch>
        </p:blipFill>
        <p:spPr>
          <a:xfrm>
            <a:off x="548341" y="3831394"/>
            <a:ext cx="7422842" cy="2660845"/>
          </a:xfrm>
          <a:prstGeom prst="rect">
            <a:avLst/>
          </a:prstGeom>
        </p:spPr>
      </p:pic>
    </p:spTree>
    <p:extLst>
      <p:ext uri="{BB962C8B-B14F-4D97-AF65-F5344CB8AC3E}">
        <p14:creationId xmlns:p14="http://schemas.microsoft.com/office/powerpoint/2010/main" val="3587763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Software Packages – Debian, Red Hat, Snap</a:t>
            </a:r>
          </a:p>
        </p:txBody>
      </p:sp>
      <p:sp>
        <p:nvSpPr>
          <p:cNvPr id="3" name="Slide Number Placeholder 2"/>
          <p:cNvSpPr>
            <a:spLocks noGrp="1"/>
          </p:cNvSpPr>
          <p:nvPr>
            <p:ph type="sldNum" sz="quarter" idx="12"/>
          </p:nvPr>
        </p:nvSpPr>
        <p:spPr/>
        <p:txBody>
          <a:bodyPr/>
          <a:lstStyle/>
          <a:p>
            <a:fld id="{F1E687AB-0FD7-C047-930B-FD009416571E}" type="slidenum">
              <a:rPr lang="en-US" smtClean="0"/>
              <a:t>11</a:t>
            </a:fld>
            <a:endParaRPr lang="en-US" dirty="0"/>
          </a:p>
        </p:txBody>
      </p:sp>
      <p:sp>
        <p:nvSpPr>
          <p:cNvPr id="4" name="Rectangle 3"/>
          <p:cNvSpPr txBox="1">
            <a:spLocks noChangeArrowheads="1"/>
          </p:cNvSpPr>
          <p:nvPr/>
        </p:nvSpPr>
        <p:spPr>
          <a:xfrm>
            <a:off x="457200" y="1219200"/>
            <a:ext cx="8229600" cy="4525963"/>
          </a:xfrm>
          <a:prstGeom prst="rect">
            <a:avLst/>
          </a:prstGeom>
        </p:spPr>
        <p:txBody>
          <a:bodyPr vert="horz" lIns="91440" tIns="45720" rIns="91440" bIns="45720" rtlCol="0">
            <a:normAutofit fontScale="925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Ubuntu uses Debian packages</a:t>
            </a:r>
          </a:p>
          <a:p>
            <a:pPr lvl="1"/>
            <a:r>
              <a:rPr lang="en-US" dirty="0"/>
              <a:t>Names that end in </a:t>
            </a:r>
            <a:r>
              <a:rPr lang="en-US" dirty="0">
                <a:latin typeface="Courier New" panose="02070309020205020404" pitchFamily="49" charset="0"/>
                <a:cs typeface="Courier New" panose="02070309020205020404" pitchFamily="49" charset="0"/>
              </a:rPr>
              <a:t>.deb</a:t>
            </a:r>
          </a:p>
          <a:p>
            <a:pPr lvl="1"/>
            <a:r>
              <a:rPr lang="en-US" dirty="0"/>
              <a:t>Use </a:t>
            </a:r>
            <a:r>
              <a:rPr lang="en-US" dirty="0">
                <a:latin typeface="Courier New" panose="02070309020205020404" pitchFamily="49" charset="0"/>
                <a:cs typeface="Courier New" panose="02070309020205020404" pitchFamily="49" charset="0"/>
              </a:rPr>
              <a:t>apt</a:t>
            </a:r>
            <a:r>
              <a:rPr lang="en-US" dirty="0"/>
              <a:t> and </a:t>
            </a:r>
            <a:r>
              <a:rPr lang="en-US" dirty="0" err="1">
                <a:latin typeface="Courier New" panose="02070309020205020404" pitchFamily="49" charset="0"/>
                <a:cs typeface="Courier New" panose="02070309020205020404" pitchFamily="49" charset="0"/>
              </a:rPr>
              <a:t>dpkg</a:t>
            </a:r>
            <a:endParaRPr lang="en-US" dirty="0">
              <a:latin typeface="Courier New" panose="02070309020205020404" pitchFamily="49" charset="0"/>
              <a:cs typeface="Courier New" panose="02070309020205020404" pitchFamily="49" charset="0"/>
            </a:endParaRPr>
          </a:p>
          <a:p>
            <a:r>
              <a:rPr lang="en-US" dirty="0"/>
              <a:t>CentOS and Red Hat use RPM packages</a:t>
            </a:r>
          </a:p>
          <a:p>
            <a:pPr lvl="1"/>
            <a:r>
              <a:rPr lang="en-US" dirty="0"/>
              <a:t>Names that end in .</a:t>
            </a:r>
            <a:r>
              <a:rPr lang="en-US" dirty="0" err="1">
                <a:latin typeface="Courier New" panose="02070309020205020404" pitchFamily="49" charset="0"/>
                <a:cs typeface="Courier New" panose="02070309020205020404" pitchFamily="49" charset="0"/>
              </a:rPr>
              <a:t>dnf</a:t>
            </a:r>
            <a:r>
              <a:rPr lang="en-US" dirty="0">
                <a:latin typeface="Courier New" panose="02070309020205020404" pitchFamily="49" charset="0"/>
                <a:cs typeface="Courier New" panose="02070309020205020404" pitchFamily="49" charset="0"/>
              </a:rPr>
              <a:t> </a:t>
            </a:r>
            <a:r>
              <a:rPr lang="en-US" dirty="0"/>
              <a:t>command</a:t>
            </a:r>
          </a:p>
          <a:p>
            <a:pPr lvl="1"/>
            <a:r>
              <a:rPr lang="en-US" dirty="0"/>
              <a:t>Use </a:t>
            </a:r>
            <a:r>
              <a:rPr lang="en-US" dirty="0">
                <a:latin typeface="Courier New" panose="02070309020205020404" pitchFamily="49" charset="0"/>
                <a:cs typeface="Courier New" panose="02070309020205020404" pitchFamily="49" charset="0"/>
              </a:rPr>
              <a:t>yum</a:t>
            </a:r>
          </a:p>
          <a:p>
            <a:r>
              <a:rPr lang="en-US" dirty="0"/>
              <a:t>Snap packages</a:t>
            </a:r>
          </a:p>
          <a:p>
            <a:pPr lvl="1"/>
            <a:r>
              <a:rPr lang="en-US" dirty="0"/>
              <a:t>Proposed Universal package system for all distributions</a:t>
            </a:r>
          </a:p>
          <a:p>
            <a:pPr lvl="1"/>
            <a:r>
              <a:rPr lang="en-US" dirty="0"/>
              <a:t>More than one Universal package system </a:t>
            </a:r>
          </a:p>
          <a:p>
            <a:pPr lvl="2"/>
            <a:r>
              <a:rPr lang="en-US" dirty="0" err="1"/>
              <a:t>Flatpaks</a:t>
            </a:r>
            <a:r>
              <a:rPr lang="en-US" dirty="0"/>
              <a:t>, </a:t>
            </a:r>
            <a:r>
              <a:rPr lang="en-US" dirty="0" err="1"/>
              <a:t>AppImages</a:t>
            </a:r>
            <a:endParaRPr lang="en-US" dirty="0"/>
          </a:p>
          <a:p>
            <a:pPr lvl="2"/>
            <a:r>
              <a:rPr lang="en-US" dirty="0"/>
              <a:t>Both only provide a GUI interface suited for Desktop images </a:t>
            </a:r>
          </a:p>
          <a:p>
            <a:pPr lvl="2"/>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6648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75363-D329-4A1A-98AC-E388318C370C}"/>
              </a:ext>
            </a:extLst>
          </p:cNvPr>
          <p:cNvSpPr>
            <a:spLocks noGrp="1"/>
          </p:cNvSpPr>
          <p:nvPr>
            <p:ph type="title"/>
          </p:nvPr>
        </p:nvSpPr>
        <p:spPr/>
        <p:txBody>
          <a:bodyPr/>
          <a:lstStyle/>
          <a:p>
            <a:r>
              <a:rPr lang="en-US" dirty="0"/>
              <a:t>Managing Packages with apt</a:t>
            </a:r>
          </a:p>
        </p:txBody>
      </p:sp>
      <p:sp>
        <p:nvSpPr>
          <p:cNvPr id="3" name="Content Placeholder 2">
            <a:extLst>
              <a:ext uri="{FF2B5EF4-FFF2-40B4-BE49-F238E27FC236}">
                <a16:creationId xmlns:a16="http://schemas.microsoft.com/office/drawing/2014/main" id="{AAA60885-F7A2-389E-C849-040073920C90}"/>
              </a:ext>
            </a:extLst>
          </p:cNvPr>
          <p:cNvSpPr>
            <a:spLocks noGrp="1"/>
          </p:cNvSpPr>
          <p:nvPr>
            <p:ph idx="1"/>
          </p:nvPr>
        </p:nvSpPr>
        <p:spPr/>
        <p:txBody>
          <a:bodyPr>
            <a:normAutofit fontScale="85000" lnSpcReduction="20000"/>
          </a:bodyPr>
          <a:lstStyle/>
          <a:p>
            <a:r>
              <a:rPr lang="en-US" sz="3100" dirty="0"/>
              <a:t>Installing software example</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sudo</a:t>
            </a:r>
            <a:r>
              <a:rPr lang="en-US" sz="2400" dirty="0">
                <a:latin typeface="Courier New" panose="02070309020205020404" pitchFamily="49" charset="0"/>
                <a:cs typeface="Courier New" panose="02070309020205020404" pitchFamily="49" charset="0"/>
              </a:rPr>
              <a:t> apt install </a:t>
            </a:r>
            <a:r>
              <a:rPr lang="en-US" sz="2400" dirty="0" err="1">
                <a:latin typeface="Courier New" panose="02070309020205020404" pitchFamily="49" charset="0"/>
                <a:cs typeface="Courier New" panose="02070309020205020404" pitchFamily="49" charset="0"/>
              </a:rPr>
              <a:t>openssh</a:t>
            </a:r>
            <a:r>
              <a:rPr lang="en-US" sz="2400" dirty="0">
                <a:latin typeface="Courier New" panose="02070309020205020404" pitchFamily="49" charset="0"/>
                <a:cs typeface="Courier New" panose="02070309020205020404" pitchFamily="49" charset="0"/>
              </a:rPr>
              <a:t>-server</a:t>
            </a:r>
          </a:p>
          <a:p>
            <a:r>
              <a:rPr lang="en-US" sz="3100" dirty="0"/>
              <a:t>Some software packaged depend on having other software installed and apt keeps track of this so it will ask and install any dependencies. To update the list of available packages to your local system type:</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sudo</a:t>
            </a:r>
            <a:r>
              <a:rPr lang="en-US" sz="2400" dirty="0">
                <a:latin typeface="Courier New" panose="02070309020205020404" pitchFamily="49" charset="0"/>
                <a:cs typeface="Courier New" panose="02070309020205020404" pitchFamily="49" charset="0"/>
              </a:rPr>
              <a:t> apt update</a:t>
            </a:r>
            <a:endParaRPr lang="en-US" sz="2400" dirty="0"/>
          </a:p>
          <a:p>
            <a:r>
              <a:rPr lang="en-US" sz="3100" dirty="0"/>
              <a:t>To remove software type:</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sudo</a:t>
            </a:r>
            <a:r>
              <a:rPr lang="en-US" sz="2400" dirty="0">
                <a:latin typeface="Courier New" panose="02070309020205020404" pitchFamily="49" charset="0"/>
                <a:cs typeface="Courier New" panose="02070309020205020404" pitchFamily="49" charset="0"/>
              </a:rPr>
              <a:t> apt remove </a:t>
            </a:r>
            <a:r>
              <a:rPr lang="en-US" sz="2400" dirty="0" err="1">
                <a:latin typeface="Courier New" panose="02070309020205020404" pitchFamily="49" charset="0"/>
                <a:cs typeface="Courier New" panose="02070309020205020404" pitchFamily="49" charset="0"/>
              </a:rPr>
              <a:t>openssh</a:t>
            </a:r>
            <a:r>
              <a:rPr lang="en-US" sz="2400" dirty="0">
                <a:latin typeface="Courier New" panose="02070309020205020404" pitchFamily="49" charset="0"/>
                <a:cs typeface="Courier New" panose="02070309020205020404" pitchFamily="49" charset="0"/>
              </a:rPr>
              <a:t>-server</a:t>
            </a:r>
            <a:endParaRPr lang="en-US" sz="2400" dirty="0"/>
          </a:p>
          <a:p>
            <a:r>
              <a:rPr lang="en-US" sz="3100" dirty="0"/>
              <a:t>Remove does not delete any configuration directories or files for the software package, just the software executables. To remove the configs type:</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sudo</a:t>
            </a:r>
            <a:r>
              <a:rPr lang="en-US" sz="2400" dirty="0">
                <a:latin typeface="Courier New" panose="02070309020205020404" pitchFamily="49" charset="0"/>
                <a:cs typeface="Courier New" panose="02070309020205020404" pitchFamily="49" charset="0"/>
              </a:rPr>
              <a:t> apt remove –purge </a:t>
            </a:r>
            <a:r>
              <a:rPr lang="en-US" sz="2400" dirty="0" err="1">
                <a:latin typeface="Courier New" panose="02070309020205020404" pitchFamily="49" charset="0"/>
                <a:cs typeface="Courier New" panose="02070309020205020404" pitchFamily="49" charset="0"/>
              </a:rPr>
              <a:t>openssh</a:t>
            </a:r>
            <a:r>
              <a:rPr lang="en-US" sz="2400" dirty="0">
                <a:latin typeface="Courier New" panose="02070309020205020404" pitchFamily="49" charset="0"/>
                <a:cs typeface="Courier New" panose="02070309020205020404" pitchFamily="49" charset="0"/>
              </a:rPr>
              <a:t>-server</a:t>
            </a:r>
          </a:p>
          <a:p>
            <a:r>
              <a:rPr lang="en-US" sz="3100" dirty="0"/>
              <a:t>Why is the default not to remove configs?</a:t>
            </a:r>
            <a:endParaRPr lang="en-US" sz="3100" dirty="0">
              <a:latin typeface="Courier New" panose="02070309020205020404" pitchFamily="49" charset="0"/>
              <a:cs typeface="Courier New" panose="02070309020205020404" pitchFamily="49" charset="0"/>
            </a:endParaRPr>
          </a:p>
          <a:p>
            <a:endParaRPr lang="en-US" dirty="0"/>
          </a:p>
          <a:p>
            <a:endParaRPr lang="en-US" dirty="0"/>
          </a:p>
        </p:txBody>
      </p:sp>
      <p:sp>
        <p:nvSpPr>
          <p:cNvPr id="4" name="Slide Number Placeholder 3">
            <a:extLst>
              <a:ext uri="{FF2B5EF4-FFF2-40B4-BE49-F238E27FC236}">
                <a16:creationId xmlns:a16="http://schemas.microsoft.com/office/drawing/2014/main" id="{7F447F08-A68E-F2E4-8EA4-F5B73F4B307A}"/>
              </a:ext>
            </a:extLst>
          </p:cNvPr>
          <p:cNvSpPr>
            <a:spLocks noGrp="1"/>
          </p:cNvSpPr>
          <p:nvPr>
            <p:ph type="sldNum" sz="quarter" idx="12"/>
          </p:nvPr>
        </p:nvSpPr>
        <p:spPr/>
        <p:txBody>
          <a:bodyPr/>
          <a:lstStyle/>
          <a:p>
            <a:fld id="{F1E687AB-0FD7-C047-930B-FD009416571E}" type="slidenum">
              <a:rPr lang="en-US" smtClean="0"/>
              <a:t>12</a:t>
            </a:fld>
            <a:endParaRPr lang="en-US" dirty="0"/>
          </a:p>
        </p:txBody>
      </p:sp>
    </p:spTree>
    <p:extLst>
      <p:ext uri="{BB962C8B-B14F-4D97-AF65-F5344CB8AC3E}">
        <p14:creationId xmlns:p14="http://schemas.microsoft.com/office/powerpoint/2010/main" val="1591572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75363-D329-4A1A-98AC-E388318C370C}"/>
              </a:ext>
            </a:extLst>
          </p:cNvPr>
          <p:cNvSpPr>
            <a:spLocks noGrp="1"/>
          </p:cNvSpPr>
          <p:nvPr>
            <p:ph type="title"/>
          </p:nvPr>
        </p:nvSpPr>
        <p:spPr/>
        <p:txBody>
          <a:bodyPr/>
          <a:lstStyle/>
          <a:p>
            <a:r>
              <a:rPr lang="en-US" dirty="0"/>
              <a:t>Managing Packages with Snap</a:t>
            </a:r>
          </a:p>
        </p:txBody>
      </p:sp>
      <p:sp>
        <p:nvSpPr>
          <p:cNvPr id="3" name="Content Placeholder 2">
            <a:extLst>
              <a:ext uri="{FF2B5EF4-FFF2-40B4-BE49-F238E27FC236}">
                <a16:creationId xmlns:a16="http://schemas.microsoft.com/office/drawing/2014/main" id="{AAA60885-F7A2-389E-C849-040073920C90}"/>
              </a:ext>
            </a:extLst>
          </p:cNvPr>
          <p:cNvSpPr>
            <a:spLocks noGrp="1"/>
          </p:cNvSpPr>
          <p:nvPr>
            <p:ph idx="1"/>
          </p:nvPr>
        </p:nvSpPr>
        <p:spPr/>
        <p:txBody>
          <a:bodyPr>
            <a:normAutofit/>
          </a:bodyPr>
          <a:lstStyle/>
          <a:p>
            <a:r>
              <a:rPr lang="en-US" sz="3200" dirty="0"/>
              <a:t>Finding and Installing software example</a:t>
            </a:r>
          </a:p>
          <a:p>
            <a:pPr marL="0" indent="0">
              <a:buNone/>
            </a:pP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sudo</a:t>
            </a:r>
            <a:r>
              <a:rPr lang="en-US" sz="2800" dirty="0">
                <a:latin typeface="Courier New" panose="02070309020205020404" pitchFamily="49" charset="0"/>
                <a:cs typeface="Courier New" panose="02070309020205020404" pitchFamily="49" charset="0"/>
              </a:rPr>
              <a:t> snap find </a:t>
            </a:r>
            <a:r>
              <a:rPr lang="en-US" sz="2800" dirty="0" err="1">
                <a:latin typeface="Courier New" panose="02070309020205020404" pitchFamily="49" charset="0"/>
                <a:cs typeface="Courier New" panose="02070309020205020404" pitchFamily="49" charset="0"/>
              </a:rPr>
              <a:t>nmap</a:t>
            </a:r>
            <a:endParaRPr lang="en-US" sz="2800" dirty="0">
              <a:latin typeface="Courier New" panose="02070309020205020404" pitchFamily="49" charset="0"/>
              <a:cs typeface="Courier New" panose="02070309020205020404" pitchFamily="49" charset="0"/>
            </a:endParaRPr>
          </a:p>
          <a:p>
            <a:pPr marL="0" indent="0">
              <a:buNone/>
            </a:pP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sudo</a:t>
            </a:r>
            <a:r>
              <a:rPr lang="en-US" sz="2800" dirty="0">
                <a:latin typeface="Courier New" panose="02070309020205020404" pitchFamily="49" charset="0"/>
                <a:cs typeface="Courier New" panose="02070309020205020404" pitchFamily="49" charset="0"/>
              </a:rPr>
              <a:t> snap install </a:t>
            </a:r>
            <a:r>
              <a:rPr lang="en-US" sz="2800" dirty="0" err="1">
                <a:latin typeface="Courier New" panose="02070309020205020404" pitchFamily="49" charset="0"/>
                <a:cs typeface="Courier New" panose="02070309020205020404" pitchFamily="49" charset="0"/>
              </a:rPr>
              <a:t>nmap</a:t>
            </a:r>
            <a:endParaRPr lang="en-US" sz="2800" dirty="0">
              <a:latin typeface="Courier New" panose="02070309020205020404" pitchFamily="49" charset="0"/>
              <a:cs typeface="Courier New" panose="02070309020205020404" pitchFamily="49" charset="0"/>
            </a:endParaRPr>
          </a:p>
          <a:p>
            <a:r>
              <a:rPr lang="en-US" sz="3200" dirty="0"/>
              <a:t>To get updates to a package type:</a:t>
            </a:r>
          </a:p>
          <a:p>
            <a:pPr marL="0" indent="0">
              <a:buNone/>
            </a:pP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sudo</a:t>
            </a:r>
            <a:r>
              <a:rPr lang="en-US" sz="2800" dirty="0">
                <a:latin typeface="Courier New" panose="02070309020205020404" pitchFamily="49" charset="0"/>
                <a:cs typeface="Courier New" panose="02070309020205020404" pitchFamily="49" charset="0"/>
              </a:rPr>
              <a:t> snap refresh </a:t>
            </a:r>
            <a:r>
              <a:rPr lang="en-US" sz="2800" dirty="0" err="1">
                <a:latin typeface="Courier New" panose="02070309020205020404" pitchFamily="49" charset="0"/>
                <a:cs typeface="Courier New" panose="02070309020205020404" pitchFamily="49" charset="0"/>
              </a:rPr>
              <a:t>nmap</a:t>
            </a:r>
            <a:endParaRPr lang="en-US" sz="2800" dirty="0"/>
          </a:p>
          <a:p>
            <a:r>
              <a:rPr lang="en-US" sz="3200" dirty="0"/>
              <a:t>To remove software type:</a:t>
            </a:r>
          </a:p>
          <a:p>
            <a:pPr marL="0" indent="0">
              <a:buNone/>
            </a:pP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sudo</a:t>
            </a:r>
            <a:r>
              <a:rPr lang="en-US" sz="2800" dirty="0">
                <a:latin typeface="Courier New" panose="02070309020205020404" pitchFamily="49" charset="0"/>
                <a:cs typeface="Courier New" panose="02070309020205020404" pitchFamily="49" charset="0"/>
              </a:rPr>
              <a:t> snap remove </a:t>
            </a:r>
            <a:r>
              <a:rPr lang="en-US" sz="2800" dirty="0" err="1">
                <a:latin typeface="Courier New" panose="02070309020205020404" pitchFamily="49" charset="0"/>
                <a:cs typeface="Courier New" panose="02070309020205020404" pitchFamily="49" charset="0"/>
              </a:rPr>
              <a:t>nmap</a:t>
            </a:r>
            <a:endParaRPr lang="en-US" sz="2800" dirty="0"/>
          </a:p>
        </p:txBody>
      </p:sp>
      <p:sp>
        <p:nvSpPr>
          <p:cNvPr id="4" name="Slide Number Placeholder 3">
            <a:extLst>
              <a:ext uri="{FF2B5EF4-FFF2-40B4-BE49-F238E27FC236}">
                <a16:creationId xmlns:a16="http://schemas.microsoft.com/office/drawing/2014/main" id="{7F447F08-A68E-F2E4-8EA4-F5B73F4B307A}"/>
              </a:ext>
            </a:extLst>
          </p:cNvPr>
          <p:cNvSpPr>
            <a:spLocks noGrp="1"/>
          </p:cNvSpPr>
          <p:nvPr>
            <p:ph type="sldNum" sz="quarter" idx="12"/>
          </p:nvPr>
        </p:nvSpPr>
        <p:spPr/>
        <p:txBody>
          <a:bodyPr/>
          <a:lstStyle/>
          <a:p>
            <a:fld id="{F1E687AB-0FD7-C047-930B-FD009416571E}" type="slidenum">
              <a:rPr lang="en-US" smtClean="0"/>
              <a:t>13</a:t>
            </a:fld>
            <a:endParaRPr lang="en-US" dirty="0"/>
          </a:p>
        </p:txBody>
      </p:sp>
    </p:spTree>
    <p:extLst>
      <p:ext uri="{BB962C8B-B14F-4D97-AF65-F5344CB8AC3E}">
        <p14:creationId xmlns:p14="http://schemas.microsoft.com/office/powerpoint/2010/main" val="3467693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75363-D329-4A1A-98AC-E388318C370C}"/>
              </a:ext>
            </a:extLst>
          </p:cNvPr>
          <p:cNvSpPr>
            <a:spLocks noGrp="1"/>
          </p:cNvSpPr>
          <p:nvPr>
            <p:ph type="title"/>
          </p:nvPr>
        </p:nvSpPr>
        <p:spPr/>
        <p:txBody>
          <a:bodyPr/>
          <a:lstStyle/>
          <a:p>
            <a:r>
              <a:rPr lang="en-US" dirty="0"/>
              <a:t>More about apt</a:t>
            </a:r>
          </a:p>
        </p:txBody>
      </p:sp>
      <p:sp>
        <p:nvSpPr>
          <p:cNvPr id="3" name="Content Placeholder 2">
            <a:extLst>
              <a:ext uri="{FF2B5EF4-FFF2-40B4-BE49-F238E27FC236}">
                <a16:creationId xmlns:a16="http://schemas.microsoft.com/office/drawing/2014/main" id="{AAA60885-F7A2-389E-C849-040073920C90}"/>
              </a:ext>
            </a:extLst>
          </p:cNvPr>
          <p:cNvSpPr>
            <a:spLocks noGrp="1"/>
          </p:cNvSpPr>
          <p:nvPr>
            <p:ph idx="1"/>
          </p:nvPr>
        </p:nvSpPr>
        <p:spPr>
          <a:xfrm>
            <a:off x="457200" y="1245956"/>
            <a:ext cx="8229600" cy="1280718"/>
          </a:xfrm>
        </p:spPr>
        <p:txBody>
          <a:bodyPr>
            <a:normAutofit fontScale="92500" lnSpcReduction="20000"/>
          </a:bodyPr>
          <a:lstStyle/>
          <a:p>
            <a:r>
              <a:rPr lang="en-US" dirty="0"/>
              <a:t>Searching for packages using apt</a:t>
            </a:r>
          </a:p>
          <a:p>
            <a:pPr marL="0" indent="0">
              <a:buNone/>
            </a:pPr>
            <a:r>
              <a:rPr lang="en-US" sz="2600" b="0" i="0" u="none" strike="noStrike" kern="1200" baseline="0" dirty="0" err="1">
                <a:solidFill>
                  <a:srgbClr val="000000"/>
                </a:solidFill>
                <a:latin typeface="Courier New" panose="02070309020205020404" pitchFamily="49" charset="0"/>
                <a:cs typeface="Courier New" panose="02070309020205020404" pitchFamily="49" charset="0"/>
              </a:rPr>
              <a:t>sudo</a:t>
            </a:r>
            <a:r>
              <a:rPr lang="en-US" sz="2600" b="0" i="0" u="none" strike="noStrike" kern="1200" baseline="0" dirty="0">
                <a:solidFill>
                  <a:srgbClr val="000000"/>
                </a:solidFill>
                <a:latin typeface="Courier New" panose="02070309020205020404" pitchFamily="49" charset="0"/>
                <a:cs typeface="Courier New" panose="02070309020205020404" pitchFamily="49" charset="0"/>
              </a:rPr>
              <a:t> apt search &lt;search term&gt; </a:t>
            </a:r>
          </a:p>
          <a:p>
            <a:r>
              <a:rPr lang="en-US" sz="2800" dirty="0"/>
              <a:t>To find out more about a package, use </a:t>
            </a:r>
            <a:r>
              <a:rPr lang="en-US" sz="2800" dirty="0">
                <a:latin typeface="Courier New" panose="02070309020205020404" pitchFamily="49" charset="0"/>
                <a:cs typeface="Courier New" panose="02070309020205020404" pitchFamily="49" charset="0"/>
              </a:rPr>
              <a:t>apt-cache</a:t>
            </a:r>
            <a:endParaRPr lang="en-US" sz="2600" dirty="0">
              <a:latin typeface="Courier New" panose="02070309020205020404" pitchFamily="49" charset="0"/>
              <a:cs typeface="Courier New" panose="02070309020205020404" pitchFamily="49" charset="0"/>
            </a:endParaRPr>
          </a:p>
          <a:p>
            <a:pPr marL="0" indent="0">
              <a:buNone/>
            </a:pPr>
            <a:endParaRPr lang="en-US" dirty="0"/>
          </a:p>
        </p:txBody>
      </p:sp>
      <p:sp>
        <p:nvSpPr>
          <p:cNvPr id="4" name="Slide Number Placeholder 3">
            <a:extLst>
              <a:ext uri="{FF2B5EF4-FFF2-40B4-BE49-F238E27FC236}">
                <a16:creationId xmlns:a16="http://schemas.microsoft.com/office/drawing/2014/main" id="{7F447F08-A68E-F2E4-8EA4-F5B73F4B307A}"/>
              </a:ext>
            </a:extLst>
          </p:cNvPr>
          <p:cNvSpPr>
            <a:spLocks noGrp="1"/>
          </p:cNvSpPr>
          <p:nvPr>
            <p:ph type="sldNum" sz="quarter" idx="12"/>
          </p:nvPr>
        </p:nvSpPr>
        <p:spPr/>
        <p:txBody>
          <a:bodyPr/>
          <a:lstStyle/>
          <a:p>
            <a:fld id="{F1E687AB-0FD7-C047-930B-FD009416571E}" type="slidenum">
              <a:rPr lang="en-US" smtClean="0"/>
              <a:t>14</a:t>
            </a:fld>
            <a:endParaRPr lang="en-US" dirty="0"/>
          </a:p>
        </p:txBody>
      </p:sp>
      <p:pic>
        <p:nvPicPr>
          <p:cNvPr id="5" name="Picture 4">
            <a:extLst>
              <a:ext uri="{FF2B5EF4-FFF2-40B4-BE49-F238E27FC236}">
                <a16:creationId xmlns:a16="http://schemas.microsoft.com/office/drawing/2014/main" id="{B050700C-06AF-A0DE-9E39-BAA79DA2856C}"/>
              </a:ext>
            </a:extLst>
          </p:cNvPr>
          <p:cNvPicPr>
            <a:picLocks noChangeAspect="1"/>
          </p:cNvPicPr>
          <p:nvPr/>
        </p:nvPicPr>
        <p:blipFill>
          <a:blip r:embed="rId2"/>
          <a:stretch>
            <a:fillRect/>
          </a:stretch>
        </p:blipFill>
        <p:spPr>
          <a:xfrm>
            <a:off x="685800" y="2574234"/>
            <a:ext cx="7147714" cy="3918006"/>
          </a:xfrm>
          <a:prstGeom prst="rect">
            <a:avLst/>
          </a:prstGeom>
        </p:spPr>
      </p:pic>
    </p:spTree>
    <p:extLst>
      <p:ext uri="{BB962C8B-B14F-4D97-AF65-F5344CB8AC3E}">
        <p14:creationId xmlns:p14="http://schemas.microsoft.com/office/powerpoint/2010/main" val="626086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75363-D329-4A1A-98AC-E388318C370C}"/>
              </a:ext>
            </a:extLst>
          </p:cNvPr>
          <p:cNvSpPr>
            <a:spLocks noGrp="1"/>
          </p:cNvSpPr>
          <p:nvPr>
            <p:ph type="title"/>
          </p:nvPr>
        </p:nvSpPr>
        <p:spPr/>
        <p:txBody>
          <a:bodyPr/>
          <a:lstStyle/>
          <a:p>
            <a:r>
              <a:rPr lang="en-US" dirty="0"/>
              <a:t>More about apt</a:t>
            </a:r>
          </a:p>
        </p:txBody>
      </p:sp>
      <p:sp>
        <p:nvSpPr>
          <p:cNvPr id="3" name="Content Placeholder 2">
            <a:extLst>
              <a:ext uri="{FF2B5EF4-FFF2-40B4-BE49-F238E27FC236}">
                <a16:creationId xmlns:a16="http://schemas.microsoft.com/office/drawing/2014/main" id="{AAA60885-F7A2-389E-C849-040073920C90}"/>
              </a:ext>
            </a:extLst>
          </p:cNvPr>
          <p:cNvSpPr>
            <a:spLocks noGrp="1"/>
          </p:cNvSpPr>
          <p:nvPr>
            <p:ph idx="1"/>
          </p:nvPr>
        </p:nvSpPr>
        <p:spPr>
          <a:xfrm>
            <a:off x="228601" y="1571812"/>
            <a:ext cx="8716616" cy="4876800"/>
          </a:xfrm>
        </p:spPr>
        <p:txBody>
          <a:bodyPr/>
          <a:lstStyle/>
          <a:p>
            <a:r>
              <a:rPr lang="en-US" dirty="0"/>
              <a:t>Software repositories are essentially URLs in a text file. Stored here:</a:t>
            </a:r>
          </a:p>
          <a:p>
            <a:r>
              <a:rPr lang="en-US" sz="2600" dirty="0">
                <a:latin typeface="Courier New" panose="02070309020205020404" pitchFamily="49" charset="0"/>
                <a:cs typeface="Courier New" panose="02070309020205020404" pitchFamily="49" charset="0"/>
              </a:rPr>
              <a:t>/</a:t>
            </a:r>
            <a:r>
              <a:rPr lang="en-US" sz="2600" dirty="0" err="1">
                <a:latin typeface="Courier New" panose="02070309020205020404" pitchFamily="49" charset="0"/>
                <a:cs typeface="Courier New" panose="02070309020205020404" pitchFamily="49" charset="0"/>
              </a:rPr>
              <a:t>etc</a:t>
            </a:r>
            <a:r>
              <a:rPr lang="en-US" sz="2600" dirty="0">
                <a:latin typeface="Courier New" panose="02070309020205020404" pitchFamily="49" charset="0"/>
                <a:cs typeface="Courier New" panose="02070309020205020404" pitchFamily="49" charset="0"/>
              </a:rPr>
              <a:t>/apt/</a:t>
            </a:r>
            <a:r>
              <a:rPr lang="en-US" sz="2600" dirty="0" err="1">
                <a:latin typeface="Courier New" panose="02070309020205020404" pitchFamily="49" charset="0"/>
                <a:cs typeface="Courier New" panose="02070309020205020404" pitchFamily="49" charset="0"/>
              </a:rPr>
              <a:t>sources.list</a:t>
            </a:r>
            <a:endParaRPr lang="en-US" sz="2600" dirty="0">
              <a:latin typeface="Courier New" panose="02070309020205020404" pitchFamily="49" charset="0"/>
              <a:cs typeface="Courier New" panose="02070309020205020404" pitchFamily="49" charset="0"/>
            </a:endParaRPr>
          </a:p>
          <a:p>
            <a:pPr marL="0" indent="0">
              <a:buNone/>
            </a:pPr>
            <a:r>
              <a:rPr lang="en-US" sz="2600" dirty="0">
                <a:latin typeface="Courier New" panose="02070309020205020404" pitchFamily="49" charset="0"/>
                <a:cs typeface="Courier New" panose="02070309020205020404" pitchFamily="49" charset="0"/>
              </a:rPr>
              <a:t> /</a:t>
            </a:r>
            <a:r>
              <a:rPr lang="en-US" sz="2600" dirty="0" err="1">
                <a:latin typeface="Courier New" panose="02070309020205020404" pitchFamily="49" charset="0"/>
                <a:cs typeface="Courier New" panose="02070309020205020404" pitchFamily="49" charset="0"/>
              </a:rPr>
              <a:t>etc</a:t>
            </a:r>
            <a:r>
              <a:rPr lang="en-US" sz="2600" dirty="0">
                <a:latin typeface="Courier New" panose="02070309020205020404" pitchFamily="49" charset="0"/>
                <a:cs typeface="Courier New" panose="02070309020205020404" pitchFamily="49" charset="0"/>
              </a:rPr>
              <a:t>/apt/sources/</a:t>
            </a:r>
            <a:r>
              <a:rPr lang="en-US" sz="2600" dirty="0" err="1">
                <a:latin typeface="Courier New" panose="02070309020205020404" pitchFamily="49" charset="0"/>
                <a:cs typeface="Courier New" panose="02070309020205020404" pitchFamily="49" charset="0"/>
              </a:rPr>
              <a:t>sources.list.d</a:t>
            </a:r>
            <a:r>
              <a:rPr lang="en-US" sz="2600" dirty="0">
                <a:latin typeface="Courier New" panose="02070309020205020404" pitchFamily="49" charset="0"/>
                <a:cs typeface="Courier New" panose="02070309020205020404" pitchFamily="49" charset="0"/>
              </a:rPr>
              <a:t>/</a:t>
            </a:r>
          </a:p>
          <a:p>
            <a:r>
              <a:rPr lang="en-US" sz="2800" dirty="0"/>
              <a:t>Here is a typical repository line:</a:t>
            </a:r>
          </a:p>
          <a:p>
            <a:pPr lvl="1"/>
            <a:r>
              <a:rPr lang="en-US" sz="2400" dirty="0" err="1"/>
              <a:t>Jammy</a:t>
            </a:r>
            <a:r>
              <a:rPr lang="en-US" sz="2400" dirty="0"/>
              <a:t> is what Ubuntu version 22.04 is called</a:t>
            </a:r>
          </a:p>
          <a:p>
            <a:pPr marL="0" indent="0">
              <a:buNone/>
            </a:pPr>
            <a:r>
              <a:rPr lang="en-US" sz="1800" dirty="0">
                <a:latin typeface="Courier New" panose="02070309020205020404" pitchFamily="49" charset="0"/>
                <a:cs typeface="Courier New" panose="02070309020205020404" pitchFamily="49" charset="0"/>
              </a:rPr>
              <a:t>deb http://us.archive.ubuntu.com/ubuntu/ </a:t>
            </a:r>
            <a:r>
              <a:rPr lang="en-US" sz="1800" dirty="0" err="1">
                <a:latin typeface="Courier New" panose="02070309020205020404" pitchFamily="49" charset="0"/>
                <a:cs typeface="Courier New" panose="02070309020205020404" pitchFamily="49" charset="0"/>
              </a:rPr>
              <a:t>jammy</a:t>
            </a:r>
            <a:r>
              <a:rPr lang="en-US" sz="1800" dirty="0">
                <a:latin typeface="Courier New" panose="02070309020205020404" pitchFamily="49" charset="0"/>
                <a:cs typeface="Courier New" panose="02070309020205020404" pitchFamily="49" charset="0"/>
              </a:rPr>
              <a:t> main restricted</a:t>
            </a:r>
          </a:p>
        </p:txBody>
      </p:sp>
      <p:sp>
        <p:nvSpPr>
          <p:cNvPr id="4" name="Slide Number Placeholder 3">
            <a:extLst>
              <a:ext uri="{FF2B5EF4-FFF2-40B4-BE49-F238E27FC236}">
                <a16:creationId xmlns:a16="http://schemas.microsoft.com/office/drawing/2014/main" id="{7F447F08-A68E-F2E4-8EA4-F5B73F4B307A}"/>
              </a:ext>
            </a:extLst>
          </p:cNvPr>
          <p:cNvSpPr>
            <a:spLocks noGrp="1"/>
          </p:cNvSpPr>
          <p:nvPr>
            <p:ph type="sldNum" sz="quarter" idx="12"/>
          </p:nvPr>
        </p:nvSpPr>
        <p:spPr/>
        <p:txBody>
          <a:bodyPr/>
          <a:lstStyle/>
          <a:p>
            <a:fld id="{F1E687AB-0FD7-C047-930B-FD009416571E}" type="slidenum">
              <a:rPr lang="en-US" smtClean="0"/>
              <a:t>15</a:t>
            </a:fld>
            <a:endParaRPr lang="en-US" dirty="0"/>
          </a:p>
        </p:txBody>
      </p:sp>
    </p:spTree>
    <p:extLst>
      <p:ext uri="{BB962C8B-B14F-4D97-AF65-F5344CB8AC3E}">
        <p14:creationId xmlns:p14="http://schemas.microsoft.com/office/powerpoint/2010/main" val="4063253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75363-D329-4A1A-98AC-E388318C370C}"/>
              </a:ext>
            </a:extLst>
          </p:cNvPr>
          <p:cNvSpPr>
            <a:spLocks noGrp="1"/>
          </p:cNvSpPr>
          <p:nvPr>
            <p:ph type="title"/>
          </p:nvPr>
        </p:nvSpPr>
        <p:spPr/>
        <p:txBody>
          <a:bodyPr/>
          <a:lstStyle/>
          <a:p>
            <a:r>
              <a:rPr lang="en-US" dirty="0"/>
              <a:t>Inventory of Packages on a server</a:t>
            </a:r>
          </a:p>
        </p:txBody>
      </p:sp>
      <p:sp>
        <p:nvSpPr>
          <p:cNvPr id="3" name="Content Placeholder 2">
            <a:extLst>
              <a:ext uri="{FF2B5EF4-FFF2-40B4-BE49-F238E27FC236}">
                <a16:creationId xmlns:a16="http://schemas.microsoft.com/office/drawing/2014/main" id="{AAA60885-F7A2-389E-C849-040073920C90}"/>
              </a:ext>
            </a:extLst>
          </p:cNvPr>
          <p:cNvSpPr>
            <a:spLocks noGrp="1"/>
          </p:cNvSpPr>
          <p:nvPr>
            <p:ph idx="1"/>
          </p:nvPr>
        </p:nvSpPr>
        <p:spPr>
          <a:xfrm>
            <a:off x="457200" y="1309314"/>
            <a:ext cx="8229600" cy="1141571"/>
          </a:xfrm>
        </p:spPr>
        <p:txBody>
          <a:bodyPr/>
          <a:lstStyle/>
          <a:p>
            <a:r>
              <a:rPr lang="en-US" dirty="0"/>
              <a:t>To export a list of installed packages</a:t>
            </a:r>
          </a:p>
          <a:p>
            <a:pPr marL="0" indent="0">
              <a:buNone/>
            </a:pPr>
            <a:r>
              <a:rPr lang="en-US" sz="2000" dirty="0" err="1">
                <a:latin typeface="Courier New" panose="02070309020205020404" pitchFamily="49" charset="0"/>
                <a:cs typeface="Courier New" panose="02070309020205020404" pitchFamily="49" charset="0"/>
              </a:rPr>
              <a:t>dpkg</a:t>
            </a:r>
            <a:r>
              <a:rPr lang="en-US" sz="2000" dirty="0">
                <a:latin typeface="Courier New" panose="02070309020205020404" pitchFamily="49" charset="0"/>
                <a:cs typeface="Courier New" panose="02070309020205020404" pitchFamily="49" charset="0"/>
              </a:rPr>
              <a:t> --get-</a:t>
            </a:r>
            <a:r>
              <a:rPr lang="en-US" sz="2000" dirty="0" err="1">
                <a:latin typeface="Courier New" panose="02070309020205020404" pitchFamily="49" charset="0"/>
                <a:cs typeface="Courier New" panose="02070309020205020404" pitchFamily="49" charset="0"/>
              </a:rPr>
              <a:t>slections</a:t>
            </a:r>
            <a:r>
              <a:rPr lang="en-US" sz="2000" dirty="0">
                <a:latin typeface="Courier New" panose="02070309020205020404" pitchFamily="49" charset="0"/>
                <a:cs typeface="Courier New" panose="02070309020205020404" pitchFamily="49" charset="0"/>
              </a:rPr>
              <a:t> &gt; </a:t>
            </a:r>
            <a:r>
              <a:rPr lang="en-US" sz="2000" dirty="0" err="1">
                <a:latin typeface="Courier New" panose="02070309020205020404" pitchFamily="49" charset="0"/>
                <a:cs typeface="Courier New" panose="02070309020205020404" pitchFamily="49" charset="0"/>
              </a:rPr>
              <a:t>list_of_packages.txt</a:t>
            </a:r>
            <a:endParaRPr lang="en-US" sz="2000" dirty="0">
              <a:latin typeface="Courier New" panose="02070309020205020404" pitchFamily="49" charset="0"/>
              <a:cs typeface="Courier New" panose="02070309020205020404" pitchFamily="49" charset="0"/>
            </a:endParaRPr>
          </a:p>
          <a:p>
            <a:pPr marL="0" indent="0">
              <a:buNone/>
            </a:pPr>
            <a:endParaRPr lang="en-US" sz="2000" dirty="0"/>
          </a:p>
        </p:txBody>
      </p:sp>
      <p:sp>
        <p:nvSpPr>
          <p:cNvPr id="4" name="Slide Number Placeholder 3">
            <a:extLst>
              <a:ext uri="{FF2B5EF4-FFF2-40B4-BE49-F238E27FC236}">
                <a16:creationId xmlns:a16="http://schemas.microsoft.com/office/drawing/2014/main" id="{7F447F08-A68E-F2E4-8EA4-F5B73F4B307A}"/>
              </a:ext>
            </a:extLst>
          </p:cNvPr>
          <p:cNvSpPr>
            <a:spLocks noGrp="1"/>
          </p:cNvSpPr>
          <p:nvPr>
            <p:ph type="sldNum" sz="quarter" idx="12"/>
          </p:nvPr>
        </p:nvSpPr>
        <p:spPr/>
        <p:txBody>
          <a:bodyPr/>
          <a:lstStyle/>
          <a:p>
            <a:fld id="{F1E687AB-0FD7-C047-930B-FD009416571E}" type="slidenum">
              <a:rPr lang="en-US" smtClean="0"/>
              <a:t>16</a:t>
            </a:fld>
            <a:endParaRPr lang="en-US" dirty="0"/>
          </a:p>
        </p:txBody>
      </p:sp>
      <p:pic>
        <p:nvPicPr>
          <p:cNvPr id="6" name="Picture 5" descr="A screenshot of a computer&#10;&#10;Description automatically generated">
            <a:extLst>
              <a:ext uri="{FF2B5EF4-FFF2-40B4-BE49-F238E27FC236}">
                <a16:creationId xmlns:a16="http://schemas.microsoft.com/office/drawing/2014/main" id="{72D2C2E2-DD81-DB46-FDDC-F5F57EB96B3B}"/>
              </a:ext>
            </a:extLst>
          </p:cNvPr>
          <p:cNvPicPr>
            <a:picLocks noChangeAspect="1"/>
          </p:cNvPicPr>
          <p:nvPr/>
        </p:nvPicPr>
        <p:blipFill>
          <a:blip r:embed="rId2"/>
          <a:stretch>
            <a:fillRect/>
          </a:stretch>
        </p:blipFill>
        <p:spPr>
          <a:xfrm>
            <a:off x="874091" y="2299914"/>
            <a:ext cx="6351657" cy="4171237"/>
          </a:xfrm>
          <a:prstGeom prst="rect">
            <a:avLst/>
          </a:prstGeom>
        </p:spPr>
      </p:pic>
    </p:spTree>
    <p:extLst>
      <p:ext uri="{BB962C8B-B14F-4D97-AF65-F5344CB8AC3E}">
        <p14:creationId xmlns:p14="http://schemas.microsoft.com/office/powerpoint/2010/main" val="3755132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75363-D329-4A1A-98AC-E388318C370C}"/>
              </a:ext>
            </a:extLst>
          </p:cNvPr>
          <p:cNvSpPr>
            <a:spLocks noGrp="1"/>
          </p:cNvSpPr>
          <p:nvPr>
            <p:ph type="title"/>
          </p:nvPr>
        </p:nvSpPr>
        <p:spPr/>
        <p:txBody>
          <a:bodyPr/>
          <a:lstStyle/>
          <a:p>
            <a:r>
              <a:rPr lang="en-US" dirty="0"/>
              <a:t>Importance of Inventory</a:t>
            </a:r>
          </a:p>
        </p:txBody>
      </p:sp>
      <p:sp>
        <p:nvSpPr>
          <p:cNvPr id="3" name="Content Placeholder 2">
            <a:extLst>
              <a:ext uri="{FF2B5EF4-FFF2-40B4-BE49-F238E27FC236}">
                <a16:creationId xmlns:a16="http://schemas.microsoft.com/office/drawing/2014/main" id="{AAA60885-F7A2-389E-C849-040073920C90}"/>
              </a:ext>
            </a:extLst>
          </p:cNvPr>
          <p:cNvSpPr>
            <a:spLocks noGrp="1"/>
          </p:cNvSpPr>
          <p:nvPr>
            <p:ph idx="1"/>
          </p:nvPr>
        </p:nvSpPr>
        <p:spPr/>
        <p:txBody>
          <a:bodyPr>
            <a:normAutofit fontScale="92500" lnSpcReduction="20000"/>
          </a:bodyPr>
          <a:lstStyle/>
          <a:p>
            <a:r>
              <a:rPr lang="en-US" dirty="0"/>
              <a:t>Security</a:t>
            </a:r>
          </a:p>
          <a:p>
            <a:pPr lvl="1"/>
            <a:r>
              <a:rPr lang="en-US" dirty="0"/>
              <a:t>Many things are required to Secure a server</a:t>
            </a:r>
          </a:p>
          <a:p>
            <a:pPr lvl="1"/>
            <a:r>
              <a:rPr lang="en-US" dirty="0"/>
              <a:t>First a foremost is to keep the amount of installed software to a minimum, just what is needed for the server to perform its function</a:t>
            </a:r>
          </a:p>
          <a:p>
            <a:pPr lvl="1"/>
            <a:r>
              <a:rPr lang="en-US" dirty="0"/>
              <a:t>Checking to see what is installed can lead to remove software from a server.</a:t>
            </a:r>
          </a:p>
          <a:p>
            <a:r>
              <a:rPr lang="en-US" dirty="0"/>
              <a:t> Duplicating a server from bare metal	</a:t>
            </a:r>
          </a:p>
          <a:p>
            <a:pPr lvl="1"/>
            <a:r>
              <a:rPr lang="en-US" dirty="0"/>
              <a:t>Obtain an inventory of software from the old server</a:t>
            </a:r>
          </a:p>
          <a:p>
            <a:pPr lvl="1"/>
            <a:r>
              <a:rPr lang="en-US" dirty="0"/>
              <a:t>Install the </a:t>
            </a:r>
            <a:r>
              <a:rPr lang="en-US" dirty="0" err="1"/>
              <a:t>os</a:t>
            </a:r>
            <a:r>
              <a:rPr lang="en-US" dirty="0"/>
              <a:t> (possibly the next release of the </a:t>
            </a:r>
            <a:r>
              <a:rPr lang="en-US" dirty="0" err="1"/>
              <a:t>os</a:t>
            </a:r>
            <a:r>
              <a:rPr lang="en-US" dirty="0"/>
              <a:t>)</a:t>
            </a:r>
          </a:p>
          <a:p>
            <a:pPr lvl="1"/>
            <a:r>
              <a:rPr lang="en-US" dirty="0"/>
              <a:t>Install the list of software packages from the old server onto the new duplicated server.</a:t>
            </a:r>
          </a:p>
        </p:txBody>
      </p:sp>
      <p:sp>
        <p:nvSpPr>
          <p:cNvPr id="4" name="Slide Number Placeholder 3">
            <a:extLst>
              <a:ext uri="{FF2B5EF4-FFF2-40B4-BE49-F238E27FC236}">
                <a16:creationId xmlns:a16="http://schemas.microsoft.com/office/drawing/2014/main" id="{7F447F08-A68E-F2E4-8EA4-F5B73F4B307A}"/>
              </a:ext>
            </a:extLst>
          </p:cNvPr>
          <p:cNvSpPr>
            <a:spLocks noGrp="1"/>
          </p:cNvSpPr>
          <p:nvPr>
            <p:ph type="sldNum" sz="quarter" idx="12"/>
          </p:nvPr>
        </p:nvSpPr>
        <p:spPr/>
        <p:txBody>
          <a:bodyPr/>
          <a:lstStyle/>
          <a:p>
            <a:fld id="{F1E687AB-0FD7-C047-930B-FD009416571E}" type="slidenum">
              <a:rPr lang="en-US" smtClean="0"/>
              <a:t>17</a:t>
            </a:fld>
            <a:endParaRPr lang="en-US" dirty="0"/>
          </a:p>
        </p:txBody>
      </p:sp>
    </p:spTree>
    <p:extLst>
      <p:ext uri="{BB962C8B-B14F-4D97-AF65-F5344CB8AC3E}">
        <p14:creationId xmlns:p14="http://schemas.microsoft.com/office/powerpoint/2010/main" val="3170434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75363-D329-4A1A-98AC-E388318C370C}"/>
              </a:ext>
            </a:extLst>
          </p:cNvPr>
          <p:cNvSpPr>
            <a:spLocks noGrp="1"/>
          </p:cNvSpPr>
          <p:nvPr>
            <p:ph type="title"/>
          </p:nvPr>
        </p:nvSpPr>
        <p:spPr/>
        <p:txBody>
          <a:bodyPr/>
          <a:lstStyle/>
          <a:p>
            <a:r>
              <a:rPr lang="en-US" dirty="0"/>
              <a:t>Importance of Inventory</a:t>
            </a:r>
          </a:p>
        </p:txBody>
      </p:sp>
      <p:sp>
        <p:nvSpPr>
          <p:cNvPr id="3" name="Content Placeholder 2">
            <a:extLst>
              <a:ext uri="{FF2B5EF4-FFF2-40B4-BE49-F238E27FC236}">
                <a16:creationId xmlns:a16="http://schemas.microsoft.com/office/drawing/2014/main" id="{AAA60885-F7A2-389E-C849-040073920C90}"/>
              </a:ext>
            </a:extLst>
          </p:cNvPr>
          <p:cNvSpPr>
            <a:spLocks noGrp="1"/>
          </p:cNvSpPr>
          <p:nvPr>
            <p:ph idx="1"/>
          </p:nvPr>
        </p:nvSpPr>
        <p:spPr>
          <a:xfrm>
            <a:off x="457200" y="1392936"/>
            <a:ext cx="8229600" cy="4876800"/>
          </a:xfrm>
        </p:spPr>
        <p:txBody>
          <a:bodyPr>
            <a:normAutofit/>
          </a:bodyPr>
          <a:lstStyle/>
          <a:p>
            <a:r>
              <a:rPr lang="en-US" dirty="0"/>
              <a:t>Server farms</a:t>
            </a:r>
          </a:p>
          <a:p>
            <a:pPr lvl="1"/>
            <a:r>
              <a:rPr lang="en-US" dirty="0"/>
              <a:t>Large Businesses and Organizations have thousands of servers serving applications</a:t>
            </a:r>
          </a:p>
          <a:p>
            <a:pPr lvl="2"/>
            <a:r>
              <a:rPr lang="en-US" dirty="0"/>
              <a:t>One company acquires another server engineers wind up supporting the servers from the acquired company</a:t>
            </a:r>
          </a:p>
          <a:p>
            <a:pPr lvl="2"/>
            <a:r>
              <a:rPr lang="en-US" dirty="0"/>
              <a:t>Staff may leave from the acquired company</a:t>
            </a:r>
          </a:p>
          <a:p>
            <a:pPr lvl="2"/>
            <a:r>
              <a:rPr lang="en-US" dirty="0"/>
              <a:t>Unknowns about the “inherited” servers</a:t>
            </a:r>
          </a:p>
          <a:p>
            <a:pPr lvl="2"/>
            <a:r>
              <a:rPr lang="en-US" dirty="0"/>
              <a:t> Check the inventory of installed software packages</a:t>
            </a:r>
          </a:p>
          <a:p>
            <a:pPr lvl="2"/>
            <a:r>
              <a:rPr lang="en-US" dirty="0"/>
              <a:t>Check for processes and services running</a:t>
            </a:r>
          </a:p>
          <a:p>
            <a:pPr lvl="2"/>
            <a:r>
              <a:rPr lang="en-US" dirty="0"/>
              <a:t>Schedule a reboot of the servers to ensure startup configurations all functioning</a:t>
            </a:r>
          </a:p>
        </p:txBody>
      </p:sp>
      <p:sp>
        <p:nvSpPr>
          <p:cNvPr id="4" name="Slide Number Placeholder 3">
            <a:extLst>
              <a:ext uri="{FF2B5EF4-FFF2-40B4-BE49-F238E27FC236}">
                <a16:creationId xmlns:a16="http://schemas.microsoft.com/office/drawing/2014/main" id="{7F447F08-A68E-F2E4-8EA4-F5B73F4B307A}"/>
              </a:ext>
            </a:extLst>
          </p:cNvPr>
          <p:cNvSpPr>
            <a:spLocks noGrp="1"/>
          </p:cNvSpPr>
          <p:nvPr>
            <p:ph type="sldNum" sz="quarter" idx="12"/>
          </p:nvPr>
        </p:nvSpPr>
        <p:spPr/>
        <p:txBody>
          <a:bodyPr/>
          <a:lstStyle/>
          <a:p>
            <a:fld id="{F1E687AB-0FD7-C047-930B-FD009416571E}" type="slidenum">
              <a:rPr lang="en-US" smtClean="0"/>
              <a:t>18</a:t>
            </a:fld>
            <a:endParaRPr lang="en-US" dirty="0"/>
          </a:p>
        </p:txBody>
      </p:sp>
    </p:spTree>
    <p:extLst>
      <p:ext uri="{BB962C8B-B14F-4D97-AF65-F5344CB8AC3E}">
        <p14:creationId xmlns:p14="http://schemas.microsoft.com/office/powerpoint/2010/main" val="4186489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75363-D329-4A1A-98AC-E388318C370C}"/>
              </a:ext>
            </a:extLst>
          </p:cNvPr>
          <p:cNvSpPr>
            <a:spLocks noGrp="1"/>
          </p:cNvSpPr>
          <p:nvPr>
            <p:ph type="title"/>
          </p:nvPr>
        </p:nvSpPr>
        <p:spPr/>
        <p:txBody>
          <a:bodyPr/>
          <a:lstStyle/>
          <a:p>
            <a:r>
              <a:rPr lang="en-US" dirty="0"/>
              <a:t>Importing selections onto a new server</a:t>
            </a:r>
          </a:p>
        </p:txBody>
      </p:sp>
      <p:sp>
        <p:nvSpPr>
          <p:cNvPr id="3" name="Content Placeholder 2">
            <a:extLst>
              <a:ext uri="{FF2B5EF4-FFF2-40B4-BE49-F238E27FC236}">
                <a16:creationId xmlns:a16="http://schemas.microsoft.com/office/drawing/2014/main" id="{AAA60885-F7A2-389E-C849-040073920C90}"/>
              </a:ext>
            </a:extLst>
          </p:cNvPr>
          <p:cNvSpPr>
            <a:spLocks noGrp="1"/>
          </p:cNvSpPr>
          <p:nvPr>
            <p:ph idx="1"/>
          </p:nvPr>
        </p:nvSpPr>
        <p:spPr>
          <a:xfrm>
            <a:off x="457200" y="1392936"/>
            <a:ext cx="8229600" cy="4876800"/>
          </a:xfrm>
        </p:spPr>
        <p:txBody>
          <a:bodyPr>
            <a:normAutofit fontScale="92500" lnSpcReduction="10000"/>
          </a:bodyPr>
          <a:lstStyle/>
          <a:p>
            <a:r>
              <a:rPr lang="en-US" dirty="0"/>
              <a:t>From previous slide the list of packages are in a text file named </a:t>
            </a:r>
            <a:r>
              <a:rPr lang="en-US" sz="3200" dirty="0" err="1">
                <a:latin typeface="Courier New" panose="02070309020205020404" pitchFamily="49" charset="0"/>
                <a:cs typeface="Courier New" panose="02070309020205020404" pitchFamily="49" charset="0"/>
              </a:rPr>
              <a:t>list_of_packages.txt</a:t>
            </a:r>
            <a:endParaRPr lang="en-US" dirty="0"/>
          </a:p>
          <a:p>
            <a:r>
              <a:rPr lang="en-US" dirty="0"/>
              <a:t>Update the repositories</a:t>
            </a:r>
          </a:p>
          <a:p>
            <a:pPr marL="0" indent="0">
              <a:buNone/>
            </a:pPr>
            <a:r>
              <a:rPr lang="en-US" sz="2000" dirty="0" err="1">
                <a:latin typeface="Courier New" panose="02070309020205020404" pitchFamily="49" charset="0"/>
                <a:cs typeface="Courier New" panose="02070309020205020404" pitchFamily="49" charset="0"/>
              </a:rPr>
              <a:t>sudo</a:t>
            </a:r>
            <a:r>
              <a:rPr lang="en-US" sz="2000" dirty="0">
                <a:latin typeface="Courier New" panose="02070309020205020404" pitchFamily="49" charset="0"/>
                <a:cs typeface="Courier New" panose="02070309020205020404" pitchFamily="49" charset="0"/>
              </a:rPr>
              <a:t> apt update</a:t>
            </a:r>
          </a:p>
          <a:p>
            <a:r>
              <a:rPr lang="en-US" dirty="0"/>
              <a:t>Ensure the </a:t>
            </a:r>
            <a:r>
              <a:rPr lang="en-US" dirty="0" err="1">
                <a:latin typeface="Courier New" panose="02070309020205020404" pitchFamily="49" charset="0"/>
                <a:cs typeface="Courier New" panose="02070309020205020404" pitchFamily="49" charset="0"/>
              </a:rPr>
              <a:t>dselect</a:t>
            </a:r>
            <a:r>
              <a:rPr lang="en-US" dirty="0"/>
              <a:t> package is installed</a:t>
            </a:r>
          </a:p>
          <a:p>
            <a:pPr marL="0" indent="0">
              <a:buNone/>
            </a:pPr>
            <a:r>
              <a:rPr lang="en-US" sz="2000" dirty="0">
                <a:latin typeface="Courier New" panose="02070309020205020404" pitchFamily="49" charset="0"/>
                <a:cs typeface="Courier New" panose="02070309020205020404" pitchFamily="49" charset="0"/>
              </a:rPr>
              <a:t>which </a:t>
            </a:r>
            <a:r>
              <a:rPr lang="en-US" sz="2000" dirty="0" err="1">
                <a:latin typeface="Courier New" panose="02070309020205020404" pitchFamily="49" charset="0"/>
                <a:cs typeface="Courier New" panose="02070309020205020404" pitchFamily="49" charset="0"/>
              </a:rPr>
              <a:t>dselect</a:t>
            </a:r>
            <a:r>
              <a:rPr lang="en-US" sz="2000" dirty="0">
                <a:latin typeface="Courier New" panose="02070309020205020404" pitchFamily="49" charset="0"/>
                <a:cs typeface="Courier New" panose="02070309020205020404" pitchFamily="49" charset="0"/>
              </a:rPr>
              <a:t> 	!if the output does not show </a:t>
            </a:r>
            <a:r>
              <a:rPr lang="en-US" sz="2000" dirty="0" err="1">
                <a:latin typeface="Courier New" panose="02070309020205020404" pitchFamily="49" charset="0"/>
                <a:cs typeface="Courier New" panose="02070309020205020404" pitchFamily="49" charset="0"/>
              </a:rPr>
              <a:t>dselect</a:t>
            </a:r>
            <a:r>
              <a:rPr lang="en-US" sz="2000" dirty="0">
                <a:latin typeface="Courier New" panose="02070309020205020404" pitchFamily="49" charset="0"/>
                <a:cs typeface="Courier New" panose="02070309020205020404" pitchFamily="49" charset="0"/>
              </a:rPr>
              <a:t> 			!in the /</a:t>
            </a:r>
            <a:r>
              <a:rPr lang="en-US" sz="2000" dirty="0" err="1">
                <a:latin typeface="Courier New" panose="02070309020205020404" pitchFamily="49" charset="0"/>
                <a:cs typeface="Courier New" panose="02070309020205020404" pitchFamily="49" charset="0"/>
              </a:rPr>
              <a:t>usr</a:t>
            </a:r>
            <a:r>
              <a:rPr lang="en-US" sz="2000" dirty="0">
                <a:latin typeface="Courier New" panose="02070309020205020404" pitchFamily="49" charset="0"/>
                <a:cs typeface="Courier New" panose="02070309020205020404" pitchFamily="49" charset="0"/>
              </a:rPr>
              <a:t>/bin</a:t>
            </a:r>
          </a:p>
          <a:p>
            <a:pPr marL="0" indent="0">
              <a:buNone/>
            </a:pPr>
            <a:r>
              <a:rPr lang="en-US" sz="2000" dirty="0" err="1">
                <a:latin typeface="Courier New" panose="02070309020205020404" pitchFamily="49" charset="0"/>
                <a:cs typeface="Courier New" panose="02070309020205020404" pitchFamily="49" charset="0"/>
              </a:rPr>
              <a:t>sudo</a:t>
            </a:r>
            <a:r>
              <a:rPr lang="en-US" sz="2000" dirty="0">
                <a:latin typeface="Courier New" panose="02070309020205020404" pitchFamily="49" charset="0"/>
                <a:cs typeface="Courier New" panose="02070309020205020404" pitchFamily="49" charset="0"/>
              </a:rPr>
              <a:t> apt install </a:t>
            </a:r>
            <a:r>
              <a:rPr lang="en-US" sz="2000" dirty="0" err="1">
                <a:latin typeface="Courier New" panose="02070309020205020404" pitchFamily="49" charset="0"/>
                <a:cs typeface="Courier New" panose="02070309020205020404" pitchFamily="49" charset="0"/>
              </a:rPr>
              <a:t>dselect</a:t>
            </a:r>
            <a:endParaRPr lang="en-US" sz="2000" dirty="0">
              <a:latin typeface="Courier New" panose="02070309020205020404" pitchFamily="49" charset="0"/>
              <a:cs typeface="Courier New" panose="02070309020205020404" pitchFamily="49" charset="0"/>
            </a:endParaRPr>
          </a:p>
          <a:p>
            <a:r>
              <a:rPr lang="en-US" dirty="0"/>
              <a:t>Import the saved package list</a:t>
            </a:r>
          </a:p>
          <a:p>
            <a:pPr marL="0" indent="0">
              <a:buNone/>
            </a:pPr>
            <a:r>
              <a:rPr lang="en-US" sz="2000" dirty="0" err="1">
                <a:latin typeface="Courier New" panose="02070309020205020404" pitchFamily="49" charset="0"/>
                <a:cs typeface="Courier New" panose="02070309020205020404" pitchFamily="49" charset="0"/>
              </a:rPr>
              <a:t>sudo</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dselect</a:t>
            </a:r>
            <a:r>
              <a:rPr lang="en-US" sz="2000" dirty="0">
                <a:latin typeface="Courier New" panose="02070309020205020404" pitchFamily="49" charset="0"/>
                <a:cs typeface="Courier New" panose="02070309020205020404" pitchFamily="49" charset="0"/>
              </a:rPr>
              <a:t> update</a:t>
            </a:r>
          </a:p>
          <a:p>
            <a:pPr marL="0" indent="0">
              <a:buNone/>
            </a:pPr>
            <a:r>
              <a:rPr lang="en-US" sz="2000" dirty="0" err="1">
                <a:latin typeface="Courier New" panose="02070309020205020404" pitchFamily="49" charset="0"/>
                <a:cs typeface="Courier New" panose="02070309020205020404" pitchFamily="49" charset="0"/>
              </a:rPr>
              <a:t>sudo</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dpkg</a:t>
            </a:r>
            <a:r>
              <a:rPr lang="en-US" sz="2000" dirty="0">
                <a:latin typeface="Courier New" panose="02070309020205020404" pitchFamily="49" charset="0"/>
                <a:cs typeface="Courier New" panose="02070309020205020404" pitchFamily="49" charset="0"/>
              </a:rPr>
              <a:t> –set-selections &lt; </a:t>
            </a:r>
            <a:r>
              <a:rPr lang="en-US" sz="2000" dirty="0" err="1">
                <a:latin typeface="Courier New" panose="02070309020205020404" pitchFamily="49" charset="0"/>
                <a:cs typeface="Courier New" panose="02070309020205020404" pitchFamily="49" charset="0"/>
              </a:rPr>
              <a:t>list_of_packages.list</a:t>
            </a:r>
            <a:endParaRPr lang="en-US" sz="2000" dirty="0">
              <a:latin typeface="Courier New" panose="02070309020205020404" pitchFamily="49" charset="0"/>
              <a:cs typeface="Courier New" panose="02070309020205020404" pitchFamily="49" charset="0"/>
            </a:endParaRPr>
          </a:p>
          <a:p>
            <a:pPr marL="0" indent="0">
              <a:buNone/>
            </a:pPr>
            <a:r>
              <a:rPr lang="en-US" sz="2000" dirty="0" err="1">
                <a:latin typeface="Courier New" panose="02070309020205020404" pitchFamily="49" charset="0"/>
                <a:cs typeface="Courier New" panose="02070309020205020404" pitchFamily="49" charset="0"/>
              </a:rPr>
              <a:t>sudo</a:t>
            </a:r>
            <a:r>
              <a:rPr lang="en-US" sz="2000" dirty="0">
                <a:latin typeface="Courier New" panose="02070309020205020404" pitchFamily="49" charset="0"/>
                <a:cs typeface="Courier New" panose="02070309020205020404" pitchFamily="49" charset="0"/>
              </a:rPr>
              <a:t> apt-get </a:t>
            </a:r>
            <a:r>
              <a:rPr lang="en-US" sz="2000" dirty="0" err="1">
                <a:latin typeface="Courier New" panose="02070309020205020404" pitchFamily="49" charset="0"/>
                <a:cs typeface="Courier New" panose="02070309020205020404" pitchFamily="49" charset="0"/>
              </a:rPr>
              <a:t>dselect</a:t>
            </a:r>
            <a:r>
              <a:rPr lang="en-US" sz="2000" dirty="0">
                <a:latin typeface="Courier New" panose="02070309020205020404" pitchFamily="49" charset="0"/>
                <a:cs typeface="Courier New" panose="02070309020205020404" pitchFamily="49" charset="0"/>
              </a:rPr>
              <a:t>-upgrade ! Note apt-get not apt</a:t>
            </a:r>
          </a:p>
          <a:p>
            <a:endParaRPr lang="en-US" dirty="0"/>
          </a:p>
        </p:txBody>
      </p:sp>
      <p:sp>
        <p:nvSpPr>
          <p:cNvPr id="4" name="Slide Number Placeholder 3">
            <a:extLst>
              <a:ext uri="{FF2B5EF4-FFF2-40B4-BE49-F238E27FC236}">
                <a16:creationId xmlns:a16="http://schemas.microsoft.com/office/drawing/2014/main" id="{7F447F08-A68E-F2E4-8EA4-F5B73F4B307A}"/>
              </a:ext>
            </a:extLst>
          </p:cNvPr>
          <p:cNvSpPr>
            <a:spLocks noGrp="1"/>
          </p:cNvSpPr>
          <p:nvPr>
            <p:ph type="sldNum" sz="quarter" idx="12"/>
          </p:nvPr>
        </p:nvSpPr>
        <p:spPr/>
        <p:txBody>
          <a:bodyPr/>
          <a:lstStyle/>
          <a:p>
            <a:fld id="{F1E687AB-0FD7-C047-930B-FD009416571E}" type="slidenum">
              <a:rPr lang="en-US" smtClean="0"/>
              <a:t>19</a:t>
            </a:fld>
            <a:endParaRPr lang="en-US" dirty="0"/>
          </a:p>
        </p:txBody>
      </p:sp>
    </p:spTree>
    <p:extLst>
      <p:ext uri="{BB962C8B-B14F-4D97-AF65-F5344CB8AC3E}">
        <p14:creationId xmlns:p14="http://schemas.microsoft.com/office/powerpoint/2010/main" val="2972931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75363-D329-4A1A-98AC-E388318C370C}"/>
              </a:ext>
            </a:extLst>
          </p:cNvPr>
          <p:cNvSpPr>
            <a:spLocks noGrp="1"/>
          </p:cNvSpPr>
          <p:nvPr>
            <p:ph type="title"/>
          </p:nvPr>
        </p:nvSpPr>
        <p:spPr/>
        <p:txBody>
          <a:bodyPr/>
          <a:lstStyle/>
          <a:p>
            <a:r>
              <a:rPr lang="en-US" dirty="0"/>
              <a:t>Cleaning up orphaned apt packages</a:t>
            </a:r>
          </a:p>
        </p:txBody>
      </p:sp>
      <p:sp>
        <p:nvSpPr>
          <p:cNvPr id="3" name="Content Placeholder 2">
            <a:extLst>
              <a:ext uri="{FF2B5EF4-FFF2-40B4-BE49-F238E27FC236}">
                <a16:creationId xmlns:a16="http://schemas.microsoft.com/office/drawing/2014/main" id="{AAA60885-F7A2-389E-C849-040073920C90}"/>
              </a:ext>
            </a:extLst>
          </p:cNvPr>
          <p:cNvSpPr>
            <a:spLocks noGrp="1"/>
          </p:cNvSpPr>
          <p:nvPr>
            <p:ph idx="1"/>
          </p:nvPr>
        </p:nvSpPr>
        <p:spPr>
          <a:xfrm>
            <a:off x="367748" y="1392936"/>
            <a:ext cx="8229600" cy="2592684"/>
          </a:xfrm>
        </p:spPr>
        <p:txBody>
          <a:bodyPr>
            <a:normAutofit lnSpcReduction="10000"/>
          </a:bodyPr>
          <a:lstStyle/>
          <a:p>
            <a:r>
              <a:rPr lang="en-US" dirty="0"/>
              <a:t>When a package is removed the dependencies are not removed automatically</a:t>
            </a:r>
          </a:p>
          <a:p>
            <a:r>
              <a:rPr lang="en-US" dirty="0"/>
              <a:t>Can lead to unused installed package</a:t>
            </a:r>
          </a:p>
          <a:p>
            <a:r>
              <a:rPr lang="en-US" dirty="0"/>
              <a:t>The apt command will identify no longer required packages; see below</a:t>
            </a:r>
            <a:endParaRPr lang="en-US" sz="2000" dirty="0">
              <a:latin typeface="Courier New" panose="02070309020205020404" pitchFamily="49" charset="0"/>
              <a:cs typeface="Courier New" panose="02070309020205020404" pitchFamily="49" charset="0"/>
            </a:endParaRPr>
          </a:p>
          <a:p>
            <a:endParaRPr lang="en-US" dirty="0"/>
          </a:p>
        </p:txBody>
      </p:sp>
      <p:sp>
        <p:nvSpPr>
          <p:cNvPr id="4" name="Slide Number Placeholder 3">
            <a:extLst>
              <a:ext uri="{FF2B5EF4-FFF2-40B4-BE49-F238E27FC236}">
                <a16:creationId xmlns:a16="http://schemas.microsoft.com/office/drawing/2014/main" id="{7F447F08-A68E-F2E4-8EA4-F5B73F4B307A}"/>
              </a:ext>
            </a:extLst>
          </p:cNvPr>
          <p:cNvSpPr>
            <a:spLocks noGrp="1"/>
          </p:cNvSpPr>
          <p:nvPr>
            <p:ph type="sldNum" sz="quarter" idx="12"/>
          </p:nvPr>
        </p:nvSpPr>
        <p:spPr/>
        <p:txBody>
          <a:bodyPr/>
          <a:lstStyle/>
          <a:p>
            <a:fld id="{F1E687AB-0FD7-C047-930B-FD009416571E}" type="slidenum">
              <a:rPr lang="en-US" smtClean="0"/>
              <a:t>20</a:t>
            </a:fld>
            <a:endParaRPr lang="en-US" dirty="0"/>
          </a:p>
        </p:txBody>
      </p:sp>
      <p:pic>
        <p:nvPicPr>
          <p:cNvPr id="5" name="Picture 4">
            <a:extLst>
              <a:ext uri="{FF2B5EF4-FFF2-40B4-BE49-F238E27FC236}">
                <a16:creationId xmlns:a16="http://schemas.microsoft.com/office/drawing/2014/main" id="{3D6EB31F-2C8F-D65C-8151-56DB74919871}"/>
              </a:ext>
            </a:extLst>
          </p:cNvPr>
          <p:cNvPicPr>
            <a:picLocks noChangeAspect="1"/>
          </p:cNvPicPr>
          <p:nvPr/>
        </p:nvPicPr>
        <p:blipFill>
          <a:blip r:embed="rId2"/>
          <a:stretch>
            <a:fillRect/>
          </a:stretch>
        </p:blipFill>
        <p:spPr>
          <a:xfrm>
            <a:off x="457200" y="3893113"/>
            <a:ext cx="7772400" cy="2786150"/>
          </a:xfrm>
          <a:prstGeom prst="rect">
            <a:avLst/>
          </a:prstGeom>
        </p:spPr>
      </p:pic>
    </p:spTree>
    <p:extLst>
      <p:ext uri="{BB962C8B-B14F-4D97-AF65-F5344CB8AC3E}">
        <p14:creationId xmlns:p14="http://schemas.microsoft.com/office/powerpoint/2010/main" val="689904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CT210 Open Server I</a:t>
            </a:r>
          </a:p>
        </p:txBody>
      </p:sp>
      <p:sp>
        <p:nvSpPr>
          <p:cNvPr id="3" name="Subtitle 2"/>
          <p:cNvSpPr>
            <a:spLocks noGrp="1"/>
          </p:cNvSpPr>
          <p:nvPr>
            <p:ph type="subTitle" idx="1"/>
          </p:nvPr>
        </p:nvSpPr>
        <p:spPr/>
        <p:txBody>
          <a:bodyPr/>
          <a:lstStyle/>
          <a:p>
            <a:r>
              <a:rPr lang="en-US" dirty="0">
                <a:effectLst/>
                <a:ea typeface="Times New Roman" panose="02020603050405020304" pitchFamily="18" charset="0"/>
              </a:rPr>
              <a:t>Navigating and Essential Commands </a:t>
            </a:r>
            <a:endParaRPr lang="en-US" dirty="0"/>
          </a:p>
          <a:p>
            <a:endParaRPr lang="en-US" dirty="0"/>
          </a:p>
          <a:p>
            <a:endParaRPr lang="en-US" dirty="0"/>
          </a:p>
        </p:txBody>
      </p:sp>
    </p:spTree>
    <p:extLst>
      <p:ext uri="{BB962C8B-B14F-4D97-AF65-F5344CB8AC3E}">
        <p14:creationId xmlns:p14="http://schemas.microsoft.com/office/powerpoint/2010/main" val="4028474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BC5E7-274A-440A-2A7C-A30AD462C1F9}"/>
              </a:ext>
            </a:extLst>
          </p:cNvPr>
          <p:cNvSpPr>
            <a:spLocks noGrp="1"/>
          </p:cNvSpPr>
          <p:nvPr>
            <p:ph type="title"/>
          </p:nvPr>
        </p:nvSpPr>
        <p:spPr/>
        <p:txBody>
          <a:bodyPr/>
          <a:lstStyle/>
          <a:p>
            <a:r>
              <a:rPr lang="en-US" dirty="0"/>
              <a:t>Navigating and Essential Commands</a:t>
            </a:r>
          </a:p>
        </p:txBody>
      </p:sp>
      <p:sp>
        <p:nvSpPr>
          <p:cNvPr id="3" name="Content Placeholder 2">
            <a:extLst>
              <a:ext uri="{FF2B5EF4-FFF2-40B4-BE49-F238E27FC236}">
                <a16:creationId xmlns:a16="http://schemas.microsoft.com/office/drawing/2014/main" id="{0BF89F69-B9C2-40CB-1421-A0452D73EE61}"/>
              </a:ext>
            </a:extLst>
          </p:cNvPr>
          <p:cNvSpPr>
            <a:spLocks noGrp="1"/>
          </p:cNvSpPr>
          <p:nvPr>
            <p:ph idx="1"/>
          </p:nvPr>
        </p:nvSpPr>
        <p:spPr/>
        <p:txBody>
          <a:bodyPr/>
          <a:lstStyle/>
          <a:p>
            <a:r>
              <a:rPr lang="en-US" dirty="0" err="1"/>
              <a:t>Tenents</a:t>
            </a:r>
            <a:r>
              <a:rPr lang="en-US" dirty="0"/>
              <a:t> from the Unix Philosophy</a:t>
            </a:r>
          </a:p>
          <a:p>
            <a:r>
              <a:rPr lang="en-US" dirty="0"/>
              <a:t>Learning essential Linux commands</a:t>
            </a:r>
          </a:p>
          <a:p>
            <a:r>
              <a:rPr lang="en-US" dirty="0"/>
              <a:t>Understanding the Linux filesystem layout</a:t>
            </a:r>
          </a:p>
          <a:p>
            <a:r>
              <a:rPr lang="en-US" dirty="0"/>
              <a:t>Viewing the contents of files</a:t>
            </a:r>
          </a:p>
          <a:p>
            <a:r>
              <a:rPr lang="en-US" dirty="0"/>
              <a:t>Viewing log files</a:t>
            </a:r>
          </a:p>
        </p:txBody>
      </p:sp>
      <p:sp>
        <p:nvSpPr>
          <p:cNvPr id="4" name="Slide Number Placeholder 3">
            <a:extLst>
              <a:ext uri="{FF2B5EF4-FFF2-40B4-BE49-F238E27FC236}">
                <a16:creationId xmlns:a16="http://schemas.microsoft.com/office/drawing/2014/main" id="{77A9E630-D4FD-C346-DE3B-AA42BF62F004}"/>
              </a:ext>
            </a:extLst>
          </p:cNvPr>
          <p:cNvSpPr>
            <a:spLocks noGrp="1"/>
          </p:cNvSpPr>
          <p:nvPr>
            <p:ph type="sldNum" sz="quarter" idx="12"/>
          </p:nvPr>
        </p:nvSpPr>
        <p:spPr/>
        <p:txBody>
          <a:bodyPr/>
          <a:lstStyle/>
          <a:p>
            <a:fld id="{F1E687AB-0FD7-C047-930B-FD009416571E}" type="slidenum">
              <a:rPr lang="en-US" smtClean="0"/>
              <a:t>22</a:t>
            </a:fld>
            <a:endParaRPr lang="en-US" dirty="0"/>
          </a:p>
        </p:txBody>
      </p:sp>
    </p:spTree>
    <p:extLst>
      <p:ext uri="{BB962C8B-B14F-4D97-AF65-F5344CB8AC3E}">
        <p14:creationId xmlns:p14="http://schemas.microsoft.com/office/powerpoint/2010/main" val="3119026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1E687AB-0FD7-C047-930B-FD009416571E}" type="slidenum">
              <a:rPr lang="en-US" smtClean="0"/>
              <a:t>23</a:t>
            </a:fld>
            <a:endParaRPr lang="en-US" dirty="0"/>
          </a:p>
        </p:txBody>
      </p:sp>
      <p:sp>
        <p:nvSpPr>
          <p:cNvPr id="4" name="Rectangle 3"/>
          <p:cNvSpPr txBox="1">
            <a:spLocks noChangeArrowheads="1"/>
          </p:cNvSpPr>
          <p:nvPr/>
        </p:nvSpPr>
        <p:spPr>
          <a:xfrm>
            <a:off x="457200" y="1571812"/>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Eric Raymond in his book </a:t>
            </a:r>
            <a:r>
              <a:rPr lang="en-US" i="1" dirty="0"/>
              <a:t>The Art of Unix Programming</a:t>
            </a:r>
            <a:r>
              <a:rPr lang="en-US" dirty="0"/>
              <a:t>, The Art of Unix Programming summarizes the Unix philosophy as the widely-used KISS Principle of "Keep it Simple, Stupid.”</a:t>
            </a:r>
          </a:p>
          <a:p>
            <a:r>
              <a:rPr lang="en-US" dirty="0"/>
              <a:t> He also provides a series of design rules.</a:t>
            </a:r>
          </a:p>
          <a:p>
            <a:r>
              <a:rPr lang="en-US" dirty="0"/>
              <a:t> Let’s examine a few of these rules that apply to the command line.</a:t>
            </a:r>
          </a:p>
          <a:p>
            <a:endParaRPr lang="en-US" dirty="0"/>
          </a:p>
        </p:txBody>
      </p:sp>
      <p:sp>
        <p:nvSpPr>
          <p:cNvPr id="5" name="Rectangle 2"/>
          <p:cNvSpPr>
            <a:spLocks noGrp="1" noChangeArrowheads="1"/>
          </p:cNvSpPr>
          <p:nvPr>
            <p:ph type="title" idx="4294967295"/>
          </p:nvPr>
        </p:nvSpPr>
        <p:spPr>
          <a:xfrm>
            <a:off x="457200" y="365760"/>
            <a:ext cx="8229600" cy="990600"/>
          </a:xfrm>
        </p:spPr>
        <p:txBody>
          <a:bodyPr/>
          <a:lstStyle/>
          <a:p>
            <a:r>
              <a:rPr lang="en-US" dirty="0">
                <a:latin typeface="+mn-lt"/>
              </a:rPr>
              <a:t> Unix </a:t>
            </a:r>
            <a:r>
              <a:rPr lang="en-US" dirty="0"/>
              <a:t>Philosophy</a:t>
            </a:r>
            <a:r>
              <a:rPr lang="en-US" dirty="0">
                <a:latin typeface="+mn-lt"/>
              </a:rPr>
              <a:t> </a:t>
            </a:r>
          </a:p>
        </p:txBody>
      </p:sp>
    </p:spTree>
    <p:extLst>
      <p:ext uri="{BB962C8B-B14F-4D97-AF65-F5344CB8AC3E}">
        <p14:creationId xmlns:p14="http://schemas.microsoft.com/office/powerpoint/2010/main" val="3012871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1E687AB-0FD7-C047-930B-FD009416571E}" type="slidenum">
              <a:rPr lang="en-US" smtClean="0"/>
              <a:t>24</a:t>
            </a:fld>
            <a:endParaRPr lang="en-US" dirty="0"/>
          </a:p>
        </p:txBody>
      </p:sp>
      <p:sp>
        <p:nvSpPr>
          <p:cNvPr id="4" name="Rectangle 3"/>
          <p:cNvSpPr txBox="1">
            <a:spLocks noChangeArrowheads="1"/>
          </p:cNvSpPr>
          <p:nvPr/>
        </p:nvSpPr>
        <p:spPr>
          <a:xfrm>
            <a:off x="457200" y="1571812"/>
            <a:ext cx="8229600" cy="4876800"/>
          </a:xfrm>
          <a:prstGeom prst="rect">
            <a:avLst/>
          </a:prstGeom>
        </p:spPr>
        <p:txBody>
          <a:bodyPr vert="horz" lIns="91440" tIns="45720" rIns="91440" bIns="45720" rtlCol="0">
            <a:normAutofit lnSpcReduction="10000"/>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Rule of Modularity</a:t>
            </a:r>
          </a:p>
          <a:p>
            <a:pPr lvl="1"/>
            <a:r>
              <a:rPr lang="en-US" dirty="0"/>
              <a:t>Write simple parts connected by clean interfaces</a:t>
            </a:r>
          </a:p>
          <a:p>
            <a:pPr lvl="1"/>
            <a:r>
              <a:rPr lang="en-US" dirty="0"/>
              <a:t>This is why Unix is a zillion little specialized programs</a:t>
            </a:r>
          </a:p>
          <a:p>
            <a:r>
              <a:rPr lang="en-US" dirty="0"/>
              <a:t>Rule of Composition</a:t>
            </a:r>
          </a:p>
          <a:p>
            <a:pPr lvl="1"/>
            <a:r>
              <a:rPr lang="en-US" dirty="0"/>
              <a:t>Design programs to be connected to other programs</a:t>
            </a:r>
          </a:p>
          <a:p>
            <a:pPr lvl="1"/>
            <a:r>
              <a:rPr lang="en-US" dirty="0"/>
              <a:t>This will help understand </a:t>
            </a:r>
            <a:r>
              <a:rPr lang="ja-JP" altLang="en-US" dirty="0"/>
              <a:t>‘</a:t>
            </a:r>
            <a:r>
              <a:rPr lang="en-US" altLang="ja-JP" dirty="0"/>
              <a:t>pipes</a:t>
            </a:r>
            <a:r>
              <a:rPr lang="ja-JP" altLang="en-US" dirty="0"/>
              <a:t>’</a:t>
            </a:r>
            <a:endParaRPr lang="en-US" altLang="ja-JP" dirty="0"/>
          </a:p>
          <a:p>
            <a:r>
              <a:rPr lang="en-US" dirty="0"/>
              <a:t>Rule of Representation</a:t>
            </a:r>
          </a:p>
          <a:p>
            <a:pPr lvl="1"/>
            <a:r>
              <a:rPr lang="en-US" dirty="0"/>
              <a:t>Fold knowledge and complexity into data, so program logic can be stupid and robust</a:t>
            </a:r>
          </a:p>
          <a:p>
            <a:pPr lvl="1"/>
            <a:endParaRPr lang="en-US" dirty="0"/>
          </a:p>
        </p:txBody>
      </p:sp>
      <p:sp>
        <p:nvSpPr>
          <p:cNvPr id="5" name="Rectangle 2"/>
          <p:cNvSpPr>
            <a:spLocks noGrp="1" noChangeArrowheads="1"/>
          </p:cNvSpPr>
          <p:nvPr>
            <p:ph type="title" idx="4294967295"/>
          </p:nvPr>
        </p:nvSpPr>
        <p:spPr>
          <a:xfrm>
            <a:off x="457200" y="365760"/>
            <a:ext cx="8229600" cy="990600"/>
          </a:xfrm>
        </p:spPr>
        <p:txBody>
          <a:bodyPr/>
          <a:lstStyle/>
          <a:p>
            <a:r>
              <a:rPr lang="en-US" dirty="0">
                <a:latin typeface="+mn-lt"/>
              </a:rPr>
              <a:t> Unix Philosophy </a:t>
            </a:r>
          </a:p>
        </p:txBody>
      </p:sp>
    </p:spTree>
    <p:extLst>
      <p:ext uri="{BB962C8B-B14F-4D97-AF65-F5344CB8AC3E}">
        <p14:creationId xmlns:p14="http://schemas.microsoft.com/office/powerpoint/2010/main" val="3323970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1E687AB-0FD7-C047-930B-FD009416571E}" type="slidenum">
              <a:rPr lang="en-US" smtClean="0"/>
              <a:t>25</a:t>
            </a:fld>
            <a:endParaRPr lang="en-US" dirty="0"/>
          </a:p>
        </p:txBody>
      </p:sp>
      <p:sp>
        <p:nvSpPr>
          <p:cNvPr id="3" name="Rectangle 3"/>
          <p:cNvSpPr txBox="1">
            <a:spLocks noChangeArrowheads="1"/>
          </p:cNvSpPr>
          <p:nvPr/>
        </p:nvSpPr>
        <p:spPr>
          <a:xfrm>
            <a:off x="457200" y="1571812"/>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lnSpc>
                <a:spcPct val="90000"/>
              </a:lnSpc>
            </a:pPr>
            <a:r>
              <a:rPr lang="en-US" dirty="0"/>
              <a:t>Rule of Simplicity</a:t>
            </a:r>
          </a:p>
          <a:p>
            <a:pPr lvl="1">
              <a:lnSpc>
                <a:spcPct val="90000"/>
              </a:lnSpc>
            </a:pPr>
            <a:r>
              <a:rPr lang="en-US" dirty="0"/>
              <a:t>Design for simplicity; add complexity only when needed</a:t>
            </a:r>
          </a:p>
          <a:p>
            <a:r>
              <a:rPr lang="en-US" dirty="0"/>
              <a:t>Rule of Separation</a:t>
            </a:r>
          </a:p>
          <a:p>
            <a:pPr lvl="1"/>
            <a:r>
              <a:rPr lang="en-US" dirty="0"/>
              <a:t>Separate policy from mechanism; separate interfaces from engines</a:t>
            </a:r>
          </a:p>
          <a:p>
            <a:pPr lvl="2"/>
            <a:r>
              <a:rPr lang="en-US" dirty="0"/>
              <a:t>Policy (front end) changes often, so keep a sound mechanism (back end) to implement those changes</a:t>
            </a:r>
          </a:p>
          <a:p>
            <a:pPr lvl="1"/>
            <a:r>
              <a:rPr lang="en-US" dirty="0"/>
              <a:t>This supports tiered application architectures, like client/server or n-tier client/server</a:t>
            </a:r>
          </a:p>
          <a:p>
            <a:endParaRPr lang="en-US" dirty="0"/>
          </a:p>
        </p:txBody>
      </p:sp>
      <p:sp>
        <p:nvSpPr>
          <p:cNvPr id="4" name="Rectangle 2"/>
          <p:cNvSpPr txBox="1">
            <a:spLocks noChangeArrowheads="1"/>
          </p:cNvSpPr>
          <p:nvPr/>
        </p:nvSpPr>
        <p:spPr>
          <a:xfrm>
            <a:off x="457200" y="365760"/>
            <a:ext cx="8229600" cy="9906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bg2">
                    <a:lumMod val="50000"/>
                  </a:schemeClr>
                </a:solidFill>
                <a:latin typeface="+mj-lt"/>
                <a:ea typeface="+mj-ea"/>
                <a:cs typeface="+mj-cs"/>
              </a:defRPr>
            </a:lvl1pPr>
          </a:lstStyle>
          <a:p>
            <a:r>
              <a:rPr lang="en-US" dirty="0"/>
              <a:t>The Unix Philosophy</a:t>
            </a:r>
          </a:p>
        </p:txBody>
      </p:sp>
    </p:spTree>
    <p:extLst>
      <p:ext uri="{BB962C8B-B14F-4D97-AF65-F5344CB8AC3E}">
        <p14:creationId xmlns:p14="http://schemas.microsoft.com/office/powerpoint/2010/main" val="366273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1E687AB-0FD7-C047-930B-FD009416571E}" type="slidenum">
              <a:rPr lang="en-US" smtClean="0"/>
              <a:t>26</a:t>
            </a:fld>
            <a:endParaRPr lang="en-US" dirty="0"/>
          </a:p>
        </p:txBody>
      </p:sp>
      <p:sp>
        <p:nvSpPr>
          <p:cNvPr id="3" name="Rectangle 2"/>
          <p:cNvSpPr txBox="1">
            <a:spLocks noChangeArrowheads="1"/>
          </p:cNvSpPr>
          <p:nvPr/>
        </p:nvSpPr>
        <p:spPr>
          <a:xfrm>
            <a:off x="457200" y="365760"/>
            <a:ext cx="8229600" cy="9906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bg2">
                    <a:lumMod val="50000"/>
                  </a:schemeClr>
                </a:solidFill>
                <a:latin typeface="+mj-lt"/>
                <a:ea typeface="+mj-ea"/>
                <a:cs typeface="+mj-cs"/>
              </a:defRPr>
            </a:lvl1pPr>
          </a:lstStyle>
          <a:p>
            <a:r>
              <a:rPr lang="en-US" dirty="0"/>
              <a:t>The Unix Philosophy</a:t>
            </a:r>
          </a:p>
        </p:txBody>
      </p:sp>
      <p:sp>
        <p:nvSpPr>
          <p:cNvPr id="4" name="Rectangle 3"/>
          <p:cNvSpPr txBox="1">
            <a:spLocks noChangeArrowheads="1"/>
          </p:cNvSpPr>
          <p:nvPr/>
        </p:nvSpPr>
        <p:spPr>
          <a:xfrm>
            <a:off x="457200" y="1571812"/>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lnSpc>
                <a:spcPct val="90000"/>
              </a:lnSpc>
            </a:pPr>
            <a:r>
              <a:rPr lang="en-US" dirty="0"/>
              <a:t>Rule of Least Surprise*</a:t>
            </a:r>
          </a:p>
          <a:p>
            <a:pPr lvl="1">
              <a:lnSpc>
                <a:spcPct val="90000"/>
              </a:lnSpc>
            </a:pPr>
            <a:r>
              <a:rPr lang="en-US" dirty="0"/>
              <a:t>In interface design, always do the least surprising thing; so know your audience</a:t>
            </a:r>
          </a:p>
          <a:p>
            <a:pPr>
              <a:lnSpc>
                <a:spcPct val="90000"/>
              </a:lnSpc>
            </a:pPr>
            <a:r>
              <a:rPr lang="en-US" dirty="0"/>
              <a:t>Rule of Silence</a:t>
            </a:r>
          </a:p>
          <a:p>
            <a:pPr lvl="1">
              <a:lnSpc>
                <a:spcPct val="90000"/>
              </a:lnSpc>
            </a:pPr>
            <a:r>
              <a:rPr lang="en-US" dirty="0"/>
              <a:t>When a program has nothing surprising to say, it should say nothing</a:t>
            </a:r>
          </a:p>
          <a:p>
            <a:pPr>
              <a:lnSpc>
                <a:spcPct val="90000"/>
              </a:lnSpc>
            </a:pPr>
            <a:r>
              <a:rPr lang="en-US" dirty="0"/>
              <a:t>Rule of Repair</a:t>
            </a:r>
          </a:p>
          <a:p>
            <a:pPr lvl="1">
              <a:lnSpc>
                <a:spcPct val="90000"/>
              </a:lnSpc>
            </a:pPr>
            <a:r>
              <a:rPr lang="en-US" dirty="0"/>
              <a:t>When you must fail, do so as noisily and as soon as possible</a:t>
            </a:r>
          </a:p>
        </p:txBody>
      </p:sp>
    </p:spTree>
    <p:extLst>
      <p:ext uri="{BB962C8B-B14F-4D97-AF65-F5344CB8AC3E}">
        <p14:creationId xmlns:p14="http://schemas.microsoft.com/office/powerpoint/2010/main" val="1315867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1E687AB-0FD7-C047-930B-FD009416571E}" type="slidenum">
              <a:rPr lang="en-US" smtClean="0"/>
              <a:t>27</a:t>
            </a:fld>
            <a:endParaRPr lang="en-US" dirty="0"/>
          </a:p>
        </p:txBody>
      </p:sp>
      <p:sp>
        <p:nvSpPr>
          <p:cNvPr id="3" name="Rectangle 3"/>
          <p:cNvSpPr txBox="1">
            <a:spLocks noChangeArrowheads="1"/>
          </p:cNvSpPr>
          <p:nvPr/>
        </p:nvSpPr>
        <p:spPr>
          <a:xfrm>
            <a:off x="457200" y="1571812"/>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UNIX developers apparently couldn’</a:t>
            </a:r>
            <a:r>
              <a:rPr lang="en-US" altLang="ja-JP" dirty="0"/>
              <a:t>t type to save themselves </a:t>
            </a:r>
            <a:r>
              <a:rPr lang="en-US" altLang="ja-JP"/>
              <a:t>– administrative </a:t>
            </a:r>
            <a:r>
              <a:rPr lang="en-US" altLang="ja-JP" dirty="0"/>
              <a:t>assistants did most of the typing</a:t>
            </a:r>
          </a:p>
          <a:p>
            <a:pPr lvl="1"/>
            <a:r>
              <a:rPr lang="en-US" dirty="0"/>
              <a:t>Hence use abbreviations even for four letter commands (ls, mv, cp)</a:t>
            </a:r>
          </a:p>
          <a:p>
            <a:pPr lvl="1"/>
            <a:r>
              <a:rPr lang="en-US" dirty="0"/>
              <a:t>Commands are very terse as a result</a:t>
            </a:r>
          </a:p>
          <a:p>
            <a:r>
              <a:rPr lang="en-US" b="1" i="1" dirty="0"/>
              <a:t>Unix is case and space sensitive</a:t>
            </a:r>
            <a:endParaRPr lang="en-US" dirty="0"/>
          </a:p>
          <a:p>
            <a:pPr lvl="1"/>
            <a:r>
              <a:rPr lang="en-US" b="1" dirty="0"/>
              <a:t>Spaces and punctuation always matter!!</a:t>
            </a:r>
          </a:p>
          <a:p>
            <a:pPr lvl="1"/>
            <a:r>
              <a:rPr lang="en-US" dirty="0"/>
              <a:t>Even directory listings are case sensitive</a:t>
            </a:r>
          </a:p>
        </p:txBody>
      </p:sp>
      <p:sp>
        <p:nvSpPr>
          <p:cNvPr id="5" name="Rectangle 2"/>
          <p:cNvSpPr txBox="1">
            <a:spLocks noChangeArrowheads="1"/>
          </p:cNvSpPr>
          <p:nvPr/>
        </p:nvSpPr>
        <p:spPr>
          <a:xfrm>
            <a:off x="457200" y="365760"/>
            <a:ext cx="8229600" cy="9906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bg2">
                    <a:lumMod val="50000"/>
                  </a:schemeClr>
                </a:solidFill>
                <a:latin typeface="+mj-lt"/>
                <a:ea typeface="+mj-ea"/>
                <a:cs typeface="+mj-cs"/>
              </a:defRPr>
            </a:lvl1pPr>
          </a:lstStyle>
          <a:p>
            <a:r>
              <a:rPr lang="en-US" dirty="0"/>
              <a:t>The Unix approach</a:t>
            </a:r>
          </a:p>
        </p:txBody>
      </p:sp>
    </p:spTree>
    <p:extLst>
      <p:ext uri="{BB962C8B-B14F-4D97-AF65-F5344CB8AC3E}">
        <p14:creationId xmlns:p14="http://schemas.microsoft.com/office/powerpoint/2010/main" val="1817497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1E687AB-0FD7-C047-930B-FD009416571E}" type="slidenum">
              <a:rPr lang="en-US" smtClean="0"/>
              <a:t>28</a:t>
            </a:fld>
            <a:endParaRPr lang="en-US" dirty="0"/>
          </a:p>
        </p:txBody>
      </p:sp>
      <p:sp>
        <p:nvSpPr>
          <p:cNvPr id="3" name="Rectangle 2"/>
          <p:cNvSpPr txBox="1">
            <a:spLocks noChangeArrowheads="1"/>
          </p:cNvSpPr>
          <p:nvPr/>
        </p:nvSpPr>
        <p:spPr>
          <a:xfrm>
            <a:off x="457200" y="365760"/>
            <a:ext cx="8229600" cy="9906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bg2">
                    <a:lumMod val="50000"/>
                  </a:schemeClr>
                </a:solidFill>
                <a:latin typeface="+mj-lt"/>
                <a:ea typeface="+mj-ea"/>
                <a:cs typeface="+mj-cs"/>
              </a:defRPr>
            </a:lvl1pPr>
          </a:lstStyle>
          <a:p>
            <a:r>
              <a:rPr lang="en-US" altLang="x-none" dirty="0">
                <a:ea typeface="ＭＳ Ｐゴシック" charset="-128"/>
              </a:rPr>
              <a:t>Other implications</a:t>
            </a:r>
          </a:p>
        </p:txBody>
      </p:sp>
      <p:sp>
        <p:nvSpPr>
          <p:cNvPr id="4" name="Rectangle 3"/>
          <p:cNvSpPr txBox="1">
            <a:spLocks noChangeArrowheads="1"/>
          </p:cNvSpPr>
          <p:nvPr/>
        </p:nvSpPr>
        <p:spPr>
          <a:xfrm>
            <a:off x="457200" y="1571812"/>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altLang="x-none" dirty="0">
                <a:ea typeface="ＭＳ Ｐゴシック" charset="-128"/>
              </a:rPr>
              <a:t>Unix tradition encourages programs that read and write simple text streams in device-independent format</a:t>
            </a:r>
          </a:p>
          <a:p>
            <a:pPr lvl="1"/>
            <a:r>
              <a:rPr lang="en-US" altLang="x-none" dirty="0">
                <a:ea typeface="ＭＳ Ｐゴシック" charset="-128"/>
              </a:rPr>
              <a:t>Many programs are text filters </a:t>
            </a:r>
          </a:p>
          <a:p>
            <a:pPr lvl="2"/>
            <a:r>
              <a:rPr lang="en-US" altLang="x-none" dirty="0">
                <a:ea typeface="ＭＳ Ｐゴシック" charset="-128"/>
              </a:rPr>
              <a:t>Take one text stream as input, and produce another text stream as output</a:t>
            </a:r>
          </a:p>
          <a:p>
            <a:pPr lvl="2"/>
            <a:r>
              <a:rPr lang="en-US" altLang="x-none" dirty="0">
                <a:ea typeface="ＭＳ Ｐゴシック" charset="-128"/>
              </a:rPr>
              <a:t>Text streams are like messages in networking</a:t>
            </a:r>
          </a:p>
          <a:p>
            <a:pPr lvl="1"/>
            <a:r>
              <a:rPr lang="en-US" altLang="x-none" dirty="0">
                <a:ea typeface="ＭＳ Ｐゴシック" charset="-128"/>
              </a:rPr>
              <a:t>This makes it easier to connect programs</a:t>
            </a:r>
          </a:p>
        </p:txBody>
      </p:sp>
    </p:spTree>
    <p:extLst>
      <p:ext uri="{BB962C8B-B14F-4D97-AF65-F5344CB8AC3E}">
        <p14:creationId xmlns:p14="http://schemas.microsoft.com/office/powerpoint/2010/main" val="10213832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1E687AB-0FD7-C047-930B-FD009416571E}" type="slidenum">
              <a:rPr lang="en-US" smtClean="0"/>
              <a:t>29</a:t>
            </a:fld>
            <a:endParaRPr lang="en-US" dirty="0"/>
          </a:p>
        </p:txBody>
      </p:sp>
      <p:sp>
        <p:nvSpPr>
          <p:cNvPr id="3" name="Rectangle 2"/>
          <p:cNvSpPr txBox="1">
            <a:spLocks noChangeArrowheads="1"/>
          </p:cNvSpPr>
          <p:nvPr/>
        </p:nvSpPr>
        <p:spPr>
          <a:xfrm>
            <a:off x="457200" y="365760"/>
            <a:ext cx="8229600" cy="9906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bg2">
                    <a:lumMod val="50000"/>
                  </a:schemeClr>
                </a:solidFill>
                <a:latin typeface="+mj-lt"/>
                <a:ea typeface="+mj-ea"/>
                <a:cs typeface="+mj-cs"/>
              </a:defRPr>
            </a:lvl1pPr>
          </a:lstStyle>
          <a:p>
            <a:r>
              <a:rPr lang="en-US" altLang="x-none">
                <a:ea typeface="ＭＳ Ｐゴシック" charset="-128"/>
              </a:rPr>
              <a:t>Other implications</a:t>
            </a:r>
          </a:p>
        </p:txBody>
      </p:sp>
      <p:sp>
        <p:nvSpPr>
          <p:cNvPr id="4" name="Rectangle 3"/>
          <p:cNvSpPr txBox="1">
            <a:spLocks noChangeArrowheads="1"/>
          </p:cNvSpPr>
          <p:nvPr/>
        </p:nvSpPr>
        <p:spPr>
          <a:xfrm>
            <a:off x="457200" y="1571812"/>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altLang="x-none">
                <a:ea typeface="ＭＳ Ｐゴシック" charset="-128"/>
              </a:rPr>
              <a:t>Keep programs independent of each other</a:t>
            </a:r>
          </a:p>
          <a:p>
            <a:pPr lvl="1"/>
            <a:r>
              <a:rPr lang="en-US" altLang="x-none">
                <a:ea typeface="ＭＳ Ｐゴシック" charset="-128"/>
              </a:rPr>
              <a:t>Each program should be a black box with a clearly defined purpose</a:t>
            </a:r>
          </a:p>
          <a:p>
            <a:r>
              <a:rPr lang="en-US" altLang="x-none">
                <a:ea typeface="ＭＳ Ｐゴシック" charset="-128"/>
              </a:rPr>
              <a:t>When a GUI is needed, separate interactive parts from computational parts</a:t>
            </a:r>
          </a:p>
          <a:p>
            <a:pPr lvl="1"/>
            <a:r>
              <a:rPr lang="en-US" altLang="x-none">
                <a:ea typeface="ＭＳ Ｐゴシック" charset="-128"/>
              </a:rPr>
              <a:t>Again emphasizing modularity and tiered architecture</a:t>
            </a:r>
          </a:p>
          <a:p>
            <a:endParaRPr lang="en-US" altLang="x-none" dirty="0">
              <a:ea typeface="ＭＳ Ｐゴシック" charset="-128"/>
            </a:endParaRPr>
          </a:p>
        </p:txBody>
      </p:sp>
    </p:spTree>
    <p:extLst>
      <p:ext uri="{BB962C8B-B14F-4D97-AF65-F5344CB8AC3E}">
        <p14:creationId xmlns:p14="http://schemas.microsoft.com/office/powerpoint/2010/main" val="15515931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1E687AB-0FD7-C047-930B-FD009416571E}" type="slidenum">
              <a:rPr lang="en-US" smtClean="0"/>
              <a:t>30</a:t>
            </a:fld>
            <a:endParaRPr lang="en-US" dirty="0"/>
          </a:p>
        </p:txBody>
      </p:sp>
      <p:sp>
        <p:nvSpPr>
          <p:cNvPr id="3" name="Rectangle 2"/>
          <p:cNvSpPr txBox="1">
            <a:spLocks noChangeArrowheads="1"/>
          </p:cNvSpPr>
          <p:nvPr/>
        </p:nvSpPr>
        <p:spPr>
          <a:xfrm>
            <a:off x="457200" y="365760"/>
            <a:ext cx="8229600" cy="9906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bg2">
                    <a:lumMod val="50000"/>
                  </a:schemeClr>
                </a:solidFill>
                <a:latin typeface="+mj-lt"/>
                <a:ea typeface="+mj-ea"/>
                <a:cs typeface="+mj-cs"/>
              </a:defRPr>
            </a:lvl1pPr>
          </a:lstStyle>
          <a:p>
            <a:r>
              <a:rPr lang="en-US" altLang="x-none">
                <a:ea typeface="ＭＳ Ｐゴシック" charset="-128"/>
              </a:rPr>
              <a:t>In a nutshell</a:t>
            </a:r>
          </a:p>
        </p:txBody>
      </p:sp>
      <p:sp>
        <p:nvSpPr>
          <p:cNvPr id="4" name="Rectangle 3"/>
          <p:cNvSpPr txBox="1">
            <a:spLocks noChangeArrowheads="1"/>
          </p:cNvSpPr>
          <p:nvPr/>
        </p:nvSpPr>
        <p:spPr>
          <a:xfrm>
            <a:off x="457200" y="1571812"/>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lnSpc>
                <a:spcPct val="90000"/>
              </a:lnSpc>
            </a:pPr>
            <a:r>
              <a:rPr lang="en-US" altLang="x-none">
                <a:ea typeface="ＭＳ Ｐゴシック" charset="-128"/>
              </a:rPr>
              <a:t>The best app is made from small, simple, beautiful cooperating pieces</a:t>
            </a:r>
          </a:p>
          <a:p>
            <a:pPr lvl="1">
              <a:lnSpc>
                <a:spcPct val="90000"/>
              </a:lnSpc>
            </a:pPr>
            <a:r>
              <a:rPr lang="en-US" altLang="x-none">
                <a:ea typeface="ＭＳ Ｐゴシック" charset="-128"/>
              </a:rPr>
              <a:t>Silence is golden</a:t>
            </a:r>
          </a:p>
          <a:p>
            <a:pPr lvl="1">
              <a:lnSpc>
                <a:spcPct val="90000"/>
              </a:lnSpc>
            </a:pPr>
            <a:r>
              <a:rPr lang="en-US" altLang="x-none">
                <a:ea typeface="ＭＳ Ｐゴシック" charset="-128"/>
              </a:rPr>
              <a:t>Be liberal in what you accept, and conservative in what you send (Jon Postel)</a:t>
            </a:r>
          </a:p>
          <a:p>
            <a:pPr>
              <a:lnSpc>
                <a:spcPct val="90000"/>
              </a:lnSpc>
            </a:pPr>
            <a:r>
              <a:rPr lang="en-US" altLang="x-none">
                <a:ea typeface="ＭＳ Ｐゴシック" charset="-128"/>
              </a:rPr>
              <a:t>The antithesis of this is bloated, buggy, useless-feature-rich code that doesn</a:t>
            </a:r>
            <a:r>
              <a:rPr lang="ja-JP" altLang="en-US">
                <a:ea typeface="ＭＳ Ｐゴシック" charset="-128"/>
              </a:rPr>
              <a:t>’</a:t>
            </a:r>
            <a:r>
              <a:rPr lang="en-US" altLang="ja-JP">
                <a:ea typeface="ＭＳ Ｐゴシック" charset="-128"/>
              </a:rPr>
              <a:t>t work because the pieces are too complex and heavily interconnected</a:t>
            </a:r>
            <a:endParaRPr lang="en-US" altLang="x-none" dirty="0">
              <a:ea typeface="ＭＳ Ｐゴシック" charset="-128"/>
            </a:endParaRP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0546" y="445180"/>
            <a:ext cx="1358680" cy="1314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16591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 Characters</a:t>
            </a:r>
          </a:p>
        </p:txBody>
      </p:sp>
      <p:sp>
        <p:nvSpPr>
          <p:cNvPr id="3" name="Slide Number Placeholder 2"/>
          <p:cNvSpPr>
            <a:spLocks noGrp="1"/>
          </p:cNvSpPr>
          <p:nvPr>
            <p:ph type="sldNum" sz="quarter" idx="12"/>
          </p:nvPr>
        </p:nvSpPr>
        <p:spPr/>
        <p:txBody>
          <a:bodyPr/>
          <a:lstStyle/>
          <a:p>
            <a:fld id="{F1E687AB-0FD7-C047-930B-FD009416571E}" type="slidenum">
              <a:rPr lang="en-US" smtClean="0"/>
              <a:t>31</a:t>
            </a:fld>
            <a:endParaRPr lang="en-US" dirty="0"/>
          </a:p>
        </p:txBody>
      </p:sp>
      <p:sp>
        <p:nvSpPr>
          <p:cNvPr id="4" name="Content Placeholder 2"/>
          <p:cNvSpPr txBox="1">
            <a:spLocks/>
          </p:cNvSpPr>
          <p:nvPr/>
        </p:nvSpPr>
        <p:spPr>
          <a:xfrm>
            <a:off x="268941" y="1359348"/>
            <a:ext cx="8710706" cy="4876800"/>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sz="3000" dirty="0"/>
              <a:t>Quoting special character</a:t>
            </a:r>
          </a:p>
          <a:p>
            <a:pPr lvl="1"/>
            <a:r>
              <a:rPr lang="en-US" sz="2600" dirty="0"/>
              <a:t>If you need to use a special character as a regular character, you need to escape it, as in escape it’s special meaning and consider it as a literal character.</a:t>
            </a:r>
            <a:endParaRPr lang="en-US" sz="900" dirty="0">
              <a:latin typeface="Courier"/>
              <a:cs typeface="Courier"/>
            </a:endParaRPr>
          </a:p>
          <a:p>
            <a:pPr lvl="1"/>
            <a:r>
              <a:rPr lang="en-US" sz="2000" dirty="0">
                <a:latin typeface="Courier"/>
                <a:cs typeface="Courier"/>
              </a:rPr>
              <a:t>RETURN, SPACE, and TAB</a:t>
            </a:r>
            <a:r>
              <a:rPr lang="en-US" sz="1700" dirty="0">
                <a:latin typeface="Courier"/>
                <a:cs typeface="Courier"/>
              </a:rPr>
              <a:t> </a:t>
            </a:r>
            <a:endParaRPr lang="en-US" sz="2600" dirty="0">
              <a:solidFill>
                <a:srgbClr val="000000"/>
              </a:solidFill>
            </a:endParaRPr>
          </a:p>
          <a:p>
            <a:pPr lvl="1"/>
            <a:r>
              <a:rPr lang="en-US" sz="2600" dirty="0">
                <a:solidFill>
                  <a:srgbClr val="000000"/>
                </a:solidFill>
              </a:rPr>
              <a:t>To quote a special character literally, precede the special character with a backslash \</a:t>
            </a:r>
          </a:p>
          <a:p>
            <a:r>
              <a:rPr lang="en-US" sz="3000" dirty="0">
                <a:solidFill>
                  <a:srgbClr val="000000"/>
                </a:solidFill>
              </a:rPr>
              <a:t>Examples </a:t>
            </a:r>
          </a:p>
          <a:p>
            <a:pPr lvl="1"/>
            <a:r>
              <a:rPr lang="en-US" sz="2600" dirty="0">
                <a:solidFill>
                  <a:srgbClr val="000000"/>
                </a:solidFill>
              </a:rPr>
              <a:t>Use </a:t>
            </a:r>
            <a:r>
              <a:rPr lang="en-US" sz="2600" dirty="0">
                <a:solidFill>
                  <a:srgbClr val="000000"/>
                </a:solidFill>
                <a:latin typeface="Courier New"/>
                <a:cs typeface="Courier New"/>
              </a:rPr>
              <a:t>\*</a:t>
            </a:r>
            <a:r>
              <a:rPr lang="en-US" sz="2600" dirty="0">
                <a:solidFill>
                  <a:srgbClr val="000000"/>
                </a:solidFill>
              </a:rPr>
              <a:t> to represent a literal </a:t>
            </a:r>
            <a:r>
              <a:rPr lang="en-US" sz="2600" dirty="0">
                <a:solidFill>
                  <a:srgbClr val="000000"/>
                </a:solidFill>
                <a:latin typeface="Courier New"/>
                <a:cs typeface="Courier New"/>
              </a:rPr>
              <a:t>*</a:t>
            </a:r>
          </a:p>
          <a:p>
            <a:pPr lvl="1"/>
            <a:r>
              <a:rPr lang="en-US" sz="2600" dirty="0">
                <a:solidFill>
                  <a:srgbClr val="000000"/>
                </a:solidFill>
              </a:rPr>
              <a:t>Use </a:t>
            </a:r>
            <a:r>
              <a:rPr lang="en-US" sz="2600" dirty="0">
                <a:solidFill>
                  <a:srgbClr val="000000"/>
                </a:solidFill>
                <a:latin typeface="Courier New"/>
                <a:cs typeface="Courier New"/>
              </a:rPr>
              <a:t>\[ </a:t>
            </a:r>
            <a:r>
              <a:rPr lang="en-US" sz="2600" dirty="0">
                <a:solidFill>
                  <a:srgbClr val="000000"/>
                </a:solidFill>
              </a:rPr>
              <a:t>to represent s literal </a:t>
            </a:r>
            <a:r>
              <a:rPr lang="en-US" sz="2600" dirty="0">
                <a:solidFill>
                  <a:srgbClr val="000000"/>
                </a:solidFill>
                <a:latin typeface="Courier New"/>
                <a:cs typeface="Courier New"/>
              </a:rPr>
              <a:t>[</a:t>
            </a:r>
          </a:p>
          <a:p>
            <a:pPr lvl="1"/>
            <a:r>
              <a:rPr lang="en-US" sz="2600" dirty="0">
                <a:solidFill>
                  <a:srgbClr val="000000"/>
                </a:solidFill>
              </a:rPr>
              <a:t>Use </a:t>
            </a:r>
            <a:r>
              <a:rPr lang="en-US" sz="2600" dirty="0">
                <a:solidFill>
                  <a:srgbClr val="000000"/>
                </a:solidFill>
                <a:latin typeface="Courier New"/>
                <a:cs typeface="Courier New"/>
              </a:rPr>
              <a:t>\*\*</a:t>
            </a:r>
            <a:r>
              <a:rPr lang="en-US" sz="2600" dirty="0">
                <a:solidFill>
                  <a:srgbClr val="000000"/>
                </a:solidFill>
              </a:rPr>
              <a:t> to represent </a:t>
            </a:r>
            <a:r>
              <a:rPr lang="en-US" sz="2600" dirty="0">
                <a:solidFill>
                  <a:srgbClr val="000000"/>
                </a:solidFill>
                <a:latin typeface="Courier New"/>
                <a:cs typeface="Courier New"/>
              </a:rPr>
              <a:t>**</a:t>
            </a:r>
          </a:p>
          <a:p>
            <a:pPr lvl="1"/>
            <a:endParaRPr lang="en-US" sz="3000" dirty="0">
              <a:cs typeface="Courier"/>
            </a:endParaRPr>
          </a:p>
          <a:p>
            <a:pPr lvl="1"/>
            <a:endParaRPr lang="en-US" sz="2400" dirty="0">
              <a:latin typeface="Courier"/>
              <a:cs typeface="Courier"/>
            </a:endParaRPr>
          </a:p>
        </p:txBody>
      </p:sp>
    </p:spTree>
    <p:extLst>
      <p:ext uri="{BB962C8B-B14F-4D97-AF65-F5344CB8AC3E}">
        <p14:creationId xmlns:p14="http://schemas.microsoft.com/office/powerpoint/2010/main" val="451425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Navigating directories</a:t>
            </a:r>
          </a:p>
        </p:txBody>
      </p:sp>
      <p:sp>
        <p:nvSpPr>
          <p:cNvPr id="3" name="Content Placeholder 2"/>
          <p:cNvSpPr>
            <a:spLocks noGrp="1"/>
          </p:cNvSpPr>
          <p:nvPr>
            <p:ph idx="1"/>
          </p:nvPr>
        </p:nvSpPr>
        <p:spPr/>
        <p:txBody>
          <a:bodyPr>
            <a:normAutofit lnSpcReduction="10000"/>
          </a:bodyPr>
          <a:lstStyle/>
          <a:p>
            <a:r>
              <a:rPr lang="en-US" dirty="0"/>
              <a:t>The working directory</a:t>
            </a:r>
          </a:p>
          <a:p>
            <a:pPr lvl="1"/>
            <a:r>
              <a:rPr lang="en-US" dirty="0"/>
              <a:t>This is the directory where a user resides in the shell</a:t>
            </a:r>
          </a:p>
          <a:p>
            <a:pPr lvl="1"/>
            <a:r>
              <a:rPr lang="en-US" dirty="0"/>
              <a:t>To display your working directory use:</a:t>
            </a:r>
          </a:p>
          <a:p>
            <a:pPr marL="274320" lvl="1" indent="0">
              <a:buNone/>
            </a:pPr>
            <a:r>
              <a:rPr lang="en-US" dirty="0"/>
              <a:t>$ </a:t>
            </a:r>
            <a:r>
              <a:rPr lang="en-US" dirty="0" err="1"/>
              <a:t>pwd</a:t>
            </a:r>
            <a:endParaRPr lang="en-US" dirty="0"/>
          </a:p>
          <a:p>
            <a:pPr marL="274320" lvl="1" indent="0">
              <a:buNone/>
            </a:pPr>
            <a:r>
              <a:rPr lang="en-US" dirty="0" err="1"/>
              <a:t>pwd</a:t>
            </a:r>
            <a:r>
              <a:rPr lang="en-US" dirty="0"/>
              <a:t> stands for print working directory</a:t>
            </a:r>
          </a:p>
          <a:p>
            <a:pPr marL="274320" lvl="1" indent="0">
              <a:buNone/>
            </a:pPr>
            <a:r>
              <a:rPr lang="en-US" dirty="0"/>
              <a:t>Each user is provided a home directory in the /home partition. IE:  /home/</a:t>
            </a:r>
            <a:r>
              <a:rPr lang="en-US" dirty="0" err="1"/>
              <a:t>userid</a:t>
            </a:r>
            <a:endParaRPr lang="en-US" dirty="0"/>
          </a:p>
          <a:p>
            <a:pPr marL="274320" lvl="1" indent="0">
              <a:buNone/>
            </a:pPr>
            <a:r>
              <a:rPr lang="en-US" dirty="0"/>
              <a:t>To change directories to your home directory use the ~ character </a:t>
            </a:r>
          </a:p>
          <a:p>
            <a:pPr marL="274320" lvl="1" indent="0">
              <a:buNone/>
            </a:pPr>
            <a:r>
              <a:rPr lang="en-US" dirty="0"/>
              <a:t>$ cd ~</a:t>
            </a:r>
          </a:p>
          <a:p>
            <a:pPr lvl="1"/>
            <a:endParaRPr lang="en-US" dirty="0"/>
          </a:p>
        </p:txBody>
      </p:sp>
      <p:sp>
        <p:nvSpPr>
          <p:cNvPr id="5" name="Slide Number Placeholder 4"/>
          <p:cNvSpPr>
            <a:spLocks noGrp="1"/>
          </p:cNvSpPr>
          <p:nvPr>
            <p:ph type="sldNum" sz="quarter" idx="12"/>
          </p:nvPr>
        </p:nvSpPr>
        <p:spPr/>
        <p:txBody>
          <a:bodyPr/>
          <a:lstStyle/>
          <a:p>
            <a:fld id="{F1E687AB-0FD7-C047-930B-FD009416571E}" type="slidenum">
              <a:rPr lang="en-US" smtClean="0"/>
              <a:t>32</a:t>
            </a:fld>
            <a:endParaRPr lang="en-US" dirty="0"/>
          </a:p>
        </p:txBody>
      </p:sp>
    </p:spTree>
    <p:extLst>
      <p:ext uri="{BB962C8B-B14F-4D97-AF65-F5344CB8AC3E}">
        <p14:creationId xmlns:p14="http://schemas.microsoft.com/office/powerpoint/2010/main" val="10456241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1E687AB-0FD7-C047-930B-FD009416571E}" type="slidenum">
              <a:rPr lang="en-US" smtClean="0"/>
              <a:t>33</a:t>
            </a:fld>
            <a:endParaRPr lang="en-US" dirty="0"/>
          </a:p>
        </p:txBody>
      </p:sp>
      <p:sp>
        <p:nvSpPr>
          <p:cNvPr id="3" name="Rectangle 2"/>
          <p:cNvSpPr txBox="1">
            <a:spLocks noChangeArrowheads="1"/>
          </p:cNvSpPr>
          <p:nvPr/>
        </p:nvSpPr>
        <p:spPr>
          <a:xfrm>
            <a:off x="457200" y="365760"/>
            <a:ext cx="8229600" cy="9906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bg2">
                    <a:lumMod val="50000"/>
                  </a:schemeClr>
                </a:solidFill>
                <a:latin typeface="+mj-lt"/>
                <a:ea typeface="+mj-ea"/>
                <a:cs typeface="+mj-cs"/>
              </a:defRPr>
            </a:lvl1pPr>
          </a:lstStyle>
          <a:p>
            <a:r>
              <a:rPr lang="en-US" dirty="0"/>
              <a:t>Files in Unix </a:t>
            </a:r>
          </a:p>
        </p:txBody>
      </p:sp>
      <p:sp>
        <p:nvSpPr>
          <p:cNvPr id="4" name="Rectangle 3"/>
          <p:cNvSpPr txBox="1">
            <a:spLocks noChangeArrowheads="1"/>
          </p:cNvSpPr>
          <p:nvPr/>
        </p:nvSpPr>
        <p:spPr>
          <a:xfrm>
            <a:off x="457200" y="1571812"/>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lnSpc>
                <a:spcPct val="90000"/>
              </a:lnSpc>
            </a:pPr>
            <a:r>
              <a:rPr lang="en-US" dirty="0"/>
              <a:t>Everything in Unix is a file in a directory</a:t>
            </a:r>
          </a:p>
          <a:p>
            <a:pPr lvl="1">
              <a:lnSpc>
                <a:spcPct val="90000"/>
              </a:lnSpc>
            </a:pPr>
            <a:r>
              <a:rPr lang="en-US" dirty="0"/>
              <a:t>Files &amp; directories don</a:t>
            </a:r>
            <a:r>
              <a:rPr lang="ja-JP" altLang="en-US" dirty="0"/>
              <a:t>’</a:t>
            </a:r>
            <a:r>
              <a:rPr lang="en-US" altLang="ja-JP" dirty="0"/>
              <a:t>t need extensions</a:t>
            </a:r>
          </a:p>
          <a:p>
            <a:pPr lvl="1">
              <a:lnSpc>
                <a:spcPct val="90000"/>
              </a:lnSpc>
            </a:pPr>
            <a:r>
              <a:rPr lang="en-US" dirty="0"/>
              <a:t>The highest level directory is the root directory, /</a:t>
            </a:r>
          </a:p>
          <a:p>
            <a:pPr lvl="1">
              <a:lnSpc>
                <a:spcPct val="90000"/>
              </a:lnSpc>
            </a:pPr>
            <a:r>
              <a:rPr lang="en-US" dirty="0"/>
              <a:t>Even peripherals (CD-ROM, flash drives, etc.) are treated as directories</a:t>
            </a:r>
          </a:p>
          <a:p>
            <a:pPr>
              <a:lnSpc>
                <a:spcPct val="90000"/>
              </a:lnSpc>
            </a:pPr>
            <a:r>
              <a:rPr lang="en-US" dirty="0"/>
              <a:t>Based on a text command interface</a:t>
            </a:r>
          </a:p>
          <a:p>
            <a:pPr lvl="1">
              <a:lnSpc>
                <a:spcPct val="90000"/>
              </a:lnSpc>
            </a:pPr>
            <a:r>
              <a:rPr lang="en-US" dirty="0"/>
              <a:t>Fits with the text stream concept</a:t>
            </a:r>
          </a:p>
          <a:p>
            <a:pPr lvl="1">
              <a:lnSpc>
                <a:spcPct val="90000"/>
              </a:lnSpc>
            </a:pPr>
            <a:r>
              <a:rPr lang="en-US" dirty="0"/>
              <a:t>GUI just does the text commands for you</a:t>
            </a:r>
          </a:p>
        </p:txBody>
      </p:sp>
    </p:spTree>
    <p:extLst>
      <p:ext uri="{BB962C8B-B14F-4D97-AF65-F5344CB8AC3E}">
        <p14:creationId xmlns:p14="http://schemas.microsoft.com/office/powerpoint/2010/main" val="773853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1E687AB-0FD7-C047-930B-FD009416571E}" type="slidenum">
              <a:rPr lang="en-US" smtClean="0"/>
              <a:t>34</a:t>
            </a:fld>
            <a:endParaRPr lang="en-US" dirty="0"/>
          </a:p>
        </p:txBody>
      </p:sp>
      <p:sp>
        <p:nvSpPr>
          <p:cNvPr id="3" name="Rectangle 2"/>
          <p:cNvSpPr txBox="1">
            <a:spLocks noChangeArrowheads="1"/>
          </p:cNvSpPr>
          <p:nvPr/>
        </p:nvSpPr>
        <p:spPr>
          <a:xfrm>
            <a:off x="457200" y="365760"/>
            <a:ext cx="8229600" cy="9906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bg2">
                    <a:lumMod val="50000"/>
                  </a:schemeClr>
                </a:solidFill>
                <a:latin typeface="+mj-lt"/>
                <a:ea typeface="+mj-ea"/>
                <a:cs typeface="+mj-cs"/>
              </a:defRPr>
            </a:lvl1pPr>
          </a:lstStyle>
          <a:p>
            <a:r>
              <a:rPr lang="en-US" dirty="0"/>
              <a:t>Command syntax</a:t>
            </a:r>
          </a:p>
        </p:txBody>
      </p:sp>
      <p:sp>
        <p:nvSpPr>
          <p:cNvPr id="4" name="Rectangle 3"/>
          <p:cNvSpPr txBox="1">
            <a:spLocks noChangeArrowheads="1"/>
          </p:cNvSpPr>
          <p:nvPr/>
        </p:nvSpPr>
        <p:spPr>
          <a:xfrm>
            <a:off x="457200" y="1571812"/>
            <a:ext cx="8229600" cy="4673413"/>
          </a:xfrm>
          <a:prstGeom prst="rect">
            <a:avLst/>
          </a:prstGeom>
        </p:spPr>
        <p:txBody>
          <a:bodyPr vert="horz" lIns="91440" tIns="45720" rIns="91440" bIns="45720" rtlCol="0">
            <a:normAutofit lnSpcReduction="10000"/>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General command syntax</a:t>
            </a:r>
          </a:p>
          <a:p>
            <a:pPr marL="274320" lvl="1" indent="0">
              <a:buFont typeface="Arial" pitchFamily="34" charset="0"/>
              <a:buNone/>
            </a:pPr>
            <a:r>
              <a:rPr lang="en-US" dirty="0">
                <a:latin typeface="Courier New" charset="0"/>
              </a:rPr>
              <a:t>command -options target</a:t>
            </a:r>
          </a:p>
          <a:p>
            <a:pPr lvl="1"/>
            <a:r>
              <a:rPr lang="en-US" dirty="0"/>
              <a:t>The –options </a:t>
            </a:r>
            <a:r>
              <a:rPr lang="en-US" dirty="0">
                <a:latin typeface="Courier New" charset="0"/>
              </a:rPr>
              <a:t>qualifiers </a:t>
            </a:r>
            <a:r>
              <a:rPr lang="en-US" dirty="0"/>
              <a:t>and</a:t>
            </a:r>
            <a:r>
              <a:rPr lang="en-US" dirty="0">
                <a:latin typeface="Arial" charset="0"/>
              </a:rPr>
              <a:t> </a:t>
            </a:r>
            <a:r>
              <a:rPr lang="en-US" dirty="0">
                <a:latin typeface="Courier New" charset="0"/>
              </a:rPr>
              <a:t>target</a:t>
            </a:r>
            <a:r>
              <a:rPr lang="en-US" dirty="0">
                <a:latin typeface="Arial" charset="0"/>
              </a:rPr>
              <a:t> </a:t>
            </a:r>
            <a:r>
              <a:rPr lang="en-US" dirty="0"/>
              <a:t>are arguments specified by the command. For some command these items are optional.</a:t>
            </a:r>
          </a:p>
          <a:p>
            <a:pPr lvl="1"/>
            <a:r>
              <a:rPr lang="en-US" dirty="0"/>
              <a:t>Every letter in a qualifier is a separate, case sensitive option or modifier for that command</a:t>
            </a:r>
          </a:p>
          <a:p>
            <a:pPr marL="274320" lvl="1" indent="0">
              <a:buFont typeface="Arial" pitchFamily="34" charset="0"/>
              <a:buNone/>
            </a:pPr>
            <a:r>
              <a:rPr lang="en-US" dirty="0" err="1">
                <a:latin typeface="Courier New" charset="0"/>
              </a:rPr>
              <a:t>ls</a:t>
            </a:r>
            <a:r>
              <a:rPr lang="en-US" dirty="0">
                <a:latin typeface="Courier New" charset="0"/>
              </a:rPr>
              <a:t> –l </a:t>
            </a:r>
            <a:r>
              <a:rPr lang="en-US" dirty="0" err="1">
                <a:latin typeface="Courier New" charset="0"/>
              </a:rPr>
              <a:t>mytextfile</a:t>
            </a:r>
            <a:endParaRPr lang="en-US" dirty="0">
              <a:latin typeface="Courier New" charset="0"/>
            </a:endParaRPr>
          </a:p>
          <a:p>
            <a:pPr lvl="2"/>
            <a:r>
              <a:rPr lang="en-US" dirty="0" err="1">
                <a:latin typeface="Courier New" charset="0"/>
              </a:rPr>
              <a:t>ls</a:t>
            </a:r>
            <a:r>
              <a:rPr lang="en-US" dirty="0">
                <a:latin typeface="Courier New" charset="0"/>
              </a:rPr>
              <a:t> represents the command</a:t>
            </a:r>
          </a:p>
          <a:p>
            <a:pPr lvl="2"/>
            <a:r>
              <a:rPr lang="en-US" dirty="0">
                <a:latin typeface="Courier New" charset="0"/>
              </a:rPr>
              <a:t>-l represents an option</a:t>
            </a:r>
          </a:p>
          <a:p>
            <a:pPr lvl="2"/>
            <a:r>
              <a:rPr lang="en-US" dirty="0" err="1">
                <a:latin typeface="Courier New" charset="0"/>
              </a:rPr>
              <a:t>mytextfile</a:t>
            </a:r>
            <a:r>
              <a:rPr lang="en-US" dirty="0">
                <a:latin typeface="Courier New" charset="0"/>
              </a:rPr>
              <a:t> represents the target</a:t>
            </a:r>
          </a:p>
          <a:p>
            <a:pPr lvl="1"/>
            <a:endParaRPr lang="en-US" dirty="0">
              <a:latin typeface="Courier New" charset="0"/>
            </a:endParaRPr>
          </a:p>
        </p:txBody>
      </p:sp>
    </p:spTree>
    <p:extLst>
      <p:ext uri="{BB962C8B-B14F-4D97-AF65-F5344CB8AC3E}">
        <p14:creationId xmlns:p14="http://schemas.microsoft.com/office/powerpoint/2010/main" val="22604351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9"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79600" y="533400"/>
            <a:ext cx="5613400" cy="5486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4820" name="Footer Placeholder 1"/>
          <p:cNvSpPr>
            <a:spLocks noGrp="1"/>
          </p:cNvSpPr>
          <p:nvPr>
            <p:ph type="ftr" sz="quarter" idx="12"/>
          </p:nvPr>
        </p:nvSpPr>
        <p:spPr bwMode="auto">
          <a:xfrm>
            <a:off x="1143000" y="6107906"/>
            <a:ext cx="7086600" cy="433388"/>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sz="1400" dirty="0"/>
              <a:t>From A Practical Guide to Ubuntu Linux</a:t>
            </a:r>
            <a:r>
              <a:rPr lang="en-US" sz="1400" baseline="30000" dirty="0"/>
              <a:t>®</a:t>
            </a:r>
            <a:r>
              <a:rPr lang="en-US" sz="1400" dirty="0"/>
              <a:t>, Fourth Edition, by Mark </a:t>
            </a:r>
            <a:r>
              <a:rPr lang="en-US" sz="1200" dirty="0"/>
              <a:t>G. </a:t>
            </a:r>
            <a:r>
              <a:rPr lang="en-US" sz="1200" dirty="0" err="1"/>
              <a:t>Sobell</a:t>
            </a:r>
            <a:r>
              <a:rPr lang="en-US" sz="1200" dirty="0"/>
              <a:t> (ISBN-13: 978-0-13-392731-3). Copyright </a:t>
            </a:r>
            <a:r>
              <a:rPr lang="en-US" sz="1200" baseline="30000" dirty="0"/>
              <a:t>©</a:t>
            </a:r>
            <a:r>
              <a:rPr lang="en-US" sz="1200" dirty="0"/>
              <a:t> 2015 Mark G. </a:t>
            </a:r>
            <a:r>
              <a:rPr lang="en-US" sz="1200" dirty="0" err="1"/>
              <a:t>Sobell</a:t>
            </a:r>
            <a:r>
              <a:rPr lang="en-US" sz="1200" dirty="0"/>
              <a:t>. All rights reserved.</a:t>
            </a:r>
          </a:p>
        </p:txBody>
      </p:sp>
    </p:spTree>
    <p:extLst>
      <p:ext uri="{BB962C8B-B14F-4D97-AF65-F5344CB8AC3E}">
        <p14:creationId xmlns:p14="http://schemas.microsoft.com/office/powerpoint/2010/main" val="1447639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1E687AB-0FD7-C047-930B-FD009416571E}" type="slidenum">
              <a:rPr lang="en-US" smtClean="0"/>
              <a:t>36</a:t>
            </a:fld>
            <a:endParaRPr lang="en-US" dirty="0"/>
          </a:p>
        </p:txBody>
      </p:sp>
      <p:sp>
        <p:nvSpPr>
          <p:cNvPr id="3" name="Rectangle 2"/>
          <p:cNvSpPr txBox="1">
            <a:spLocks noChangeArrowheads="1"/>
          </p:cNvSpPr>
          <p:nvPr/>
        </p:nvSpPr>
        <p:spPr>
          <a:xfrm>
            <a:off x="457200" y="365760"/>
            <a:ext cx="8229600" cy="9906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bg2">
                    <a:lumMod val="50000"/>
                  </a:schemeClr>
                </a:solidFill>
                <a:latin typeface="+mj-lt"/>
                <a:ea typeface="+mj-ea"/>
                <a:cs typeface="+mj-cs"/>
              </a:defRPr>
            </a:lvl1pPr>
          </a:lstStyle>
          <a:p>
            <a:r>
              <a:rPr lang="en-US" dirty="0">
                <a:latin typeface="+mn-lt"/>
              </a:rPr>
              <a:t>Some more basic commands</a:t>
            </a:r>
          </a:p>
        </p:txBody>
      </p:sp>
      <p:sp>
        <p:nvSpPr>
          <p:cNvPr id="4" name="Rectangle 3"/>
          <p:cNvSpPr txBox="1">
            <a:spLocks noChangeArrowheads="1"/>
          </p:cNvSpPr>
          <p:nvPr/>
        </p:nvSpPr>
        <p:spPr>
          <a:xfrm>
            <a:off x="457200" y="1356360"/>
            <a:ext cx="8229600" cy="4876800"/>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spcBef>
                <a:spcPts val="0"/>
              </a:spcBef>
            </a:pPr>
            <a:r>
              <a:rPr lang="en-US" dirty="0"/>
              <a:t>To copy a file, use </a:t>
            </a:r>
            <a:r>
              <a:rPr lang="en-US" dirty="0" err="1">
                <a:latin typeface="Courier New" charset="0"/>
              </a:rPr>
              <a:t>cp</a:t>
            </a:r>
            <a:r>
              <a:rPr lang="en-US" dirty="0">
                <a:latin typeface="Courier New" charset="0"/>
              </a:rPr>
              <a:t> </a:t>
            </a:r>
            <a:r>
              <a:rPr lang="en-US" dirty="0"/>
              <a:t>(</a:t>
            </a:r>
            <a:r>
              <a:rPr lang="en-US" dirty="0" err="1"/>
              <a:t>cp</a:t>
            </a:r>
            <a:r>
              <a:rPr lang="en-US" dirty="0"/>
              <a:t> = copy)</a:t>
            </a:r>
          </a:p>
          <a:p>
            <a:pPr marL="274320" lvl="1" indent="0">
              <a:spcBef>
                <a:spcPts val="0"/>
              </a:spcBef>
              <a:buNone/>
            </a:pPr>
            <a:r>
              <a:rPr lang="en-US" sz="2200" dirty="0" err="1">
                <a:latin typeface="Courier New" charset="0"/>
              </a:rPr>
              <a:t>cp</a:t>
            </a:r>
            <a:r>
              <a:rPr lang="en-US" sz="2200" dirty="0">
                <a:latin typeface="Courier New" charset="0"/>
              </a:rPr>
              <a:t> </a:t>
            </a:r>
            <a:r>
              <a:rPr lang="en-US" sz="2200" dirty="0" err="1">
                <a:latin typeface="Courier New" charset="0"/>
              </a:rPr>
              <a:t>myfile</a:t>
            </a:r>
            <a:r>
              <a:rPr lang="en-US" sz="2200" dirty="0">
                <a:latin typeface="Courier New" charset="0"/>
              </a:rPr>
              <a:t> </a:t>
            </a:r>
            <a:r>
              <a:rPr lang="en-US" sz="2200" dirty="0" err="1">
                <a:latin typeface="Courier New" charset="0"/>
              </a:rPr>
              <a:t>newfile</a:t>
            </a:r>
            <a:endParaRPr lang="en-US" sz="2200" dirty="0">
              <a:latin typeface="Courier New" charset="0"/>
            </a:endParaRPr>
          </a:p>
          <a:p>
            <a:pPr>
              <a:spcBef>
                <a:spcPts val="0"/>
              </a:spcBef>
            </a:pPr>
            <a:r>
              <a:rPr lang="en-US" dirty="0"/>
              <a:t>To rename a file, use </a:t>
            </a:r>
            <a:r>
              <a:rPr lang="en-US" dirty="0">
                <a:latin typeface="Courier New" charset="0"/>
              </a:rPr>
              <a:t>mv </a:t>
            </a:r>
            <a:r>
              <a:rPr lang="en-US" dirty="0"/>
              <a:t>(mv = move)</a:t>
            </a:r>
          </a:p>
          <a:p>
            <a:pPr lvl="1">
              <a:spcBef>
                <a:spcPts val="0"/>
              </a:spcBef>
            </a:pPr>
            <a:r>
              <a:rPr lang="en-US" dirty="0"/>
              <a:t>If it stays in the same directory, it can still change name </a:t>
            </a:r>
          </a:p>
          <a:p>
            <a:pPr>
              <a:spcBef>
                <a:spcPts val="0"/>
              </a:spcBef>
            </a:pPr>
            <a:r>
              <a:rPr lang="en-US" dirty="0"/>
              <a:t>To move a file, use </a:t>
            </a:r>
            <a:r>
              <a:rPr lang="en-US" dirty="0">
                <a:latin typeface="Courier New" charset="0"/>
              </a:rPr>
              <a:t>mv</a:t>
            </a:r>
          </a:p>
          <a:p>
            <a:pPr marL="274320" lvl="1" indent="0">
              <a:buNone/>
            </a:pPr>
            <a:r>
              <a:rPr lang="en-US" sz="2000" dirty="0">
                <a:latin typeface="Courier New" charset="0"/>
              </a:rPr>
              <a:t>mv </a:t>
            </a:r>
            <a:r>
              <a:rPr lang="en-US" sz="2000" dirty="0" err="1">
                <a:latin typeface="Courier New" charset="0"/>
              </a:rPr>
              <a:t>myfile</a:t>
            </a:r>
            <a:r>
              <a:rPr lang="en-US" sz="2000" dirty="0">
                <a:latin typeface="Courier New" charset="0"/>
              </a:rPr>
              <a:t> /home/student/</a:t>
            </a:r>
            <a:r>
              <a:rPr lang="en-US" sz="2000" dirty="0" err="1">
                <a:latin typeface="Courier New" charset="0"/>
              </a:rPr>
              <a:t>myfile</a:t>
            </a:r>
            <a:endParaRPr lang="en-US" sz="2000" dirty="0">
              <a:latin typeface="Courier New" charset="0"/>
            </a:endParaRPr>
          </a:p>
          <a:p>
            <a:pPr>
              <a:spcBef>
                <a:spcPts val="0"/>
              </a:spcBef>
            </a:pPr>
            <a:r>
              <a:rPr lang="en-US" dirty="0"/>
              <a:t>To delete a file, use </a:t>
            </a:r>
            <a:r>
              <a:rPr lang="en-US" dirty="0" err="1">
                <a:latin typeface="Courier New" charset="0"/>
              </a:rPr>
              <a:t>rm</a:t>
            </a:r>
            <a:r>
              <a:rPr lang="en-US" dirty="0">
                <a:latin typeface="Courier New" charset="0"/>
              </a:rPr>
              <a:t> </a:t>
            </a:r>
            <a:r>
              <a:rPr lang="en-US" dirty="0"/>
              <a:t>(</a:t>
            </a:r>
            <a:r>
              <a:rPr lang="en-US" dirty="0" err="1"/>
              <a:t>rm</a:t>
            </a:r>
            <a:r>
              <a:rPr lang="en-US" dirty="0"/>
              <a:t> = remove)</a:t>
            </a:r>
          </a:p>
          <a:p>
            <a:pPr marL="0" indent="0">
              <a:spcBef>
                <a:spcPts val="0"/>
              </a:spcBef>
              <a:buNone/>
            </a:pPr>
            <a:r>
              <a:rPr lang="en-US" dirty="0">
                <a:latin typeface="Courier New"/>
                <a:cs typeface="Courier New"/>
              </a:rPr>
              <a:t> </a:t>
            </a:r>
            <a:r>
              <a:rPr lang="en-US" sz="2000" dirty="0" err="1">
                <a:latin typeface="Courier New"/>
                <a:cs typeface="Courier New"/>
              </a:rPr>
              <a:t>rm</a:t>
            </a:r>
            <a:r>
              <a:rPr lang="en-US" sz="2000" dirty="0">
                <a:latin typeface="Courier New"/>
                <a:cs typeface="Courier New"/>
              </a:rPr>
              <a:t> –</a:t>
            </a:r>
            <a:r>
              <a:rPr lang="en-US" sz="2000" dirty="0" err="1">
                <a:latin typeface="Courier New"/>
                <a:cs typeface="Courier New"/>
              </a:rPr>
              <a:t>i</a:t>
            </a:r>
            <a:r>
              <a:rPr lang="en-US" sz="2000" dirty="0">
                <a:latin typeface="Courier New"/>
                <a:cs typeface="Courier New"/>
              </a:rPr>
              <a:t> </a:t>
            </a:r>
            <a:r>
              <a:rPr lang="en-US" sz="2000" dirty="0" err="1">
                <a:latin typeface="Courier New"/>
                <a:cs typeface="Courier New"/>
              </a:rPr>
              <a:t>logfile</a:t>
            </a:r>
            <a:endParaRPr lang="en-US" sz="2000" dirty="0">
              <a:latin typeface="Courier New"/>
              <a:cs typeface="Courier New"/>
            </a:endParaRPr>
          </a:p>
          <a:p>
            <a:pPr marL="274320" lvl="1" indent="0">
              <a:spcBef>
                <a:spcPts val="0"/>
              </a:spcBef>
              <a:buNone/>
            </a:pPr>
            <a:r>
              <a:rPr lang="en-US" dirty="0"/>
              <a:t>where the </a:t>
            </a:r>
            <a:r>
              <a:rPr lang="en-US" dirty="0">
                <a:latin typeface="Courier New"/>
                <a:cs typeface="Courier New"/>
              </a:rPr>
              <a:t>–</a:t>
            </a:r>
            <a:r>
              <a:rPr lang="en-US" dirty="0" err="1">
                <a:latin typeface="Courier New"/>
                <a:cs typeface="Courier New"/>
              </a:rPr>
              <a:t>i</a:t>
            </a:r>
            <a:r>
              <a:rPr lang="en-US" dirty="0">
                <a:latin typeface="Courier New"/>
                <a:cs typeface="Courier New"/>
              </a:rPr>
              <a:t> </a:t>
            </a:r>
            <a:r>
              <a:rPr lang="en-US" dirty="0"/>
              <a:t>option asks for confirmation before</a:t>
            </a:r>
          </a:p>
          <a:p>
            <a:pPr marL="274320" lvl="1" indent="0">
              <a:spcBef>
                <a:spcPts val="0"/>
              </a:spcBef>
              <a:buNone/>
            </a:pPr>
            <a:r>
              <a:rPr lang="en-US" sz="2000" dirty="0">
                <a:latin typeface="Courier New" panose="02070309020205020404" pitchFamily="49" charset="0"/>
                <a:cs typeface="Courier New" panose="02070309020205020404" pitchFamily="49" charset="0"/>
              </a:rPr>
              <a:t>rm –r /home/</a:t>
            </a:r>
            <a:r>
              <a:rPr lang="en-US" sz="2000" dirty="0" err="1">
                <a:latin typeface="Courier New" panose="02070309020205020404" pitchFamily="49" charset="0"/>
                <a:cs typeface="Courier New" panose="02070309020205020404" pitchFamily="49" charset="0"/>
              </a:rPr>
              <a:t>dscully</a:t>
            </a:r>
            <a:endParaRPr lang="en-US" sz="2000" dirty="0">
              <a:latin typeface="Courier New" panose="02070309020205020404" pitchFamily="49" charset="0"/>
              <a:cs typeface="Courier New" panose="02070309020205020404" pitchFamily="49" charset="0"/>
            </a:endParaRPr>
          </a:p>
          <a:p>
            <a:pPr marL="274320" lvl="1" indent="0">
              <a:spcBef>
                <a:spcPts val="0"/>
              </a:spcBef>
              <a:buNone/>
            </a:pPr>
            <a:r>
              <a:rPr lang="en-US" dirty="0"/>
              <a:t>where the </a:t>
            </a:r>
            <a:r>
              <a:rPr lang="en-US" dirty="0">
                <a:cs typeface="Courier New"/>
              </a:rPr>
              <a:t>–r </a:t>
            </a:r>
            <a:r>
              <a:rPr lang="en-US" dirty="0"/>
              <a:t>option removes everything recursively (includes directories) rm by itself does not remove directories</a:t>
            </a:r>
            <a:endParaRPr lang="en-US" dirty="0">
              <a:latin typeface="Courier New"/>
              <a:cs typeface="Courier New"/>
            </a:endParaRPr>
          </a:p>
        </p:txBody>
      </p:sp>
    </p:spTree>
    <p:extLst>
      <p:ext uri="{BB962C8B-B14F-4D97-AF65-F5344CB8AC3E}">
        <p14:creationId xmlns:p14="http://schemas.microsoft.com/office/powerpoint/2010/main" val="18230669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1E687AB-0FD7-C047-930B-FD009416571E}" type="slidenum">
              <a:rPr lang="en-US" smtClean="0"/>
              <a:t>37</a:t>
            </a:fld>
            <a:endParaRPr lang="en-US" dirty="0"/>
          </a:p>
        </p:txBody>
      </p:sp>
      <p:sp>
        <p:nvSpPr>
          <p:cNvPr id="3" name="Rectangle 2"/>
          <p:cNvSpPr txBox="1">
            <a:spLocks noChangeArrowheads="1"/>
          </p:cNvSpPr>
          <p:nvPr/>
        </p:nvSpPr>
        <p:spPr>
          <a:xfrm>
            <a:off x="457200" y="365760"/>
            <a:ext cx="8229600" cy="9906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bg2">
                    <a:lumMod val="50000"/>
                  </a:schemeClr>
                </a:solidFill>
                <a:latin typeface="+mj-lt"/>
                <a:ea typeface="+mj-ea"/>
                <a:cs typeface="+mj-cs"/>
              </a:defRPr>
            </a:lvl1pPr>
          </a:lstStyle>
          <a:p>
            <a:r>
              <a:rPr lang="en-US" dirty="0"/>
              <a:t>Executing multiple commands</a:t>
            </a:r>
          </a:p>
        </p:txBody>
      </p:sp>
      <p:sp>
        <p:nvSpPr>
          <p:cNvPr id="4" name="Rectangle 3"/>
          <p:cNvSpPr txBox="1">
            <a:spLocks noChangeArrowheads="1"/>
          </p:cNvSpPr>
          <p:nvPr/>
        </p:nvSpPr>
        <p:spPr>
          <a:xfrm>
            <a:off x="457200" y="1571812"/>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If you want to </a:t>
            </a:r>
            <a:r>
              <a:rPr lang="en-US" i="1" dirty="0"/>
              <a:t>execute two or more commands</a:t>
            </a:r>
            <a:r>
              <a:rPr lang="en-US" dirty="0"/>
              <a:t> </a:t>
            </a:r>
            <a:r>
              <a:rPr lang="en-US" i="1" dirty="0"/>
              <a:t>consecutively</a:t>
            </a:r>
            <a:r>
              <a:rPr lang="en-US" dirty="0"/>
              <a:t>, then you can use a semicolon between them</a:t>
            </a:r>
          </a:p>
          <a:p>
            <a:pPr lvl="1"/>
            <a:r>
              <a:rPr lang="en-US" dirty="0">
                <a:latin typeface="Courier New" charset="0"/>
              </a:rPr>
              <a:t>command1 ; command2</a:t>
            </a:r>
            <a:r>
              <a:rPr lang="en-US" dirty="0">
                <a:latin typeface="Arial" charset="0"/>
              </a:rPr>
              <a:t> </a:t>
            </a:r>
          </a:p>
          <a:p>
            <a:pPr lvl="1"/>
            <a:r>
              <a:rPr lang="en-US" dirty="0"/>
              <a:t>Spaces around the semicolon are optional</a:t>
            </a:r>
          </a:p>
          <a:p>
            <a:r>
              <a:rPr lang="en-US" dirty="0"/>
              <a:t>Like this</a:t>
            </a:r>
          </a:p>
          <a:p>
            <a:pPr lvl="1"/>
            <a:r>
              <a:rPr lang="en-US" dirty="0" err="1">
                <a:latin typeface="Courier New" charset="0"/>
              </a:rPr>
              <a:t>ps</a:t>
            </a:r>
            <a:r>
              <a:rPr lang="en-US" dirty="0">
                <a:latin typeface="Courier New" charset="0"/>
              </a:rPr>
              <a:t> -</a:t>
            </a:r>
            <a:r>
              <a:rPr lang="en-US" dirty="0" err="1">
                <a:latin typeface="Courier New" charset="0"/>
              </a:rPr>
              <a:t>ef;ls</a:t>
            </a:r>
            <a:endParaRPr lang="en-US" dirty="0">
              <a:latin typeface="Courier New" charset="0"/>
            </a:endParaRPr>
          </a:p>
          <a:p>
            <a:endParaRPr lang="en-US" dirty="0">
              <a:latin typeface="Arial" charset="0"/>
            </a:endParaRPr>
          </a:p>
        </p:txBody>
      </p:sp>
    </p:spTree>
    <p:extLst>
      <p:ext uri="{BB962C8B-B14F-4D97-AF65-F5344CB8AC3E}">
        <p14:creationId xmlns:p14="http://schemas.microsoft.com/office/powerpoint/2010/main" val="1990508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 Systems and Directory trees</a:t>
            </a:r>
          </a:p>
        </p:txBody>
      </p:sp>
      <p:sp>
        <p:nvSpPr>
          <p:cNvPr id="3" name="Content Placeholder 2"/>
          <p:cNvSpPr>
            <a:spLocks noGrp="1"/>
          </p:cNvSpPr>
          <p:nvPr>
            <p:ph idx="1"/>
          </p:nvPr>
        </p:nvSpPr>
        <p:spPr/>
        <p:txBody>
          <a:bodyPr>
            <a:normAutofit fontScale="92500" lnSpcReduction="20000"/>
          </a:bodyPr>
          <a:lstStyle/>
          <a:p>
            <a:r>
              <a:rPr lang="en-US" dirty="0"/>
              <a:t>Data structures – specified formats for storing, organizing, working with and retrieving data. </a:t>
            </a:r>
          </a:p>
          <a:p>
            <a:r>
              <a:rPr lang="en-US" dirty="0" err="1"/>
              <a:t>Filesystem</a:t>
            </a:r>
            <a:r>
              <a:rPr lang="en-US" dirty="0"/>
              <a:t> - a set of data structures that resides on part of a disk that organizes the storage of data such as files and directories.</a:t>
            </a:r>
          </a:p>
          <a:p>
            <a:r>
              <a:rPr lang="en-US" dirty="0"/>
              <a:t>Hierarchical structure – a structure that takes the form of a tree.</a:t>
            </a:r>
          </a:p>
          <a:p>
            <a:r>
              <a:rPr lang="en-US" dirty="0"/>
              <a:t>Directory tree – a structure that allows files to be organized so they can be found easier.</a:t>
            </a:r>
          </a:p>
          <a:p>
            <a:r>
              <a:rPr lang="en-US" dirty="0"/>
              <a:t>Directory trees are normally depicted upside down.</a:t>
            </a:r>
          </a:p>
          <a:p>
            <a:pPr marL="0" indent="0">
              <a:buNone/>
            </a:pPr>
            <a:endParaRPr lang="en-US" dirty="0"/>
          </a:p>
        </p:txBody>
      </p:sp>
      <p:sp>
        <p:nvSpPr>
          <p:cNvPr id="4" name="Slide Number Placeholder 3"/>
          <p:cNvSpPr>
            <a:spLocks noGrp="1"/>
          </p:cNvSpPr>
          <p:nvPr>
            <p:ph type="sldNum" sz="quarter" idx="12"/>
          </p:nvPr>
        </p:nvSpPr>
        <p:spPr/>
        <p:txBody>
          <a:bodyPr/>
          <a:lstStyle/>
          <a:p>
            <a:fld id="{F1E687AB-0FD7-C047-930B-FD009416571E}" type="slidenum">
              <a:rPr lang="en-US" smtClean="0"/>
              <a:t>38</a:t>
            </a:fld>
            <a:endParaRPr lang="en-US" dirty="0"/>
          </a:p>
        </p:txBody>
      </p:sp>
    </p:spTree>
    <p:extLst>
      <p:ext uri="{BB962C8B-B14F-4D97-AF65-F5344CB8AC3E}">
        <p14:creationId xmlns:p14="http://schemas.microsoft.com/office/powerpoint/2010/main" val="30282666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1E687AB-0FD7-C047-930B-FD009416571E}" type="slidenum">
              <a:rPr lang="en-US" smtClean="0"/>
              <a:t>39</a:t>
            </a:fld>
            <a:endParaRPr lang="en-US" dirty="0"/>
          </a:p>
        </p:txBody>
      </p:sp>
      <p:pic>
        <p:nvPicPr>
          <p:cNvPr id="3"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2987" y="685800"/>
            <a:ext cx="7058025" cy="548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926536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Filenames</a:t>
            </a:r>
          </a:p>
        </p:txBody>
      </p:sp>
      <p:sp>
        <p:nvSpPr>
          <p:cNvPr id="3" name="Content Placeholder 2"/>
          <p:cNvSpPr>
            <a:spLocks noGrp="1"/>
          </p:cNvSpPr>
          <p:nvPr>
            <p:ph idx="1"/>
          </p:nvPr>
        </p:nvSpPr>
        <p:spPr/>
        <p:txBody>
          <a:bodyPr/>
          <a:lstStyle/>
          <a:p>
            <a:r>
              <a:rPr lang="en-US" dirty="0"/>
              <a:t>The maximum length of a file name depends upon the file system being used by the </a:t>
            </a:r>
            <a:r>
              <a:rPr lang="en-US" dirty="0" err="1"/>
              <a:t>os</a:t>
            </a:r>
            <a:r>
              <a:rPr lang="en-US" dirty="0"/>
              <a:t>.</a:t>
            </a:r>
          </a:p>
          <a:p>
            <a:r>
              <a:rPr lang="en-US" dirty="0"/>
              <a:t>Most </a:t>
            </a:r>
            <a:r>
              <a:rPr lang="en-US" dirty="0" err="1"/>
              <a:t>filesystems</a:t>
            </a:r>
            <a:r>
              <a:rPr lang="en-US" dirty="0"/>
              <a:t> allow file names up to 255 characters long</a:t>
            </a:r>
          </a:p>
          <a:p>
            <a:pPr lvl="1"/>
            <a:r>
              <a:rPr lang="en-US" dirty="0"/>
              <a:t>Why 255? How does this relate to bits?</a:t>
            </a:r>
          </a:p>
          <a:p>
            <a:r>
              <a:rPr lang="en-US" dirty="0"/>
              <a:t>To avoid confusion in file names use</a:t>
            </a:r>
          </a:p>
          <a:p>
            <a:pPr lvl="1"/>
            <a:r>
              <a:rPr lang="en-US" dirty="0"/>
              <a:t>Alphanumeric symbols</a:t>
            </a:r>
          </a:p>
          <a:p>
            <a:pPr lvl="1"/>
            <a:r>
              <a:rPr lang="en-US" dirty="0"/>
              <a:t>Underscore, dashes</a:t>
            </a:r>
          </a:p>
          <a:p>
            <a:pPr lvl="1"/>
            <a:r>
              <a:rPr lang="en-US" dirty="0"/>
              <a:t>Period as a separator to designate the file extension</a:t>
            </a:r>
          </a:p>
          <a:p>
            <a:pPr marL="0" indent="0">
              <a:buNone/>
            </a:pPr>
            <a:endParaRPr lang="en-US" dirty="0"/>
          </a:p>
        </p:txBody>
      </p:sp>
      <p:sp>
        <p:nvSpPr>
          <p:cNvPr id="4" name="Slide Number Placeholder 3"/>
          <p:cNvSpPr>
            <a:spLocks noGrp="1"/>
          </p:cNvSpPr>
          <p:nvPr>
            <p:ph type="sldNum" sz="quarter" idx="12"/>
          </p:nvPr>
        </p:nvSpPr>
        <p:spPr/>
        <p:txBody>
          <a:bodyPr/>
          <a:lstStyle/>
          <a:p>
            <a:fld id="{F1E687AB-0FD7-C047-930B-FD009416571E}" type="slidenum">
              <a:rPr lang="en-US" smtClean="0"/>
              <a:t>40</a:t>
            </a:fld>
            <a:endParaRPr lang="en-US" dirty="0"/>
          </a:p>
        </p:txBody>
      </p:sp>
    </p:spTree>
    <p:extLst>
      <p:ext uri="{BB962C8B-B14F-4D97-AF65-F5344CB8AC3E}">
        <p14:creationId xmlns:p14="http://schemas.microsoft.com/office/powerpoint/2010/main" val="15351759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Linux Filenames</a:t>
            </a:r>
          </a:p>
        </p:txBody>
      </p:sp>
      <p:sp>
        <p:nvSpPr>
          <p:cNvPr id="3" name="Content Placeholder 2"/>
          <p:cNvSpPr>
            <a:spLocks noGrp="1"/>
          </p:cNvSpPr>
          <p:nvPr>
            <p:ph idx="1"/>
          </p:nvPr>
        </p:nvSpPr>
        <p:spPr/>
        <p:txBody>
          <a:bodyPr/>
          <a:lstStyle/>
          <a:p>
            <a:r>
              <a:rPr lang="en-US" dirty="0"/>
              <a:t>Case sensitive – January, </a:t>
            </a:r>
            <a:r>
              <a:rPr lang="en-US" dirty="0" err="1"/>
              <a:t>january</a:t>
            </a:r>
            <a:r>
              <a:rPr lang="en-US" dirty="0"/>
              <a:t> and JANUARY represent 3 different, distinct files</a:t>
            </a:r>
          </a:p>
          <a:p>
            <a:r>
              <a:rPr lang="en-US" dirty="0"/>
              <a:t>Spaces or versions in parentheses (n) must use quotes around the filename:</a:t>
            </a:r>
          </a:p>
          <a:p>
            <a:pPr lvl="1"/>
            <a:r>
              <a:rPr lang="en-US" dirty="0"/>
              <a:t>“homework file”</a:t>
            </a:r>
          </a:p>
          <a:p>
            <a:pPr lvl="1"/>
            <a:r>
              <a:rPr lang="en-US" dirty="0"/>
              <a:t>“</a:t>
            </a:r>
            <a:r>
              <a:rPr lang="en-US" dirty="0" err="1"/>
              <a:t>homeworkfile</a:t>
            </a:r>
            <a:r>
              <a:rPr lang="en-US" dirty="0"/>
              <a:t>(2)”</a:t>
            </a:r>
          </a:p>
          <a:p>
            <a:r>
              <a:rPr lang="en-US" dirty="0"/>
              <a:t>Better names for the files above:</a:t>
            </a:r>
          </a:p>
          <a:p>
            <a:pPr lvl="1"/>
            <a:r>
              <a:rPr lang="en-US" dirty="0" err="1"/>
              <a:t>homework_file</a:t>
            </a:r>
            <a:endParaRPr lang="en-US" dirty="0"/>
          </a:p>
          <a:p>
            <a:pPr lvl="1"/>
            <a:r>
              <a:rPr lang="en-US" dirty="0"/>
              <a:t>homeworkfile-v2</a:t>
            </a:r>
          </a:p>
          <a:p>
            <a:pPr marL="0" indent="0">
              <a:buNone/>
            </a:pPr>
            <a:endParaRPr lang="en-US" dirty="0"/>
          </a:p>
        </p:txBody>
      </p:sp>
      <p:sp>
        <p:nvSpPr>
          <p:cNvPr id="4" name="Slide Number Placeholder 3"/>
          <p:cNvSpPr>
            <a:spLocks noGrp="1"/>
          </p:cNvSpPr>
          <p:nvPr>
            <p:ph type="sldNum" sz="quarter" idx="12"/>
          </p:nvPr>
        </p:nvSpPr>
        <p:spPr/>
        <p:txBody>
          <a:bodyPr/>
          <a:lstStyle/>
          <a:p>
            <a:fld id="{F1E687AB-0FD7-C047-930B-FD009416571E}" type="slidenum">
              <a:rPr lang="en-US" smtClean="0"/>
              <a:t>41</a:t>
            </a:fld>
            <a:endParaRPr lang="en-US" dirty="0"/>
          </a:p>
        </p:txBody>
      </p:sp>
    </p:spTree>
    <p:extLst>
      <p:ext uri="{BB962C8B-B14F-4D97-AF65-F5344CB8AC3E}">
        <p14:creationId xmlns:p14="http://schemas.microsoft.com/office/powerpoint/2010/main" val="34213035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Directory and Hidden files</a:t>
            </a:r>
          </a:p>
        </p:txBody>
      </p:sp>
      <p:sp>
        <p:nvSpPr>
          <p:cNvPr id="3" name="Content Placeholder 2"/>
          <p:cNvSpPr>
            <a:spLocks noGrp="1"/>
          </p:cNvSpPr>
          <p:nvPr>
            <p:ph idx="1"/>
          </p:nvPr>
        </p:nvSpPr>
        <p:spPr/>
        <p:txBody>
          <a:bodyPr>
            <a:normAutofit fontScale="92500" lnSpcReduction="10000"/>
          </a:bodyPr>
          <a:lstStyle/>
          <a:p>
            <a:r>
              <a:rPr lang="en-US" dirty="0"/>
              <a:t>Directories are listed similar to files in the shell</a:t>
            </a:r>
          </a:p>
          <a:p>
            <a:r>
              <a:rPr lang="en-US" dirty="0"/>
              <a:t>Directory files are executable</a:t>
            </a:r>
          </a:p>
          <a:p>
            <a:pPr lvl="1"/>
            <a:r>
              <a:rPr lang="en-US" dirty="0"/>
              <a:t>This allows users to traverse the directories</a:t>
            </a:r>
          </a:p>
          <a:p>
            <a:pPr lvl="1"/>
            <a:r>
              <a:rPr lang="en-US" dirty="0"/>
              <a:t>Picture double clicking, (executing the directory file), on a directory to make it your current directory</a:t>
            </a:r>
          </a:p>
          <a:p>
            <a:r>
              <a:rPr lang="en-US" dirty="0"/>
              <a:t>Hidden files</a:t>
            </a:r>
          </a:p>
          <a:p>
            <a:pPr lvl="1"/>
            <a:r>
              <a:rPr lang="en-US" dirty="0"/>
              <a:t>A file name that begins with a period</a:t>
            </a:r>
          </a:p>
          <a:p>
            <a:pPr lvl="1"/>
            <a:r>
              <a:rPr lang="en-US" dirty="0" err="1"/>
              <a:t>ls</a:t>
            </a:r>
            <a:r>
              <a:rPr lang="en-US" dirty="0"/>
              <a:t> only displays hidden files with the –a option</a:t>
            </a:r>
          </a:p>
          <a:p>
            <a:pPr lvl="1"/>
            <a:r>
              <a:rPr lang="en-US" dirty="0"/>
              <a:t>Account startup files are hidden; these files are executed each time a user logs in and normally set up or customize a users environment</a:t>
            </a:r>
          </a:p>
        </p:txBody>
      </p:sp>
      <p:sp>
        <p:nvSpPr>
          <p:cNvPr id="4" name="Slide Number Placeholder 3"/>
          <p:cNvSpPr>
            <a:spLocks noGrp="1"/>
          </p:cNvSpPr>
          <p:nvPr>
            <p:ph type="sldNum" sz="quarter" idx="12"/>
          </p:nvPr>
        </p:nvSpPr>
        <p:spPr/>
        <p:txBody>
          <a:bodyPr/>
          <a:lstStyle/>
          <a:p>
            <a:fld id="{F1E687AB-0FD7-C047-930B-FD009416571E}" type="slidenum">
              <a:rPr lang="en-US" smtClean="0"/>
              <a:t>42</a:t>
            </a:fld>
            <a:endParaRPr lang="en-US" dirty="0"/>
          </a:p>
        </p:txBody>
      </p:sp>
    </p:spTree>
    <p:extLst>
      <p:ext uri="{BB962C8B-B14F-4D97-AF65-F5344CB8AC3E}">
        <p14:creationId xmlns:p14="http://schemas.microsoft.com/office/powerpoint/2010/main" val="32439822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Pathnames</a:t>
            </a:r>
          </a:p>
        </p:txBody>
      </p:sp>
      <p:sp>
        <p:nvSpPr>
          <p:cNvPr id="3" name="Content Placeholder 2"/>
          <p:cNvSpPr>
            <a:spLocks noGrp="1"/>
          </p:cNvSpPr>
          <p:nvPr>
            <p:ph idx="1"/>
          </p:nvPr>
        </p:nvSpPr>
        <p:spPr/>
        <p:txBody>
          <a:bodyPr>
            <a:normAutofit fontScale="85000" lnSpcReduction="20000"/>
          </a:bodyPr>
          <a:lstStyle/>
          <a:p>
            <a:r>
              <a:rPr lang="en-US" sz="3000" dirty="0"/>
              <a:t>Pathname – a series of names that trace a path along the branches of a directory tree</a:t>
            </a:r>
          </a:p>
          <a:p>
            <a:r>
              <a:rPr lang="en-US" sz="3000" dirty="0"/>
              <a:t>Working directory – the directory that a user currently resides</a:t>
            </a:r>
          </a:p>
          <a:p>
            <a:pPr lvl="1"/>
            <a:r>
              <a:rPr lang="en-US" sz="2600" dirty="0"/>
              <a:t>.  represents the working directory</a:t>
            </a:r>
          </a:p>
          <a:p>
            <a:pPr lvl="1"/>
            <a:r>
              <a:rPr lang="en-US" sz="2600" dirty="0"/>
              <a:t>..  represents the parent of the working directory</a:t>
            </a:r>
          </a:p>
          <a:p>
            <a:pPr lvl="1"/>
            <a:r>
              <a:rPr lang="en-US" sz="2600" dirty="0"/>
              <a:t>~ represents the pathname of a user’s home directory</a:t>
            </a:r>
          </a:p>
          <a:p>
            <a:r>
              <a:rPr lang="en-US" sz="3000" dirty="0"/>
              <a:t>A relative pathname is a path to a file or directory “relative” to the current working directory</a:t>
            </a:r>
          </a:p>
          <a:p>
            <a:pPr lvl="1"/>
            <a:r>
              <a:rPr lang="en-US" sz="2600" dirty="0"/>
              <a:t>./subfolder/file1</a:t>
            </a:r>
          </a:p>
          <a:p>
            <a:r>
              <a:rPr lang="en-US" sz="3000" dirty="0"/>
              <a:t>A absolute pathname is a path to a file or directory from the root directory</a:t>
            </a:r>
          </a:p>
          <a:p>
            <a:pPr lvl="1"/>
            <a:r>
              <a:rPr lang="en-US" sz="2600" dirty="0"/>
              <a:t>/home/username/file1</a:t>
            </a:r>
          </a:p>
          <a:p>
            <a:pPr marL="0" indent="0">
              <a:buNone/>
            </a:pPr>
            <a:endParaRPr lang="en-US" dirty="0"/>
          </a:p>
        </p:txBody>
      </p:sp>
      <p:sp>
        <p:nvSpPr>
          <p:cNvPr id="4" name="Slide Number Placeholder 3"/>
          <p:cNvSpPr>
            <a:spLocks noGrp="1"/>
          </p:cNvSpPr>
          <p:nvPr>
            <p:ph type="sldNum" sz="quarter" idx="12"/>
          </p:nvPr>
        </p:nvSpPr>
        <p:spPr/>
        <p:txBody>
          <a:bodyPr/>
          <a:lstStyle/>
          <a:p>
            <a:fld id="{F1E687AB-0FD7-C047-930B-FD009416571E}" type="slidenum">
              <a:rPr lang="en-US" smtClean="0"/>
              <a:t>43</a:t>
            </a:fld>
            <a:endParaRPr lang="en-US" dirty="0"/>
          </a:p>
        </p:txBody>
      </p:sp>
    </p:spTree>
    <p:extLst>
      <p:ext uri="{BB962C8B-B14F-4D97-AF65-F5344CB8AC3E}">
        <p14:creationId xmlns:p14="http://schemas.microsoft.com/office/powerpoint/2010/main" val="4013284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Content Placeholder 1"/>
          <p:cNvPicPr>
            <a:picLocks noGrp="1" noChangeAspect="1"/>
          </p:cNvPicPr>
          <p:nvPr>
            <p:ph sz="quarter" idx="11"/>
          </p:nvPr>
        </p:nvPicPr>
        <p:blipFill>
          <a:blip r:embed="rId3">
            <a:extLst>
              <a:ext uri="{28A0092B-C50C-407E-A947-70E740481C1C}">
                <a14:useLocalDpi xmlns:a14="http://schemas.microsoft.com/office/drawing/2010/main" val="0"/>
              </a:ext>
            </a:extLst>
          </a:blip>
          <a:srcRect/>
          <a:stretch>
            <a:fillRect/>
          </a:stretch>
        </p:blipFill>
        <p:spPr>
          <a:xfrm>
            <a:off x="457200" y="762000"/>
            <a:ext cx="8229600" cy="4540250"/>
          </a:xfrm>
        </p:spPr>
      </p:pic>
    </p:spTree>
    <p:extLst>
      <p:ext uri="{BB962C8B-B14F-4D97-AF65-F5344CB8AC3E}">
        <p14:creationId xmlns:p14="http://schemas.microsoft.com/office/powerpoint/2010/main" val="13371400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20713"/>
            <a:ext cx="8229600" cy="5006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3064062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30288" y="381000"/>
            <a:ext cx="7083425" cy="548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1381813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032000"/>
            <a:ext cx="8229600" cy="218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9453268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Linux standard directories  </a:t>
            </a:r>
          </a:p>
        </p:txBody>
      </p:sp>
      <p:sp>
        <p:nvSpPr>
          <p:cNvPr id="3" name="Content Placeholder 2"/>
          <p:cNvSpPr>
            <a:spLocks noGrp="1"/>
          </p:cNvSpPr>
          <p:nvPr>
            <p:ph idx="1"/>
          </p:nvPr>
        </p:nvSpPr>
        <p:spPr>
          <a:xfrm>
            <a:off x="457200" y="1236831"/>
            <a:ext cx="8229600" cy="5352228"/>
          </a:xfrm>
        </p:spPr>
        <p:txBody>
          <a:bodyPr>
            <a:normAutofit fontScale="85000" lnSpcReduction="20000"/>
          </a:bodyPr>
          <a:lstStyle/>
          <a:p>
            <a:pPr marL="0" indent="0">
              <a:buNone/>
            </a:pPr>
            <a:r>
              <a:rPr lang="en-US" dirty="0"/>
              <a:t>/  - the root directory is the top directory in the hierarchy </a:t>
            </a:r>
          </a:p>
          <a:p>
            <a:pPr marL="0" indent="0">
              <a:buNone/>
            </a:pPr>
            <a:r>
              <a:rPr lang="en-US" dirty="0"/>
              <a:t>/boot – files for booting the system</a:t>
            </a:r>
          </a:p>
          <a:p>
            <a:pPr marL="0" indent="0">
              <a:buNone/>
            </a:pPr>
            <a:r>
              <a:rPr lang="en-US" dirty="0"/>
              <a:t>/bin – essential command binaries</a:t>
            </a:r>
          </a:p>
          <a:p>
            <a:pPr marL="0" indent="0">
              <a:buNone/>
            </a:pPr>
            <a:r>
              <a:rPr lang="en-US" dirty="0"/>
              <a:t>/</a:t>
            </a:r>
            <a:r>
              <a:rPr lang="en-US" dirty="0" err="1"/>
              <a:t>dev</a:t>
            </a:r>
            <a:r>
              <a:rPr lang="en-US" dirty="0"/>
              <a:t> – device files </a:t>
            </a:r>
          </a:p>
          <a:p>
            <a:pPr marL="0" indent="0">
              <a:buNone/>
            </a:pPr>
            <a:r>
              <a:rPr lang="en-US" dirty="0"/>
              <a:t>/</a:t>
            </a:r>
            <a:r>
              <a:rPr lang="en-US" dirty="0" err="1"/>
              <a:t>etc</a:t>
            </a:r>
            <a:r>
              <a:rPr lang="en-US" dirty="0"/>
              <a:t> – machine local system configuration files</a:t>
            </a:r>
          </a:p>
          <a:p>
            <a:pPr marL="0" indent="0">
              <a:buNone/>
            </a:pPr>
            <a:r>
              <a:rPr lang="en-US" dirty="0"/>
              <a:t>/home – user home directories</a:t>
            </a:r>
          </a:p>
          <a:p>
            <a:pPr marL="0" indent="0">
              <a:buNone/>
            </a:pPr>
            <a:r>
              <a:rPr lang="en-US" dirty="0"/>
              <a:t>/opt – add on (optional) software packages</a:t>
            </a:r>
          </a:p>
          <a:p>
            <a:pPr marL="0" indent="0">
              <a:buNone/>
            </a:pPr>
            <a:r>
              <a:rPr lang="en-US" dirty="0"/>
              <a:t>/root – home directory for the root account</a:t>
            </a:r>
          </a:p>
          <a:p>
            <a:pPr marL="0" indent="0">
              <a:buNone/>
            </a:pPr>
            <a:r>
              <a:rPr lang="en-US" dirty="0"/>
              <a:t>/</a:t>
            </a:r>
            <a:r>
              <a:rPr lang="en-US" dirty="0" err="1"/>
              <a:t>sbin</a:t>
            </a:r>
            <a:r>
              <a:rPr lang="en-US" dirty="0"/>
              <a:t> – essential system binaries</a:t>
            </a:r>
          </a:p>
          <a:p>
            <a:pPr marL="0" indent="0">
              <a:buNone/>
            </a:pPr>
            <a:r>
              <a:rPr lang="en-US" dirty="0"/>
              <a:t>/</a:t>
            </a:r>
            <a:r>
              <a:rPr lang="en-US" dirty="0" err="1"/>
              <a:t>tmp</a:t>
            </a:r>
            <a:r>
              <a:rPr lang="en-US" dirty="0"/>
              <a:t> – temporary files directory</a:t>
            </a:r>
          </a:p>
          <a:p>
            <a:pPr marL="0" indent="0">
              <a:buNone/>
            </a:pPr>
            <a:r>
              <a:rPr lang="en-US" dirty="0"/>
              <a:t>/</a:t>
            </a:r>
            <a:r>
              <a:rPr lang="en-US" dirty="0" err="1"/>
              <a:t>usr</a:t>
            </a:r>
            <a:r>
              <a:rPr lang="en-US" dirty="0"/>
              <a:t> – installed system files</a:t>
            </a:r>
          </a:p>
          <a:p>
            <a:pPr marL="0" indent="0">
              <a:buNone/>
            </a:pPr>
            <a:r>
              <a:rPr lang="en-US" dirty="0"/>
              <a:t>/</a:t>
            </a:r>
            <a:r>
              <a:rPr lang="en-US" dirty="0" err="1"/>
              <a:t>var</a:t>
            </a:r>
            <a:r>
              <a:rPr lang="en-US" dirty="0"/>
              <a:t> – variable data files such as log files</a:t>
            </a:r>
          </a:p>
          <a:p>
            <a:pPr marL="0" indent="0">
              <a:buNone/>
            </a:pPr>
            <a:endParaRPr lang="en-US" dirty="0"/>
          </a:p>
          <a:p>
            <a:pPr marL="0" indent="0">
              <a:buNone/>
            </a:pPr>
            <a:endParaRPr lang="en-US" dirty="0"/>
          </a:p>
          <a:p>
            <a:pPr lvl="1"/>
            <a:endParaRPr lang="en-US" dirty="0"/>
          </a:p>
        </p:txBody>
      </p:sp>
      <p:sp>
        <p:nvSpPr>
          <p:cNvPr id="5" name="Slide Number Placeholder 4"/>
          <p:cNvSpPr>
            <a:spLocks noGrp="1"/>
          </p:cNvSpPr>
          <p:nvPr>
            <p:ph type="sldNum" sz="quarter" idx="12"/>
          </p:nvPr>
        </p:nvSpPr>
        <p:spPr/>
        <p:txBody>
          <a:bodyPr/>
          <a:lstStyle/>
          <a:p>
            <a:fld id="{F1E687AB-0FD7-C047-930B-FD009416571E}" type="slidenum">
              <a:rPr lang="en-US" smtClean="0"/>
              <a:t>48</a:t>
            </a:fld>
            <a:endParaRPr lang="en-US" dirty="0"/>
          </a:p>
        </p:txBody>
      </p:sp>
    </p:spTree>
    <p:extLst>
      <p:ext uri="{BB962C8B-B14F-4D97-AF65-F5344CB8AC3E}">
        <p14:creationId xmlns:p14="http://schemas.microsoft.com/office/powerpoint/2010/main" val="37540536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75363-D329-4A1A-98AC-E388318C370C}"/>
              </a:ext>
            </a:extLst>
          </p:cNvPr>
          <p:cNvSpPr>
            <a:spLocks noGrp="1"/>
          </p:cNvSpPr>
          <p:nvPr>
            <p:ph type="title"/>
          </p:nvPr>
        </p:nvSpPr>
        <p:spPr/>
        <p:txBody>
          <a:bodyPr/>
          <a:lstStyle/>
          <a:p>
            <a:r>
              <a:rPr lang="en-US" dirty="0"/>
              <a:t>Viewing log files</a:t>
            </a:r>
          </a:p>
        </p:txBody>
      </p:sp>
      <p:sp>
        <p:nvSpPr>
          <p:cNvPr id="3" name="Content Placeholder 2">
            <a:extLst>
              <a:ext uri="{FF2B5EF4-FFF2-40B4-BE49-F238E27FC236}">
                <a16:creationId xmlns:a16="http://schemas.microsoft.com/office/drawing/2014/main" id="{AAA60885-F7A2-389E-C849-040073920C90}"/>
              </a:ext>
            </a:extLst>
          </p:cNvPr>
          <p:cNvSpPr>
            <a:spLocks noGrp="1"/>
          </p:cNvSpPr>
          <p:nvPr>
            <p:ph idx="1"/>
          </p:nvPr>
        </p:nvSpPr>
        <p:spPr/>
        <p:txBody>
          <a:bodyPr>
            <a:normAutofit fontScale="85000" lnSpcReduction="20000"/>
          </a:bodyPr>
          <a:lstStyle/>
          <a:p>
            <a:r>
              <a:rPr lang="en-US" dirty="0"/>
              <a:t>Use </a:t>
            </a:r>
            <a:r>
              <a:rPr lang="en-US" dirty="0">
                <a:latin typeface="Courier New" panose="02070309020205020404" pitchFamily="49" charset="0"/>
                <a:cs typeface="Courier New" panose="02070309020205020404" pitchFamily="49" charset="0"/>
              </a:rPr>
              <a:t>cat</a:t>
            </a:r>
            <a:r>
              <a:rPr lang="en-US" dirty="0"/>
              <a:t> to type out a text file</a:t>
            </a:r>
          </a:p>
          <a:p>
            <a:pPr marL="0" indent="0">
              <a:buNone/>
            </a:pPr>
            <a:r>
              <a:rPr lang="en-US" sz="2000" dirty="0">
                <a:latin typeface="Courier New" panose="02070309020205020404" pitchFamily="49" charset="0"/>
                <a:cs typeface="Courier New" panose="02070309020205020404" pitchFamily="49" charset="0"/>
              </a:rPr>
              <a:t>cat </a:t>
            </a:r>
            <a:r>
              <a:rPr lang="en-US" sz="2000" dirty="0" err="1">
                <a:latin typeface="Courier New" panose="02070309020205020404" pitchFamily="49" charset="0"/>
                <a:cs typeface="Courier New" panose="02070309020205020404" pitchFamily="49" charset="0"/>
              </a:rPr>
              <a:t>testfile.txt</a:t>
            </a:r>
            <a:r>
              <a:rPr lang="en-US" sz="2000" dirty="0">
                <a:latin typeface="Courier New" panose="02070309020205020404" pitchFamily="49" charset="0"/>
                <a:cs typeface="Courier New" panose="02070309020205020404" pitchFamily="49" charset="0"/>
              </a:rPr>
              <a:t>  ! Types </a:t>
            </a:r>
            <a:r>
              <a:rPr lang="en-US" sz="2000" dirty="0" err="1">
                <a:latin typeface="Courier New" panose="02070309020205020404" pitchFamily="49" charset="0"/>
                <a:cs typeface="Courier New" panose="02070309020205020404" pitchFamily="49" charset="0"/>
              </a:rPr>
              <a:t>testfile.txt</a:t>
            </a:r>
            <a:r>
              <a:rPr lang="en-US" sz="2000" dirty="0">
                <a:latin typeface="Courier New" panose="02070309020205020404" pitchFamily="49" charset="0"/>
                <a:cs typeface="Courier New" panose="02070309020205020404" pitchFamily="49" charset="0"/>
              </a:rPr>
              <a:t> to the screen</a:t>
            </a:r>
          </a:p>
          <a:p>
            <a:pPr marL="0" indent="0">
              <a:buNone/>
            </a:pPr>
            <a:r>
              <a:rPr lang="en-US" sz="2000" dirty="0">
                <a:latin typeface="Courier New" panose="02070309020205020404" pitchFamily="49" charset="0"/>
                <a:cs typeface="Courier New" panose="02070309020205020404" pitchFamily="49" charset="0"/>
              </a:rPr>
              <a:t>cat /var/log/syslog | less ! One screen at a time</a:t>
            </a:r>
          </a:p>
          <a:p>
            <a:r>
              <a:rPr lang="en-US" dirty="0"/>
              <a:t>Use </a:t>
            </a:r>
            <a:r>
              <a:rPr lang="en-US" dirty="0">
                <a:latin typeface="Courier New" panose="02070309020205020404" pitchFamily="49" charset="0"/>
                <a:cs typeface="Courier New" panose="02070309020205020404" pitchFamily="49" charset="0"/>
              </a:rPr>
              <a:t>grep </a:t>
            </a:r>
            <a:r>
              <a:rPr lang="en-US" dirty="0"/>
              <a:t>for searching the file for a pattern of text</a:t>
            </a:r>
          </a:p>
          <a:p>
            <a:pPr marL="0" indent="0">
              <a:buNone/>
            </a:pPr>
            <a:r>
              <a:rPr lang="en-US" sz="2000" dirty="0">
                <a:latin typeface="Courier New" panose="02070309020205020404" pitchFamily="49" charset="0"/>
                <a:cs typeface="Courier New" panose="02070309020205020404" pitchFamily="49" charset="0"/>
              </a:rPr>
              <a:t>grep Network /var/log/syslog</a:t>
            </a:r>
          </a:p>
          <a:p>
            <a:r>
              <a:rPr lang="en-US" dirty="0"/>
              <a:t>Use </a:t>
            </a:r>
            <a:r>
              <a:rPr lang="en-US" dirty="0">
                <a:latin typeface="Courier New" panose="02070309020205020404" pitchFamily="49" charset="0"/>
                <a:cs typeface="Courier New" panose="02070309020205020404" pitchFamily="49" charset="0"/>
              </a:rPr>
              <a:t>tail </a:t>
            </a:r>
            <a:r>
              <a:rPr lang="en-US" dirty="0"/>
              <a:t>to view the last n lines of a file</a:t>
            </a:r>
          </a:p>
          <a:p>
            <a:pPr lvl="1"/>
            <a:r>
              <a:rPr lang="en-US" dirty="0"/>
              <a:t>Ideal for log files because the latest log entries are appended to the end of a log file</a:t>
            </a:r>
          </a:p>
          <a:p>
            <a:pPr lvl="1"/>
            <a:r>
              <a:rPr lang="en-US" dirty="0"/>
              <a:t>Default is 10 lines without using the </a:t>
            </a:r>
            <a:r>
              <a:rPr lang="en-US" dirty="0">
                <a:latin typeface="Courier New" panose="02070309020205020404" pitchFamily="49" charset="0"/>
                <a:cs typeface="Courier New" panose="02070309020205020404" pitchFamily="49" charset="0"/>
              </a:rPr>
              <a:t>–n </a:t>
            </a:r>
            <a:r>
              <a:rPr lang="en-US" dirty="0"/>
              <a:t>option</a:t>
            </a:r>
          </a:p>
          <a:p>
            <a:pPr marL="0" indent="0">
              <a:buNone/>
            </a:pPr>
            <a:r>
              <a:rPr lang="en-US" sz="2000" dirty="0">
                <a:latin typeface="Courier New" panose="02070309020205020404" pitchFamily="49" charset="0"/>
                <a:cs typeface="Courier New" panose="02070309020205020404" pitchFamily="49" charset="0"/>
              </a:rPr>
              <a:t>tail –n 20 /var/log/syslog ! Displays last 20 lines</a:t>
            </a:r>
          </a:p>
          <a:p>
            <a:r>
              <a:rPr lang="en-US" dirty="0"/>
              <a:t>The </a:t>
            </a:r>
            <a:r>
              <a:rPr lang="en-US" dirty="0">
                <a:latin typeface="Courier New" panose="02070309020205020404" pitchFamily="49" charset="0"/>
                <a:cs typeface="Courier New" panose="02070309020205020404" pitchFamily="49" charset="0"/>
              </a:rPr>
              <a:t>–f </a:t>
            </a:r>
            <a:r>
              <a:rPr lang="en-US" dirty="0"/>
              <a:t>option the terminal will display new lines to a log file as they are appended. Used to monitor a log file in real time. Ctrl + c will break out and return to the command prompt</a:t>
            </a:r>
            <a:endParaRPr lang="en-US" sz="2000" dirty="0">
              <a:latin typeface="Courier New" panose="02070309020205020404" pitchFamily="49" charset="0"/>
              <a:cs typeface="Courier New" panose="02070309020205020404" pitchFamily="49" charset="0"/>
            </a:endParaRPr>
          </a:p>
          <a:p>
            <a:endParaRPr lang="en-US" dirty="0"/>
          </a:p>
        </p:txBody>
      </p:sp>
      <p:sp>
        <p:nvSpPr>
          <p:cNvPr id="4" name="Slide Number Placeholder 3">
            <a:extLst>
              <a:ext uri="{FF2B5EF4-FFF2-40B4-BE49-F238E27FC236}">
                <a16:creationId xmlns:a16="http://schemas.microsoft.com/office/drawing/2014/main" id="{7F447F08-A68E-F2E4-8EA4-F5B73F4B307A}"/>
              </a:ext>
            </a:extLst>
          </p:cNvPr>
          <p:cNvSpPr>
            <a:spLocks noGrp="1"/>
          </p:cNvSpPr>
          <p:nvPr>
            <p:ph type="sldNum" sz="quarter" idx="12"/>
          </p:nvPr>
        </p:nvSpPr>
        <p:spPr/>
        <p:txBody>
          <a:bodyPr/>
          <a:lstStyle/>
          <a:p>
            <a:fld id="{F1E687AB-0FD7-C047-930B-FD009416571E}" type="slidenum">
              <a:rPr lang="en-US" smtClean="0"/>
              <a:t>49</a:t>
            </a:fld>
            <a:endParaRPr lang="en-US" dirty="0"/>
          </a:p>
        </p:txBody>
      </p:sp>
    </p:spTree>
    <p:extLst>
      <p:ext uri="{BB962C8B-B14F-4D97-AF65-F5344CB8AC3E}">
        <p14:creationId xmlns:p14="http://schemas.microsoft.com/office/powerpoint/2010/main" val="18253177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5198"/>
            <a:ext cx="8229600" cy="990600"/>
          </a:xfrm>
        </p:spPr>
        <p:txBody>
          <a:bodyPr>
            <a:normAutofit fontScale="90000"/>
          </a:bodyPr>
          <a:lstStyle/>
          <a:p>
            <a:r>
              <a:rPr lang="en-US" dirty="0"/>
              <a:t>Review of file and directory related commands</a:t>
            </a:r>
          </a:p>
        </p:txBody>
      </p:sp>
      <p:sp>
        <p:nvSpPr>
          <p:cNvPr id="3" name="Content Placeholder 2"/>
          <p:cNvSpPr>
            <a:spLocks noGrp="1"/>
          </p:cNvSpPr>
          <p:nvPr>
            <p:ph idx="1"/>
          </p:nvPr>
        </p:nvSpPr>
        <p:spPr/>
        <p:txBody>
          <a:bodyPr>
            <a:normAutofit/>
          </a:bodyPr>
          <a:lstStyle/>
          <a:p>
            <a:r>
              <a:rPr lang="en-US" dirty="0" err="1"/>
              <a:t>pwd</a:t>
            </a:r>
            <a:r>
              <a:rPr lang="en-US" dirty="0"/>
              <a:t> – print working directory</a:t>
            </a:r>
          </a:p>
          <a:p>
            <a:r>
              <a:rPr lang="en-US" dirty="0"/>
              <a:t>cd – change directory</a:t>
            </a:r>
          </a:p>
          <a:p>
            <a:r>
              <a:rPr lang="en-US" dirty="0" err="1"/>
              <a:t>mkdir</a:t>
            </a:r>
            <a:r>
              <a:rPr lang="en-US" dirty="0"/>
              <a:t> - make/create a new directory</a:t>
            </a:r>
          </a:p>
          <a:p>
            <a:r>
              <a:rPr lang="en-US" dirty="0" err="1"/>
              <a:t>rmdir</a:t>
            </a:r>
            <a:r>
              <a:rPr lang="en-US" dirty="0"/>
              <a:t> – remove/delete a directory</a:t>
            </a:r>
          </a:p>
          <a:p>
            <a:r>
              <a:rPr lang="en-US" dirty="0" err="1"/>
              <a:t>ls</a:t>
            </a:r>
            <a:r>
              <a:rPr lang="en-US" dirty="0"/>
              <a:t> – list directories and files</a:t>
            </a:r>
          </a:p>
          <a:p>
            <a:r>
              <a:rPr lang="en-US" dirty="0"/>
              <a:t>mv – move/rename a file</a:t>
            </a:r>
          </a:p>
          <a:p>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F1E687AB-0FD7-C047-930B-FD009416571E}" type="slidenum">
              <a:rPr lang="en-US" smtClean="0"/>
              <a:t>50</a:t>
            </a:fld>
            <a:endParaRPr lang="en-US" dirty="0"/>
          </a:p>
        </p:txBody>
      </p:sp>
    </p:spTree>
    <p:extLst>
      <p:ext uri="{BB962C8B-B14F-4D97-AF65-F5344CB8AC3E}">
        <p14:creationId xmlns:p14="http://schemas.microsoft.com/office/powerpoint/2010/main" val="18856712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457200" y="1356360"/>
            <a:ext cx="8229600" cy="4876800"/>
          </a:xfrm>
        </p:spPr>
        <p:txBody>
          <a:bodyPr>
            <a:normAutofit/>
          </a:bodyPr>
          <a:lstStyle/>
          <a:p>
            <a:pPr>
              <a:defRPr/>
            </a:pPr>
            <a:r>
              <a:rPr lang="en-US" sz="2400" dirty="0">
                <a:effectLst/>
                <a:ea typeface="Times New Roman" panose="02020603050405020304" pitchFamily="18" charset="0"/>
              </a:rPr>
              <a:t>Mastering Ubuntu Server, Fourth Edition by Jay LaCroix, </a:t>
            </a:r>
            <a:r>
              <a:rPr lang="en-US" sz="2400" dirty="0" err="1">
                <a:effectLst/>
                <a:ea typeface="Times New Roman" panose="02020603050405020304" pitchFamily="18" charset="0"/>
              </a:rPr>
              <a:t>Packt</a:t>
            </a:r>
            <a:r>
              <a:rPr lang="en-US" sz="2400" dirty="0">
                <a:effectLst/>
                <a:ea typeface="Times New Roman" panose="02020603050405020304" pitchFamily="18" charset="0"/>
              </a:rPr>
              <a:t> Publishing, 2022 </a:t>
            </a:r>
          </a:p>
          <a:p>
            <a:pPr>
              <a:defRPr/>
            </a:pPr>
            <a:r>
              <a:rPr lang="en-US" sz="2400" dirty="0">
                <a:ea typeface="ＭＳ Ｐゴシック" pitchFamily="34" charset="-128"/>
              </a:rPr>
              <a:t>Index of Ubuntu reference documentation</a:t>
            </a:r>
          </a:p>
          <a:p>
            <a:pPr marL="0" indent="0">
              <a:buFontTx/>
              <a:buNone/>
              <a:defRPr/>
            </a:pPr>
            <a:r>
              <a:rPr lang="en-US" sz="2400" dirty="0">
                <a:ea typeface="ＭＳ Ｐゴシック" pitchFamily="34" charset="-128"/>
              </a:rPr>
              <a:t>    https://</a:t>
            </a:r>
            <a:r>
              <a:rPr lang="en-US" sz="2400" dirty="0" err="1">
                <a:ea typeface="ＭＳ Ｐゴシック" pitchFamily="34" charset="-128"/>
              </a:rPr>
              <a:t>ubuntu.com</a:t>
            </a:r>
            <a:endParaRPr lang="en-US" sz="2400" dirty="0">
              <a:ea typeface="ＭＳ Ｐゴシック" pitchFamily="34" charset="-128"/>
            </a:endParaRPr>
          </a:p>
          <a:p>
            <a:pPr>
              <a:defRPr/>
            </a:pPr>
            <a:r>
              <a:rPr lang="en-US" sz="2400" dirty="0">
                <a:ea typeface="ＭＳ Ｐゴシック" pitchFamily="34" charset="-128"/>
              </a:rPr>
              <a:t>A Practical Guide to Ubuntu Linux®, Fourth Edition by Mark G. Sobell, Prentice Hall, 2015</a:t>
            </a:r>
          </a:p>
          <a:p>
            <a:pPr marL="0" indent="0">
              <a:buNone/>
              <a:defRPr/>
            </a:pPr>
            <a:endParaRPr lang="en-US" sz="2400" dirty="0">
              <a:ea typeface="ＭＳ Ｐゴシック" pitchFamily="34" charset="-128"/>
            </a:endParaRPr>
          </a:p>
          <a:p>
            <a:pPr>
              <a:defRPr/>
            </a:pPr>
            <a:endParaRPr lang="en-US" sz="2400" dirty="0">
              <a:effectLst/>
              <a:ea typeface="Times New Roman" panose="02020603050405020304" pitchFamily="18" charset="0"/>
            </a:endParaRPr>
          </a:p>
          <a:p>
            <a:pPr>
              <a:defRPr/>
            </a:pPr>
            <a:endParaRPr lang="en-US" sz="2400" dirty="0">
              <a:ea typeface="ＭＳ Ｐゴシック" pitchFamily="34" charset="-128"/>
            </a:endParaRPr>
          </a:p>
          <a:p>
            <a:pPr marL="274320" lvl="1" indent="0">
              <a:buNone/>
            </a:pPr>
            <a:endParaRPr lang="en-US" sz="2400" dirty="0"/>
          </a:p>
          <a:p>
            <a:pPr marL="0" indent="0">
              <a:buNone/>
            </a:pPr>
            <a:endParaRPr lang="en-US" sz="2400" dirty="0"/>
          </a:p>
        </p:txBody>
      </p:sp>
      <p:sp>
        <p:nvSpPr>
          <p:cNvPr id="5" name="Slide Number Placeholder 4"/>
          <p:cNvSpPr>
            <a:spLocks noGrp="1"/>
          </p:cNvSpPr>
          <p:nvPr>
            <p:ph type="sldNum" sz="quarter" idx="12"/>
          </p:nvPr>
        </p:nvSpPr>
        <p:spPr/>
        <p:txBody>
          <a:bodyPr/>
          <a:lstStyle/>
          <a:p>
            <a:fld id="{F1E687AB-0FD7-C047-930B-FD009416571E}" type="slidenum">
              <a:rPr lang="en-US" smtClean="0"/>
              <a:t>51</a:t>
            </a:fld>
            <a:endParaRPr lang="en-US" dirty="0"/>
          </a:p>
        </p:txBody>
      </p:sp>
    </p:spTree>
    <p:extLst>
      <p:ext uri="{BB962C8B-B14F-4D97-AF65-F5344CB8AC3E}">
        <p14:creationId xmlns:p14="http://schemas.microsoft.com/office/powerpoint/2010/main" val="16793734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Expo">
      <a:dk1>
        <a:sysClr val="windowText" lastClr="000000"/>
      </a:dk1>
      <a:lt1>
        <a:sysClr val="window" lastClr="FFFFFF"/>
      </a:lt1>
      <a:dk2>
        <a:srgbClr val="263B86"/>
      </a:dk2>
      <a:lt2>
        <a:srgbClr val="76B6F2"/>
      </a:lt2>
      <a:accent1>
        <a:srgbClr val="FBC01E"/>
      </a:accent1>
      <a:accent2>
        <a:srgbClr val="EFE1A2"/>
      </a:accent2>
      <a:accent3>
        <a:srgbClr val="FA8716"/>
      </a:accent3>
      <a:accent4>
        <a:srgbClr val="BE0204"/>
      </a:accent4>
      <a:accent5>
        <a:srgbClr val="640F10"/>
      </a:accent5>
      <a:accent6>
        <a:srgbClr val="7E13E3"/>
      </a:accent6>
      <a:hlink>
        <a:srgbClr val="D2D200"/>
      </a:hlink>
      <a:folHlink>
        <a:srgbClr val="D0B9F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extLst>
    <a:ext uri="{05A4C25C-085E-4340-85A3-A5531E510DB2}">
      <thm15:themeFamily xmlns:thm15="http://schemas.microsoft.com/office/thememl/2012/main" name="CT310-Week1" id="{41E17F18-8A9A-2542-9FD8-FB80B73C042B}" vid="{4A9CAEDD-040D-9749-AD83-58535E39F2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1118</TotalTime>
  <Words>2675</Words>
  <Application>Microsoft Macintosh PowerPoint</Application>
  <PresentationFormat>On-screen Show (4:3)</PresentationFormat>
  <Paragraphs>385</Paragraphs>
  <Slides>51</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ＭＳ Ｐゴシック</vt:lpstr>
      <vt:lpstr>Arial</vt:lpstr>
      <vt:lpstr>Calibri</vt:lpstr>
      <vt:lpstr>Courier</vt:lpstr>
      <vt:lpstr>Courier New</vt:lpstr>
      <vt:lpstr>Times New Roman</vt:lpstr>
      <vt:lpstr>Clarity</vt:lpstr>
      <vt:lpstr>CT210 Open Server I</vt:lpstr>
      <vt:lpstr>CT210 Open Server I</vt:lpstr>
      <vt:lpstr>Installing Software - Definitions</vt:lpstr>
      <vt:lpstr>Installing Software - Definitions</vt:lpstr>
      <vt:lpstr>Installing Software - Utilities</vt:lpstr>
      <vt:lpstr>Managing Software Packages</vt:lpstr>
      <vt:lpstr>Managing Debian packages with apt</vt:lpstr>
      <vt:lpstr>Software Packages - Example</vt:lpstr>
      <vt:lpstr>Software Packages</vt:lpstr>
      <vt:lpstr>Software Packages</vt:lpstr>
      <vt:lpstr>Software Packages – Debian, Red Hat, Snap</vt:lpstr>
      <vt:lpstr>Managing Packages with apt</vt:lpstr>
      <vt:lpstr>Managing Packages with Snap</vt:lpstr>
      <vt:lpstr>More about apt</vt:lpstr>
      <vt:lpstr>More about apt</vt:lpstr>
      <vt:lpstr>Inventory of Packages on a server</vt:lpstr>
      <vt:lpstr>Importance of Inventory</vt:lpstr>
      <vt:lpstr>Importance of Inventory</vt:lpstr>
      <vt:lpstr>Importing selections onto a new server</vt:lpstr>
      <vt:lpstr>Cleaning up orphaned apt packages</vt:lpstr>
      <vt:lpstr>CT210 Open Server I</vt:lpstr>
      <vt:lpstr>Navigating and Essential Commands</vt:lpstr>
      <vt:lpstr> Unix Philosophy </vt:lpstr>
      <vt:lpstr> Unix Philosophy </vt:lpstr>
      <vt:lpstr>PowerPoint Presentation</vt:lpstr>
      <vt:lpstr>PowerPoint Presentation</vt:lpstr>
      <vt:lpstr>PowerPoint Presentation</vt:lpstr>
      <vt:lpstr>PowerPoint Presentation</vt:lpstr>
      <vt:lpstr>PowerPoint Presentation</vt:lpstr>
      <vt:lpstr>PowerPoint Presentation</vt:lpstr>
      <vt:lpstr>Special Characters</vt:lpstr>
      <vt:lpstr>Navigating directories</vt:lpstr>
      <vt:lpstr>PowerPoint Presentation</vt:lpstr>
      <vt:lpstr>PowerPoint Presentation</vt:lpstr>
      <vt:lpstr>PowerPoint Presentation</vt:lpstr>
      <vt:lpstr>PowerPoint Presentation</vt:lpstr>
      <vt:lpstr>PowerPoint Presentation</vt:lpstr>
      <vt:lpstr>File Systems and Directory trees</vt:lpstr>
      <vt:lpstr>PowerPoint Presentation</vt:lpstr>
      <vt:lpstr>Filenames</vt:lpstr>
      <vt:lpstr>Linux Filenames</vt:lpstr>
      <vt:lpstr>Directory and Hidden files</vt:lpstr>
      <vt:lpstr>Pathnames</vt:lpstr>
      <vt:lpstr>PowerPoint Presentation</vt:lpstr>
      <vt:lpstr>PowerPoint Presentation</vt:lpstr>
      <vt:lpstr>PowerPoint Presentation</vt:lpstr>
      <vt:lpstr>PowerPoint Presentation</vt:lpstr>
      <vt:lpstr>Linux standard directories  </vt:lpstr>
      <vt:lpstr>Viewing log files</vt:lpstr>
      <vt:lpstr>Review of file and directory related commands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CT310 Open Server II</dc:title>
  <dc:creator>Carroll,Christopher</dc:creator>
  <cp:lastModifiedBy>Carroll,Christopher</cp:lastModifiedBy>
  <cp:revision>23</cp:revision>
  <dcterms:created xsi:type="dcterms:W3CDTF">2023-04-15T01:23:31Z</dcterms:created>
  <dcterms:modified xsi:type="dcterms:W3CDTF">2024-04-23T18:57:51Z</dcterms:modified>
</cp:coreProperties>
</file>