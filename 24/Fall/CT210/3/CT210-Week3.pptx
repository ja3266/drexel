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60" r:id="rId1"/>
  </p:sldMasterIdLst>
  <p:notesMasterIdLst>
    <p:notesMasterId r:id="rId33"/>
  </p:notesMasterIdLst>
  <p:handoutMasterIdLst>
    <p:handoutMasterId r:id="rId34"/>
  </p:handoutMasterIdLst>
  <p:sldIdLst>
    <p:sldId id="493" r:id="rId2"/>
    <p:sldId id="528" r:id="rId3"/>
    <p:sldId id="529" r:id="rId4"/>
    <p:sldId id="530" r:id="rId5"/>
    <p:sldId id="524" r:id="rId6"/>
    <p:sldId id="526" r:id="rId7"/>
    <p:sldId id="463" r:id="rId8"/>
    <p:sldId id="527" r:id="rId9"/>
    <p:sldId id="525" r:id="rId10"/>
    <p:sldId id="517" r:id="rId11"/>
    <p:sldId id="518" r:id="rId12"/>
    <p:sldId id="519" r:id="rId13"/>
    <p:sldId id="520" r:id="rId14"/>
    <p:sldId id="521" r:id="rId15"/>
    <p:sldId id="522" r:id="rId16"/>
    <p:sldId id="523" r:id="rId17"/>
    <p:sldId id="479" r:id="rId18"/>
    <p:sldId id="480" r:id="rId19"/>
    <p:sldId id="481" r:id="rId20"/>
    <p:sldId id="484" r:id="rId21"/>
    <p:sldId id="498" r:id="rId22"/>
    <p:sldId id="499" r:id="rId23"/>
    <p:sldId id="500" r:id="rId24"/>
    <p:sldId id="501" r:id="rId25"/>
    <p:sldId id="503" r:id="rId26"/>
    <p:sldId id="504" r:id="rId27"/>
    <p:sldId id="505" r:id="rId28"/>
    <p:sldId id="506" r:id="rId29"/>
    <p:sldId id="507" r:id="rId30"/>
    <p:sldId id="509" r:id="rId31"/>
    <p:sldId id="3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D971EF-B8E8-5E4E-A252-CAE657155341}" type="datetimeFigureOut">
              <a:rPr lang="en-US" smtClean="0"/>
              <a:t>7/17/23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00CC4-C515-EF4A-859B-EC419CFE6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396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599B5E-E4DD-C949-B709-844818E87680}" type="datetimeFigureOut">
              <a:rPr lang="en-US" smtClean="0"/>
              <a:t>7/17/23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44B0F-8041-584B-ADCD-485AE0300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931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type of file (first character)</a:t>
            </a:r>
          </a:p>
          <a:p>
            <a:r>
              <a:rPr lang="en-US" dirty="0"/>
              <a:t>The files access permissions (the next nine characters)</a:t>
            </a:r>
          </a:p>
          <a:p>
            <a:r>
              <a:rPr lang="en-US" dirty="0"/>
              <a:t>The ACL</a:t>
            </a:r>
            <a:r>
              <a:rPr lang="en-US" baseline="0" dirty="0"/>
              <a:t> flag (present if the file has an ACL) </a:t>
            </a:r>
          </a:p>
          <a:p>
            <a:r>
              <a:rPr lang="en-US" baseline="0" dirty="0"/>
              <a:t>The number of links to the file</a:t>
            </a:r>
          </a:p>
          <a:p>
            <a:r>
              <a:rPr lang="en-US" baseline="0" dirty="0"/>
              <a:t>The name of the owner of the file</a:t>
            </a:r>
          </a:p>
          <a:p>
            <a:r>
              <a:rPr lang="en-US" baseline="0" dirty="0"/>
              <a:t>The name of the group the file is associated with</a:t>
            </a:r>
          </a:p>
          <a:p>
            <a:r>
              <a:rPr lang="en-US" baseline="0" dirty="0"/>
              <a:t>The size of the file in bytes</a:t>
            </a:r>
          </a:p>
          <a:p>
            <a:r>
              <a:rPr lang="en-US" baseline="0" dirty="0"/>
              <a:t>The date and time for when the file was last modified</a:t>
            </a:r>
          </a:p>
          <a:p>
            <a:r>
              <a:rPr lang="en-US" baseline="0" dirty="0"/>
              <a:t>The name of the file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4B0F-8041-584B-ADCD-485AE030017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109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6824" y="0"/>
            <a:ext cx="732118" cy="329184"/>
          </a:xfrm>
          <a:prstGeom prst="rect">
            <a:avLst/>
          </a:prstGeom>
        </p:spPr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02917" y="0"/>
            <a:ext cx="732118" cy="329184"/>
          </a:xfrm>
          <a:prstGeom prst="rect">
            <a:avLst/>
          </a:prstGeom>
        </p:spPr>
        <p:txBody>
          <a:bodyPr/>
          <a:lstStyle/>
          <a:p>
            <a:fld id="{F1E687AB-0FD7-C047-930B-FD009416571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732118" cy="329184"/>
          </a:xfrm>
          <a:prstGeom prst="rect">
            <a:avLst/>
          </a:prstGeom>
        </p:spPr>
        <p:txBody>
          <a:bodyPr/>
          <a:lstStyle/>
          <a:p>
            <a:fld id="{F1E687AB-0FD7-C047-930B-FD009416571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1882" y="18288"/>
            <a:ext cx="732118" cy="329184"/>
          </a:xfrm>
          <a:prstGeom prst="rect">
            <a:avLst/>
          </a:prstGeom>
        </p:spPr>
        <p:txBody>
          <a:bodyPr/>
          <a:lstStyle/>
          <a:p>
            <a:fld id="{F1E687AB-0FD7-C047-930B-FD009416571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411882" y="18288"/>
            <a:ext cx="732118" cy="329184"/>
          </a:xfrm>
          <a:prstGeom prst="rect">
            <a:avLst/>
          </a:prstGeom>
        </p:spPr>
        <p:txBody>
          <a:bodyPr/>
          <a:lstStyle/>
          <a:p>
            <a:fld id="{F1E687AB-0FD7-C047-930B-FD009416571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411882" y="3347"/>
            <a:ext cx="732118" cy="329184"/>
          </a:xfrm>
          <a:prstGeom prst="rect">
            <a:avLst/>
          </a:prstGeom>
        </p:spPr>
        <p:txBody>
          <a:bodyPr/>
          <a:lstStyle/>
          <a:p>
            <a:fld id="{F1E687AB-0FD7-C047-930B-FD009416571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11882" y="3347"/>
            <a:ext cx="732118" cy="329184"/>
          </a:xfrm>
          <a:prstGeom prst="rect">
            <a:avLst/>
          </a:prstGeom>
        </p:spPr>
        <p:txBody>
          <a:bodyPr/>
          <a:lstStyle/>
          <a:p>
            <a:fld id="{F1E687AB-0FD7-C047-930B-FD009416571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732118" cy="329184"/>
          </a:xfrm>
          <a:prstGeom prst="rect">
            <a:avLst/>
          </a:prstGeom>
        </p:spPr>
        <p:txBody>
          <a:bodyPr/>
          <a:lstStyle/>
          <a:p>
            <a:fld id="{F1E687AB-0FD7-C047-930B-FD009416571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1882" y="18288"/>
            <a:ext cx="732118" cy="329184"/>
          </a:xfrm>
          <a:prstGeom prst="rect">
            <a:avLst/>
          </a:prstGeom>
        </p:spPr>
        <p:txBody>
          <a:bodyPr/>
          <a:lstStyle/>
          <a:p>
            <a:fld id="{F1E687AB-0FD7-C047-930B-FD009416571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732118" cy="329184"/>
          </a:xfrm>
          <a:prstGeom prst="rect">
            <a:avLst/>
          </a:prstGeom>
        </p:spPr>
        <p:txBody>
          <a:bodyPr/>
          <a:lstStyle/>
          <a:p>
            <a:fld id="{F1E687AB-0FD7-C047-930B-FD00941657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732118" cy="329184"/>
          </a:xfrm>
          <a:prstGeom prst="rect">
            <a:avLst/>
          </a:prstGeom>
        </p:spPr>
        <p:txBody>
          <a:bodyPr/>
          <a:lstStyle/>
          <a:p>
            <a:fld id="{F1E687AB-0FD7-C047-930B-FD00941657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 userDrawn="1"/>
        </p:nvSpPr>
        <p:spPr bwMode="auto">
          <a:xfrm>
            <a:off x="914400" y="6370638"/>
            <a:ext cx="7467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200">
                <a:solidFill>
                  <a:schemeClr val="bg2"/>
                </a:solidFill>
                <a:latin typeface="Bitstream Charter" charset="0"/>
              </a:rPr>
              <a:t> From A Practical Guide to Ubuntu Linux</a:t>
            </a:r>
            <a:r>
              <a:rPr lang="en-US" sz="1200" baseline="30000">
                <a:solidFill>
                  <a:schemeClr val="bg2"/>
                </a:solidFill>
                <a:latin typeface="Bitstream Charter" charset="0"/>
              </a:rPr>
              <a:t>®</a:t>
            </a:r>
            <a:r>
              <a:rPr lang="en-US" sz="1200">
                <a:solidFill>
                  <a:schemeClr val="bg2"/>
                </a:solidFill>
                <a:latin typeface="Bitstream Charter" charset="0"/>
              </a:rPr>
              <a:t>, Fourth Edition, by Mark G. Sobell (ISBN-13: 978-0-13-392731-3). Copyright </a:t>
            </a:r>
            <a:r>
              <a:rPr lang="en-US" sz="1200" baseline="30000">
                <a:solidFill>
                  <a:schemeClr val="bg2"/>
                </a:solidFill>
                <a:latin typeface="Bitstream Charter" charset="0"/>
              </a:rPr>
              <a:t>©</a:t>
            </a:r>
            <a:r>
              <a:rPr lang="en-US" sz="1200">
                <a:solidFill>
                  <a:schemeClr val="bg2"/>
                </a:solidFill>
                <a:latin typeface="Bitstream Charter" charset="0"/>
              </a:rPr>
              <a:t> 2015 Mark G. Sobell. All rights reserved.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228600" y="457200"/>
            <a:ext cx="8686800" cy="5334001"/>
          </a:xfrm>
        </p:spPr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551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71812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6824" y="0"/>
            <a:ext cx="732118" cy="329184"/>
          </a:xfrm>
          <a:prstGeom prst="rect">
            <a:avLst/>
          </a:prstGeom>
        </p:spPr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3799004" y="6472518"/>
            <a:ext cx="1432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Drexel University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bg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CT210 Open Server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3</a:t>
            </a:r>
          </a:p>
          <a:p>
            <a:r>
              <a:rPr lang="en-US" dirty="0"/>
              <a:t>Managing Users and Permissions</a:t>
            </a:r>
          </a:p>
        </p:txBody>
      </p:sp>
    </p:spTree>
    <p:extLst>
      <p:ext uri="{BB962C8B-B14F-4D97-AF65-F5344CB8AC3E}">
        <p14:creationId xmlns:p14="http://schemas.microsoft.com/office/powerpoint/2010/main" val="4188117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3A8B-6849-DA31-6112-6063E6D1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and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E8486-D9AC-EAB3-EBFC-A1B34E781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User Management is a broad topic in IT</a:t>
            </a:r>
          </a:p>
          <a:p>
            <a:pPr lvl="1"/>
            <a:r>
              <a:rPr lang="en-US" dirty="0"/>
              <a:t>Enterprises use Directory Services </a:t>
            </a:r>
          </a:p>
          <a:p>
            <a:pPr lvl="2"/>
            <a:r>
              <a:rPr lang="en-US" dirty="0"/>
              <a:t>Active </a:t>
            </a:r>
            <a:r>
              <a:rPr lang="en-US" dirty="0" err="1"/>
              <a:t>Driectory</a:t>
            </a:r>
            <a:endParaRPr lang="en-US" dirty="0"/>
          </a:p>
          <a:p>
            <a:pPr lvl="2"/>
            <a:r>
              <a:rPr lang="en-US" dirty="0"/>
              <a:t>LDAP </a:t>
            </a:r>
          </a:p>
          <a:p>
            <a:r>
              <a:rPr lang="en-US" dirty="0"/>
              <a:t>Cover users and groups on an Ubuntu server</a:t>
            </a:r>
          </a:p>
          <a:p>
            <a:r>
              <a:rPr lang="en-US" dirty="0"/>
              <a:t>User – defines who can use a server; provides access to the server</a:t>
            </a:r>
          </a:p>
          <a:p>
            <a:r>
              <a:rPr lang="en-US" dirty="0"/>
              <a:t>Group – provides a way to segregate access to specific files and directories</a:t>
            </a:r>
          </a:p>
          <a:p>
            <a:pPr lvl="1"/>
            <a:r>
              <a:rPr lang="en-US" dirty="0"/>
              <a:t>Groups most often share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006F1-8DB2-0359-71E8-64E42C8E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25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1BB3-7524-EC29-D157-ACEA986AC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108D2-F0F0-E195-DEC5-9AC976980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root account exists on all Linux distributions</a:t>
            </a:r>
          </a:p>
          <a:p>
            <a:pPr lvl="1"/>
            <a:r>
              <a:rPr lang="en-US" dirty="0"/>
              <a:t>Account with the most privileges</a:t>
            </a:r>
          </a:p>
          <a:p>
            <a:pPr lvl="1"/>
            <a:r>
              <a:rPr lang="en-US" dirty="0"/>
              <a:t>Ubuntu disables root by default</a:t>
            </a:r>
          </a:p>
          <a:p>
            <a:pPr lvl="1"/>
            <a:r>
              <a:rPr lang="en-US" dirty="0"/>
              <a:t>Asks to create an admin account when installing the </a:t>
            </a:r>
            <a:r>
              <a:rPr lang="en-US" dirty="0" err="1"/>
              <a:t>os</a:t>
            </a:r>
            <a:endParaRPr lang="en-US" dirty="0"/>
          </a:p>
          <a:p>
            <a:pPr lvl="1"/>
            <a:r>
              <a:rPr lang="en-US" dirty="0"/>
              <a:t>Instead of using the root account,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Example: require “super user do” to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apt</a:t>
            </a:r>
          </a:p>
          <a:p>
            <a:pPr marL="0" indent="0">
              <a:buNone/>
            </a:pPr>
            <a:r>
              <a:rPr lang="en-US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apt install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tmux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cs typeface="Courier New" panose="02070309020205020404" pitchFamily="49" charset="0"/>
              </a:rPr>
              <a:t>Without </a:t>
            </a:r>
            <a:r>
              <a:rPr lang="en-US" dirty="0" err="1">
                <a:cs typeface="Courier New" panose="02070309020205020404" pitchFamily="49" charset="0"/>
              </a:rPr>
              <a:t>sudo</a:t>
            </a:r>
            <a:r>
              <a:rPr lang="en-US" dirty="0">
                <a:cs typeface="Courier New" panose="02070309020205020404" pitchFamily="49" charset="0"/>
              </a:rPr>
              <a:t> you receive this error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(13:Permission denied)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C61D0-0B2D-3B4A-A446-BE6C5F86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82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76060-0BF5-EA77-435A-48EC7BD1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and Removing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23C59-E3A7-8A7C-DBF4-5A14EA140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useradd</a:t>
            </a:r>
            <a:r>
              <a:rPr lang="en-US" dirty="0"/>
              <a:t> command:</a:t>
            </a:r>
          </a:p>
          <a:p>
            <a:pPr lvl="1"/>
            <a:r>
              <a:rPr lang="en-US" dirty="0"/>
              <a:t>Need to create a user id for </a:t>
            </a:r>
            <a:r>
              <a:rPr lang="en-US" dirty="0" err="1"/>
              <a:t>jdoe</a:t>
            </a:r>
            <a:endParaRPr lang="en-US" dirty="0"/>
          </a:p>
          <a:p>
            <a:pPr lvl="1"/>
            <a:r>
              <a:rPr lang="en-US" dirty="0"/>
              <a:t>Need to provide a home directory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useradd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–d /home/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jdoe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–m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jdoe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Need to create a password for the new user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passwd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jdoe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 password: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$4newid4$</a:t>
            </a: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Retype new password passwd: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$4newid4$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Password updated successfully</a:t>
            </a:r>
            <a:endParaRPr lang="en-US" sz="2000" b="1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Alternate command to use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Will prompt for password and </a:t>
            </a:r>
            <a:r>
              <a:rPr lang="en-US">
                <a:cs typeface="Courier New" panose="02070309020205020404" pitchFamily="49" charset="0"/>
              </a:rPr>
              <a:t>5 other items</a:t>
            </a: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sudu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adduser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rcruz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99AE2-1CCA-D535-5F01-F3020BDB4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68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21FF3-8B0D-243C-0AB1-B79A7B7B2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/passwd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16649-48F1-0CD4-741C-9DB9B18A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2936"/>
            <a:ext cx="8229600" cy="4876800"/>
          </a:xfrm>
        </p:spPr>
        <p:txBody>
          <a:bodyPr>
            <a:noAutofit/>
          </a:bodyPr>
          <a:lstStyle/>
          <a:p>
            <a:r>
              <a:rPr lang="en-US" sz="1600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The /</a:t>
            </a:r>
            <a:r>
              <a:rPr lang="en-US" sz="1600" b="0" i="0" dirty="0" err="1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etc</a:t>
            </a:r>
            <a:r>
              <a:rPr lang="en-US" sz="1600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/passwd contains one entry per line for each user (user account) of the system.</a:t>
            </a:r>
          </a:p>
          <a:p>
            <a:r>
              <a:rPr lang="en-US" sz="1600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All fields are separated by a colon</a:t>
            </a:r>
            <a:endParaRPr lang="en-US" sz="1600" dirty="0"/>
          </a:p>
          <a:p>
            <a:r>
              <a:rPr lang="en-US" sz="1600" dirty="0"/>
              <a:t>/</a:t>
            </a:r>
            <a:r>
              <a:rPr lang="en-US" sz="1600" dirty="0" err="1"/>
              <a:t>etc</a:t>
            </a:r>
            <a:r>
              <a:rPr lang="en-US" sz="1600" dirty="0"/>
              <a:t>/passwd file format</a:t>
            </a:r>
          </a:p>
          <a:p>
            <a:r>
              <a:rPr lang="en-US" sz="1600" dirty="0"/>
              <a:t>Username: It is used when user logs in. It should be between 1 and 32 characters in length.</a:t>
            </a:r>
          </a:p>
          <a:p>
            <a:r>
              <a:rPr lang="en-US" sz="1600" dirty="0"/>
              <a:t>Password: An x character indicates that encrypted password is stored in /</a:t>
            </a:r>
            <a:r>
              <a:rPr lang="en-US" sz="1600" dirty="0" err="1"/>
              <a:t>etc</a:t>
            </a:r>
            <a:r>
              <a:rPr lang="en-US" sz="1600" dirty="0"/>
              <a:t>/shadow file. Please note that you need to use the passwd command to computes the hash of a password typed at the CLI or to store/update the hash of the password in /</a:t>
            </a:r>
            <a:r>
              <a:rPr lang="en-US" sz="1600" dirty="0" err="1"/>
              <a:t>etc</a:t>
            </a:r>
            <a:r>
              <a:rPr lang="en-US" sz="1600" dirty="0"/>
              <a:t>/shadow file.</a:t>
            </a:r>
          </a:p>
          <a:p>
            <a:r>
              <a:rPr lang="en-US" sz="1600" dirty="0"/>
              <a:t>User ID (UID): Each user must be assigned a user ID (UID). UID 0 (zero) is reserved for root and UIDs 1-99 are reserved for other predefined accounts. Further UID 100-999 are reserved by system for administrative and system accounts/groups.</a:t>
            </a:r>
          </a:p>
          <a:p>
            <a:r>
              <a:rPr lang="en-US" sz="1600" dirty="0"/>
              <a:t>Group ID (GID): The primary group ID (stored in /</a:t>
            </a:r>
            <a:r>
              <a:rPr lang="en-US" sz="1600" dirty="0" err="1"/>
              <a:t>etc</a:t>
            </a:r>
            <a:r>
              <a:rPr lang="en-US" sz="1600" dirty="0"/>
              <a:t>/group file)</a:t>
            </a:r>
          </a:p>
          <a:p>
            <a:r>
              <a:rPr lang="en-US" sz="1600" dirty="0"/>
              <a:t>User ID Info (GECOS): The comment field. It allow you to add extra information about the users such as user’s full name, phone number etc. This field use by finger command.</a:t>
            </a:r>
          </a:p>
          <a:p>
            <a:r>
              <a:rPr lang="en-US" sz="1600" dirty="0"/>
              <a:t>Home directory: The absolute path to the directory the user will be in when they log in. If this directory does not exists then users directory becomes /</a:t>
            </a:r>
          </a:p>
          <a:p>
            <a:r>
              <a:rPr lang="en-US" sz="1600" dirty="0"/>
              <a:t>Command/shell: The absolute path of a command or shell (/bin/bash). Typically, this is a shell. Please note that it does not have to be a shell. For example, sysadmin can use the </a:t>
            </a:r>
            <a:r>
              <a:rPr lang="en-US" sz="1600" dirty="0" err="1"/>
              <a:t>nologin</a:t>
            </a:r>
            <a:r>
              <a:rPr lang="en-US" sz="1600" dirty="0"/>
              <a:t> shell, which acts as a replacement shell for the user accounts. If shell set to /</a:t>
            </a:r>
            <a:r>
              <a:rPr lang="en-US" sz="1600" dirty="0" err="1"/>
              <a:t>sbin</a:t>
            </a:r>
            <a:r>
              <a:rPr lang="en-US" sz="1600" dirty="0"/>
              <a:t>/</a:t>
            </a:r>
            <a:r>
              <a:rPr lang="en-US" sz="1600" dirty="0" err="1"/>
              <a:t>nologin</a:t>
            </a:r>
            <a:r>
              <a:rPr lang="en-US" sz="1600" dirty="0"/>
              <a:t> and the user tries to log in to the Linux system directly, the /</a:t>
            </a:r>
            <a:r>
              <a:rPr lang="en-US" sz="1600" dirty="0" err="1"/>
              <a:t>sbin</a:t>
            </a:r>
            <a:r>
              <a:rPr lang="en-US" sz="1600" dirty="0"/>
              <a:t>/</a:t>
            </a:r>
            <a:r>
              <a:rPr lang="en-US" sz="1600" dirty="0" err="1"/>
              <a:t>nologin</a:t>
            </a:r>
            <a:r>
              <a:rPr lang="en-US" sz="1600" dirty="0"/>
              <a:t> shell closes the connection.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5ADCD-F96D-75FB-886C-8FC051B2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916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18425-057F-C436-C1F3-4AAFF8D54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/passwd file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36CA36-647F-B3A5-734A-D2FCA0E8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8E148-08E5-D9E4-5EA4-F6CED5C88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" y="2159000"/>
            <a:ext cx="77597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15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/shadow file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219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Listed below are the fields, separated by colons that are stored in the /</a:t>
            </a:r>
            <a:r>
              <a:rPr lang="en-US" sz="1400" dirty="0" err="1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etc</a:t>
            </a: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/shadow file.</a:t>
            </a:r>
            <a:endParaRPr lang="en-US" sz="1400" dirty="0">
              <a:effectLst/>
              <a:ea typeface="PMingLiU" panose="02020500000000000000" pitchFamily="18" charset="-12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400" b="1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Username</a:t>
            </a: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 : It is your login name.</a:t>
            </a:r>
            <a:endParaRPr lang="en-US" sz="1400" dirty="0">
              <a:effectLst/>
              <a:ea typeface="PMingLiU" panose="02020500000000000000" pitchFamily="18" charset="-12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400" b="1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Password</a:t>
            </a: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 : It is your encrypted password. The password should be minimum 8-12 characters long including special characters, digits, lower case alphabetic and more. Usually password format is set to $</a:t>
            </a:r>
            <a:r>
              <a:rPr lang="en-US" sz="1400" dirty="0" err="1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id$salt$hashed</a:t>
            </a: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, The $id is the algorithm used On GNU/Linux as follows:</a:t>
            </a:r>
            <a:endParaRPr lang="en-US" sz="1400" dirty="0">
              <a:effectLst/>
              <a:ea typeface="PMingLiU" panose="02020500000000000000" pitchFamily="18" charset="-120"/>
            </a:endParaRPr>
          </a:p>
          <a:p>
            <a:pPr marL="1017270" marR="0" indent="-28575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$1$ is MD5</a:t>
            </a:r>
            <a:endParaRPr lang="en-US" sz="1400" dirty="0">
              <a:effectLst/>
              <a:ea typeface="PMingLiU" panose="02020500000000000000" pitchFamily="18" charset="-120"/>
            </a:endParaRPr>
          </a:p>
          <a:p>
            <a:pPr marL="1017270" marR="0" indent="-28575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$2a$ is Blowfish</a:t>
            </a:r>
            <a:endParaRPr lang="en-US" sz="1400" dirty="0">
              <a:effectLst/>
              <a:ea typeface="PMingLiU" panose="02020500000000000000" pitchFamily="18" charset="-120"/>
            </a:endParaRPr>
          </a:p>
          <a:p>
            <a:pPr marL="1017270" marR="0" indent="-28575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$2y$ is Blowfish</a:t>
            </a:r>
            <a:endParaRPr lang="en-US" sz="1400" dirty="0">
              <a:effectLst/>
              <a:ea typeface="PMingLiU" panose="02020500000000000000" pitchFamily="18" charset="-120"/>
            </a:endParaRPr>
          </a:p>
          <a:p>
            <a:pPr marL="1017270" marR="0" indent="-28575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$5$ is SHA-256</a:t>
            </a:r>
            <a:endParaRPr lang="en-US" sz="1400" dirty="0">
              <a:effectLst/>
              <a:ea typeface="PMingLiU" panose="02020500000000000000" pitchFamily="18" charset="-120"/>
            </a:endParaRPr>
          </a:p>
          <a:p>
            <a:pPr marL="1017270" marR="0" indent="-28575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$6$ is SHA-512</a:t>
            </a:r>
            <a:endParaRPr lang="en-US" sz="1400" dirty="0">
              <a:effectLst/>
              <a:ea typeface="PMingLiU" panose="02020500000000000000" pitchFamily="18" charset="-120"/>
            </a:endParaRPr>
          </a:p>
          <a:p>
            <a:pPr marL="102870" marR="0" indent="-28575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The $salt is the salt used along with the password. The salt adds another layer of protection.</a:t>
            </a:r>
            <a:endParaRPr lang="en-US" sz="1400" dirty="0">
              <a:effectLst/>
              <a:ea typeface="PMingLiU" panose="02020500000000000000" pitchFamily="18" charset="-120"/>
            </a:endParaRPr>
          </a:p>
          <a:p>
            <a:pPr marL="102870" marR="0" indent="-28575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	The $hashed is the password hash that includes the salt</a:t>
            </a:r>
            <a:endParaRPr lang="en-US" sz="1400" dirty="0">
              <a:effectLst/>
              <a:ea typeface="PMingLiU" panose="02020500000000000000" pitchFamily="18" charset="-12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400" b="1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Last password change (</a:t>
            </a:r>
            <a:r>
              <a:rPr lang="en-US" sz="1400" b="1" dirty="0" err="1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lastchanged</a:t>
            </a:r>
            <a:r>
              <a:rPr lang="en-US" sz="1400" b="1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 : Days since Jan 1, 1970 that password was last changed</a:t>
            </a:r>
            <a:endParaRPr lang="en-US" sz="1400" dirty="0">
              <a:effectLst/>
              <a:ea typeface="PMingLiU" panose="02020500000000000000" pitchFamily="18" charset="-12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400" b="1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Minimum</a:t>
            </a: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 : The minimum number of days required between password changes i.e. the number of days left before the user is allowed to change his/her password</a:t>
            </a:r>
            <a:endParaRPr lang="en-US" sz="1400" dirty="0">
              <a:effectLst/>
              <a:ea typeface="PMingLiU" panose="02020500000000000000" pitchFamily="18" charset="-12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400" b="1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Maximum</a:t>
            </a: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 : The maximum number of days the password is valid (after that user is forced to change his/her password)</a:t>
            </a:r>
            <a:endParaRPr lang="en-US" sz="1400" dirty="0">
              <a:effectLst/>
              <a:ea typeface="PMingLiU" panose="02020500000000000000" pitchFamily="18" charset="-12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400" b="1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Warn</a:t>
            </a: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 : The number of days before password is to expire that user is warned that his/her password must be changed</a:t>
            </a:r>
            <a:endParaRPr lang="en-US" sz="1400" dirty="0">
              <a:effectLst/>
              <a:ea typeface="PMingLiU" panose="02020500000000000000" pitchFamily="18" charset="-12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400" b="1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Inactive</a:t>
            </a: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 : The number of days after password expires that account is disabled</a:t>
            </a:r>
            <a:endParaRPr lang="en-US" sz="1400" dirty="0">
              <a:effectLst/>
              <a:ea typeface="PMingLiU" panose="02020500000000000000" pitchFamily="18" charset="-12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400" b="1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Expire</a:t>
            </a:r>
            <a:r>
              <a:rPr lang="en-US" sz="1400" dirty="0">
                <a:effectLst/>
                <a:ea typeface="PMingLiU" panose="02020500000000000000" pitchFamily="18" charset="-120"/>
                <a:cs typeface="Times New Roman" panose="02020603050405020304" pitchFamily="18" charset="0"/>
              </a:rPr>
              <a:t> : days since Jan 1, 1970 that account is disabled i.e. an absolute date specifying when the login may no longer be used.</a:t>
            </a:r>
            <a:endParaRPr lang="en-US" sz="1400" dirty="0">
              <a:effectLst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82231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C2541-9339-8585-4407-3192C0F6A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/shadow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7D3693-03B9-50AD-4AAD-59A23A91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F4FB95-DC85-03DC-ECC6-8768B1FC7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" y="2159000"/>
            <a:ext cx="77597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705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D57A5-E1ED-75B4-9B4E-86B7EF4E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skel</a:t>
            </a:r>
            <a:r>
              <a:rPr lang="en-US" dirty="0"/>
              <a:t> – default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39-BBD2-19DB-6621-F145986AC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Distributing default configuration files with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skel</a:t>
            </a:r>
            <a:endParaRPr lang="en-US" dirty="0"/>
          </a:p>
          <a:p>
            <a:r>
              <a:rPr lang="en-US" dirty="0"/>
              <a:t>In a typical organization, there are usually some defaults that are recommended for users in terms of files and configuration.</a:t>
            </a:r>
          </a:p>
          <a:p>
            <a:r>
              <a:rPr lang="en-US" dirty="0"/>
              <a:t>For example, in a company that performs software development, there are likely recommended settings for text editors and version control systems. Files that are contained within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skel</a:t>
            </a:r>
            <a:r>
              <a:rPr lang="en-US" dirty="0"/>
              <a:t> are copied into the home directory for all new users when you create them (assuming you’ve chosen to create a home directory while setting up the user).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6C7D6-6A7D-C1E4-60E6-ADD89D013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7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>
                <a:latin typeface="Arial" charset="0"/>
              </a:rPr>
              <a:t>Access Permissions</a:t>
            </a:r>
          </a:p>
        </p:txBody>
      </p:sp>
      <p:sp>
        <p:nvSpPr>
          <p:cNvPr id="48130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28FD1C2-3C46-644C-838E-1CB997E72F53}" type="slidenum">
              <a:rPr lang="en-US" sz="1400"/>
              <a:pPr eaLnBrk="1" hangingPunct="1"/>
              <a:t>10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32577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6576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Permissions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571812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Permissions apply to files, directories, </a:t>
            </a:r>
            <a:br>
              <a:rPr lang="en-US" dirty="0"/>
            </a:br>
            <a:r>
              <a:rPr lang="en-US" dirty="0"/>
              <a:t>and links</a:t>
            </a:r>
          </a:p>
          <a:p>
            <a:r>
              <a:rPr lang="en-US" dirty="0"/>
              <a:t>Their basis is the right to read, write, </a:t>
            </a:r>
            <a:br>
              <a:rPr lang="en-US" dirty="0"/>
            </a:br>
            <a:r>
              <a:rPr lang="en-US" dirty="0"/>
              <a:t>and execute</a:t>
            </a:r>
          </a:p>
          <a:p>
            <a:pPr lvl="1"/>
            <a:r>
              <a:rPr lang="en-US" dirty="0"/>
              <a:t>Read is only that</a:t>
            </a:r>
          </a:p>
          <a:p>
            <a:pPr lvl="1"/>
            <a:r>
              <a:rPr lang="en-US" dirty="0"/>
              <a:t>Write includes create, modify or delete</a:t>
            </a:r>
          </a:p>
          <a:p>
            <a:pPr lvl="1"/>
            <a:r>
              <a:rPr lang="en-US" dirty="0"/>
              <a:t>Execute is in the sense of running a script </a:t>
            </a:r>
            <a:br>
              <a:rPr lang="en-US" dirty="0"/>
            </a:br>
            <a:r>
              <a:rPr lang="en-US" dirty="0"/>
              <a:t>or application</a:t>
            </a:r>
          </a:p>
        </p:txBody>
      </p:sp>
    </p:spTree>
    <p:extLst>
      <p:ext uri="{BB962C8B-B14F-4D97-AF65-F5344CB8AC3E}">
        <p14:creationId xmlns:p14="http://schemas.microsoft.com/office/powerpoint/2010/main" val="2168072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1"/>
          <p:cNvSpPr>
            <a:spLocks noGrp="1"/>
          </p:cNvSpPr>
          <p:nvPr>
            <p:ph sz="quarter" idx="11"/>
          </p:nvPr>
        </p:nvSpPr>
        <p:spPr>
          <a:xfrm>
            <a:off x="228600" y="457200"/>
            <a:ext cx="8686800" cy="5334000"/>
          </a:xfrm>
        </p:spPr>
        <p:txBody>
          <a:bodyPr/>
          <a:lstStyle/>
          <a:p>
            <a:pPr marL="0" indent="0"/>
            <a:endParaRPr lang="en-US" dirty="0">
              <a:latin typeface="Times New Roman" charset="0"/>
            </a:endParaRPr>
          </a:p>
        </p:txBody>
      </p:sp>
      <p:pic>
        <p:nvPicPr>
          <p:cNvPr id="1433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39913"/>
            <a:ext cx="8229600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9876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6576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Permissions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571812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a full listing (</a:t>
            </a:r>
            <a:r>
              <a:rPr lang="en-US" dirty="0" err="1"/>
              <a:t>ls</a:t>
            </a:r>
            <a:r>
              <a:rPr lang="en-US" dirty="0"/>
              <a:t> –l) the permissions </a:t>
            </a:r>
            <a:br>
              <a:rPr lang="en-US" dirty="0"/>
            </a:br>
            <a:r>
              <a:rPr lang="en-US" dirty="0"/>
              <a:t>for each entry are shown</a:t>
            </a:r>
          </a:p>
          <a:p>
            <a:r>
              <a:rPr lang="en-US" dirty="0"/>
              <a:t>In order, they pertain to the User, their Group members, and Other (anyone else)</a:t>
            </a:r>
          </a:p>
          <a:p>
            <a:r>
              <a:rPr lang="en-US" dirty="0"/>
              <a:t>For each of those categories, read (r), write (w) and execute (x)</a:t>
            </a:r>
          </a:p>
          <a:p>
            <a:pPr lvl="1"/>
            <a:r>
              <a:rPr lang="en-US" dirty="0"/>
              <a:t>So what does </a:t>
            </a:r>
            <a:r>
              <a:rPr lang="en-US" dirty="0" err="1"/>
              <a:t>rwxr-xr</a:t>
            </a:r>
            <a:r>
              <a:rPr lang="en-US" dirty="0"/>
              <a:t>–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882" y="5348940"/>
            <a:ext cx="59465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read write execute permission for user</a:t>
            </a:r>
          </a:p>
          <a:p>
            <a:r>
              <a:rPr lang="en-US" sz="2000" dirty="0"/>
              <a:t>read execute permission for group</a:t>
            </a:r>
          </a:p>
          <a:p>
            <a:r>
              <a:rPr lang="en-US" sz="2000" dirty="0"/>
              <a:t>read permission for others</a:t>
            </a:r>
          </a:p>
        </p:txBody>
      </p:sp>
    </p:spTree>
    <p:extLst>
      <p:ext uri="{BB962C8B-B14F-4D97-AF65-F5344CB8AC3E}">
        <p14:creationId xmlns:p14="http://schemas.microsoft.com/office/powerpoint/2010/main" val="164759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6576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charset="0"/>
              </a:rPr>
              <a:t>Permissions – bit representation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571812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decimal numbers used to represent and set permissions are derived from bit settings for user group and others.</a:t>
            </a:r>
          </a:p>
          <a:p>
            <a:pPr marL="0" indent="0">
              <a:buNone/>
            </a:pPr>
            <a:r>
              <a:rPr lang="en-US" sz="4000" dirty="0"/>
              <a:t>  		</a:t>
            </a:r>
            <a:r>
              <a:rPr lang="en-US" sz="4400" dirty="0"/>
              <a:t>2</a:t>
            </a:r>
            <a:r>
              <a:rPr lang="en-US" sz="4400" baseline="30000" dirty="0"/>
              <a:t>2 </a:t>
            </a:r>
            <a:r>
              <a:rPr lang="en-US" sz="4400" dirty="0"/>
              <a:t>        2</a:t>
            </a:r>
            <a:r>
              <a:rPr lang="en-US" sz="4400" baseline="30000" dirty="0"/>
              <a:t>1          </a:t>
            </a:r>
            <a:r>
              <a:rPr lang="en-US" sz="4400" dirty="0"/>
              <a:t>2</a:t>
            </a:r>
            <a:r>
              <a:rPr lang="en-US" sz="4400" baseline="30000" dirty="0"/>
              <a:t>0 </a:t>
            </a:r>
          </a:p>
          <a:p>
            <a:pPr marL="0" indent="0">
              <a:buNone/>
            </a:pPr>
            <a:r>
              <a:rPr lang="en-US" sz="4400" baseline="30000" dirty="0"/>
              <a:t> </a:t>
            </a:r>
            <a:r>
              <a:rPr lang="en-US" sz="4400" dirty="0"/>
              <a:t>    	    </a:t>
            </a:r>
            <a:r>
              <a:rPr lang="en-US" sz="4400" baseline="30000" dirty="0"/>
              <a:t>4’s unit    2’s unit    1’s unit </a:t>
            </a:r>
          </a:p>
          <a:p>
            <a:pPr marL="0" indent="0">
              <a:buNone/>
            </a:pPr>
            <a:r>
              <a:rPr lang="en-US" baseline="30000" dirty="0"/>
              <a:t>          	        </a:t>
            </a:r>
            <a:r>
              <a:rPr lang="en-US" dirty="0"/>
              <a:t>read  	 write      execute</a:t>
            </a:r>
          </a:p>
          <a:p>
            <a:pPr marL="0" indent="0">
              <a:lnSpc>
                <a:spcPct val="120000"/>
              </a:lnSpc>
              <a:spcAft>
                <a:spcPts val="20"/>
              </a:spcAft>
              <a:buNone/>
            </a:pPr>
            <a:r>
              <a:rPr lang="en-US" sz="3600" baseline="30000" dirty="0"/>
              <a:t>Read only            1                        0                       0          =   4 in decimal</a:t>
            </a:r>
          </a:p>
          <a:p>
            <a:pPr marL="0" indent="0">
              <a:lnSpc>
                <a:spcPct val="120000"/>
              </a:lnSpc>
              <a:spcAft>
                <a:spcPts val="20"/>
              </a:spcAft>
              <a:buNone/>
            </a:pPr>
            <a:r>
              <a:rPr lang="en-US" sz="3600" baseline="30000" dirty="0"/>
              <a:t>Write only</a:t>
            </a:r>
            <a:r>
              <a:rPr lang="en-US" sz="3600" dirty="0"/>
              <a:t>       </a:t>
            </a:r>
            <a:r>
              <a:rPr lang="en-US" sz="3600" baseline="30000" dirty="0"/>
              <a:t>0                        1                       0           =   2 in decimal</a:t>
            </a:r>
            <a:r>
              <a:rPr lang="en-US" sz="3600" dirty="0"/>
              <a:t>      </a:t>
            </a:r>
            <a:endParaRPr lang="en-US" sz="3600" baseline="30000" dirty="0"/>
          </a:p>
          <a:p>
            <a:pPr marL="0" indent="0">
              <a:lnSpc>
                <a:spcPct val="120000"/>
              </a:lnSpc>
              <a:spcAft>
                <a:spcPts val="620"/>
              </a:spcAft>
              <a:buNone/>
            </a:pPr>
            <a:r>
              <a:rPr lang="en-US" sz="3600" baseline="30000" dirty="0"/>
              <a:t>Execute</a:t>
            </a:r>
            <a:r>
              <a:rPr lang="en-US" sz="3600" dirty="0"/>
              <a:t> </a:t>
            </a:r>
            <a:r>
              <a:rPr lang="en-US" sz="3600" baseline="30000" dirty="0"/>
              <a:t>only      0                        0                       1           =  1 in decimal </a:t>
            </a:r>
          </a:p>
          <a:p>
            <a:pPr marL="0" indent="0">
              <a:lnSpc>
                <a:spcPct val="120000"/>
              </a:lnSpc>
              <a:spcAft>
                <a:spcPts val="620"/>
              </a:spcAft>
              <a:buNone/>
            </a:pPr>
            <a:r>
              <a:rPr lang="en-US" sz="3600" baseline="30000" dirty="0" err="1"/>
              <a:t>Read+Write</a:t>
            </a:r>
            <a:r>
              <a:rPr lang="en-US" sz="3600" baseline="30000" dirty="0"/>
              <a:t>        1                        1                       0           =  4+2 = 6 in decimal</a:t>
            </a:r>
          </a:p>
          <a:p>
            <a:pPr marL="0" indent="0">
              <a:lnSpc>
                <a:spcPct val="120000"/>
              </a:lnSpc>
              <a:spcAft>
                <a:spcPts val="620"/>
              </a:spcAft>
              <a:buNone/>
            </a:pPr>
            <a:endParaRPr lang="en-US" baseline="30000" dirty="0"/>
          </a:p>
          <a:p>
            <a:pPr marL="0" indent="0">
              <a:lnSpc>
                <a:spcPct val="120000"/>
              </a:lnSpc>
              <a:spcAft>
                <a:spcPts val="620"/>
              </a:spcAft>
              <a:buNone/>
            </a:pPr>
            <a:r>
              <a:rPr lang="en-US" baseline="30000" dirty="0"/>
              <a:t>		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25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6576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charset="0"/>
              </a:rPr>
              <a:t>Changing permissions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571812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numeric format might look like</a:t>
            </a:r>
          </a:p>
          <a:p>
            <a:pPr lvl="1"/>
            <a:r>
              <a:rPr lang="en-US" dirty="0" err="1"/>
              <a:t>chmod</a:t>
            </a:r>
            <a:r>
              <a:rPr lang="en-US" dirty="0"/>
              <a:t> 751 filename</a:t>
            </a:r>
          </a:p>
          <a:p>
            <a:r>
              <a:rPr lang="en-US" dirty="0"/>
              <a:t>Whereas the text format might say</a:t>
            </a:r>
          </a:p>
          <a:p>
            <a:pPr lvl="1"/>
            <a:r>
              <a:rPr lang="en-US" dirty="0" err="1"/>
              <a:t>chmod</a:t>
            </a:r>
            <a:r>
              <a:rPr lang="en-US" dirty="0"/>
              <a:t> </a:t>
            </a:r>
            <a:r>
              <a:rPr lang="en-US" dirty="0" err="1"/>
              <a:t>u+rw</a:t>
            </a:r>
            <a:r>
              <a:rPr lang="en-US" dirty="0"/>
              <a:t> filename</a:t>
            </a:r>
          </a:p>
          <a:p>
            <a:pPr lvl="1"/>
            <a:r>
              <a:rPr lang="en-US" dirty="0"/>
              <a:t>Meaning the user (u) adds (+) read and write (</a:t>
            </a:r>
            <a:r>
              <a:rPr lang="en-US" dirty="0" err="1"/>
              <a:t>rw</a:t>
            </a:r>
            <a:r>
              <a:rPr lang="en-US" dirty="0"/>
              <a:t>) permissions to filename</a:t>
            </a:r>
          </a:p>
          <a:p>
            <a:pPr lvl="1"/>
            <a:r>
              <a:rPr lang="en-US" dirty="0"/>
              <a:t>Before the operator, </a:t>
            </a:r>
            <a:r>
              <a:rPr lang="en-US" i="1" dirty="0"/>
              <a:t>u g o a </a:t>
            </a:r>
            <a:r>
              <a:rPr lang="en-US" dirty="0"/>
              <a:t>mean </a:t>
            </a:r>
            <a:r>
              <a:rPr lang="en-US" u="sng" dirty="0"/>
              <a:t>u</a:t>
            </a:r>
            <a:r>
              <a:rPr lang="en-US" dirty="0"/>
              <a:t>ser, </a:t>
            </a:r>
            <a:r>
              <a:rPr lang="en-US" u="sng" dirty="0"/>
              <a:t>g</a:t>
            </a:r>
            <a:r>
              <a:rPr lang="en-US" dirty="0"/>
              <a:t>roup, </a:t>
            </a:r>
            <a:r>
              <a:rPr lang="en-US" u="sng" dirty="0"/>
              <a:t>o</a:t>
            </a:r>
            <a:r>
              <a:rPr lang="en-US" dirty="0"/>
              <a:t>ther, or </a:t>
            </a:r>
            <a:r>
              <a:rPr lang="en-US" u="sng" dirty="0"/>
              <a:t>a</a:t>
            </a:r>
            <a:r>
              <a:rPr lang="en-US" dirty="0"/>
              <a:t>ll users</a:t>
            </a:r>
          </a:p>
          <a:p>
            <a:pPr lvl="2"/>
            <a:r>
              <a:rPr lang="en-US" dirty="0"/>
              <a:t>A plus operator adds permissions, - removes them</a:t>
            </a:r>
          </a:p>
        </p:txBody>
      </p:sp>
    </p:spTree>
    <p:extLst>
      <p:ext uri="{BB962C8B-B14F-4D97-AF65-F5344CB8AC3E}">
        <p14:creationId xmlns:p14="http://schemas.microsoft.com/office/powerpoint/2010/main" val="1576364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6576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charset="0"/>
              </a:rPr>
              <a:t>Changing permissions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571812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Here are some additional formats:</a:t>
            </a:r>
          </a:p>
          <a:p>
            <a:pPr marL="274320" lvl="1" indent="0">
              <a:buNone/>
            </a:pPr>
            <a:r>
              <a:rPr lang="en-US" dirty="0"/>
              <a:t>$ </a:t>
            </a:r>
            <a:r>
              <a:rPr lang="en-US" dirty="0" err="1"/>
              <a:t>chmod</a:t>
            </a:r>
            <a:r>
              <a:rPr lang="en-US" dirty="0"/>
              <a:t> o-x filename</a:t>
            </a:r>
          </a:p>
          <a:p>
            <a:pPr lvl="1"/>
            <a:r>
              <a:rPr lang="en-US" dirty="0"/>
              <a:t>Meaning take away the execute permission for others</a:t>
            </a:r>
          </a:p>
          <a:p>
            <a:pPr marL="274320" lvl="1" indent="0">
              <a:buNone/>
            </a:pPr>
            <a:r>
              <a:rPr lang="en-US" dirty="0"/>
              <a:t>$ </a:t>
            </a:r>
            <a:r>
              <a:rPr lang="en-US" dirty="0" err="1"/>
              <a:t>chmod</a:t>
            </a:r>
            <a:r>
              <a:rPr lang="en-US" dirty="0"/>
              <a:t> a=</a:t>
            </a:r>
            <a:r>
              <a:rPr lang="en-US" dirty="0" err="1"/>
              <a:t>rw</a:t>
            </a:r>
            <a:r>
              <a:rPr lang="en-US" dirty="0"/>
              <a:t> filename</a:t>
            </a:r>
          </a:p>
          <a:p>
            <a:pPr lvl="1"/>
            <a:r>
              <a:rPr lang="en-US" dirty="0"/>
              <a:t>Sets read write permissions for user, group and others </a:t>
            </a:r>
          </a:p>
          <a:p>
            <a:pPr marL="274320" lvl="1" indent="0">
              <a:buNone/>
            </a:pPr>
            <a:r>
              <a:rPr lang="en-US" dirty="0"/>
              <a:t>$ </a:t>
            </a:r>
            <a:r>
              <a:rPr lang="en-US" dirty="0" err="1"/>
              <a:t>chmod</a:t>
            </a:r>
            <a:r>
              <a:rPr lang="en-US" dirty="0"/>
              <a:t> g=  filename</a:t>
            </a:r>
          </a:p>
          <a:p>
            <a:pPr lvl="1"/>
            <a:r>
              <a:rPr lang="en-US" dirty="0"/>
              <a:t>Takes away read, write and execute permissions for group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956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privileges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Some commands can damage or crash the operating system</a:t>
            </a:r>
          </a:p>
          <a:p>
            <a:r>
              <a:rPr lang="en-US" dirty="0"/>
              <a:t>Most Linux servers are configured </a:t>
            </a:r>
            <a:r>
              <a:rPr lang="en-US" b="1" dirty="0"/>
              <a:t>not</a:t>
            </a:r>
            <a:r>
              <a:rPr lang="en-US" dirty="0"/>
              <a:t> to permit ordinary users to execute system commands or access to certain files</a:t>
            </a:r>
          </a:p>
          <a:p>
            <a:r>
              <a:rPr lang="en-US" dirty="0"/>
              <a:t>A user with access to all files and commands is referred to as:</a:t>
            </a:r>
          </a:p>
          <a:p>
            <a:pPr lvl="1"/>
            <a:r>
              <a:rPr lang="en-US" dirty="0"/>
              <a:t>a system administrator or administrator</a:t>
            </a:r>
          </a:p>
          <a:p>
            <a:pPr lvl="1"/>
            <a:r>
              <a:rPr lang="en-US" dirty="0"/>
              <a:t>a Privileged user</a:t>
            </a:r>
          </a:p>
          <a:p>
            <a:pPr lvl="1"/>
            <a:r>
              <a:rPr lang="en-US" dirty="0"/>
              <a:t>a superuser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59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Administrator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system administrator is a user permitted to run programs with root privileges</a:t>
            </a:r>
          </a:p>
          <a:p>
            <a:r>
              <a:rPr lang="en-US" dirty="0"/>
              <a:t>System administrators are ultimately responsible for system security</a:t>
            </a:r>
          </a:p>
          <a:p>
            <a:r>
              <a:rPr lang="en-US" dirty="0"/>
              <a:t>sudo </a:t>
            </a:r>
            <a:r>
              <a:rPr lang="mr-IN" dirty="0"/>
              <a:t>–</a:t>
            </a:r>
            <a:r>
              <a:rPr lang="en-US" dirty="0"/>
              <a:t> a user with sudo privilege can use sudo to run programs as root</a:t>
            </a:r>
          </a:p>
          <a:p>
            <a:r>
              <a:rPr lang="en-US" dirty="0"/>
              <a:t>Ubuntu default</a:t>
            </a:r>
          </a:p>
          <a:p>
            <a:pPr lvl="1"/>
            <a:r>
              <a:rPr lang="en-US" dirty="0"/>
              <a:t>No root password</a:t>
            </a:r>
          </a:p>
          <a:p>
            <a:pPr lvl="1"/>
            <a:r>
              <a:rPr lang="en-US" dirty="0"/>
              <a:t>To use sudo a user must authenticate with </a:t>
            </a:r>
            <a:r>
              <a:rPr lang="en-US" b="1" dirty="0"/>
              <a:t>their</a:t>
            </a:r>
            <a:r>
              <a:rPr lang="en-US" dirty="0"/>
              <a:t> password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87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Administrator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System administrators can change a users password, but the user will know about it</a:t>
            </a:r>
          </a:p>
          <a:p>
            <a:r>
              <a:rPr lang="en-US" dirty="0"/>
              <a:t>System administrators can access any file regardless of the permissions set by a user, but a user can encrypt a file that they can not decrypt.</a:t>
            </a:r>
          </a:p>
          <a:p>
            <a:r>
              <a:rPr lang="en-US" dirty="0"/>
              <a:t>Console Security- the console of a Linux system needs to be secured</a:t>
            </a:r>
          </a:p>
          <a:p>
            <a:pPr lvl="1"/>
            <a:r>
              <a:rPr lang="en-US" dirty="0"/>
              <a:t>Physical security may be required</a:t>
            </a:r>
          </a:p>
          <a:p>
            <a:pPr lvl="1"/>
            <a:r>
              <a:rPr lang="en-US" dirty="0"/>
              <a:t>Virtual console access (password to the hypervisor)</a:t>
            </a:r>
          </a:p>
          <a:p>
            <a:pPr lvl="1"/>
            <a:r>
              <a:rPr lang="en-US" dirty="0"/>
              <a:t>Setting a boot loader password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533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sudo</a:t>
            </a:r>
          </a:p>
        </p:txBody>
      </p:sp>
      <p:sp>
        <p:nvSpPr>
          <p:cNvPr id="32770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ACA2D19-AF8E-B048-85F7-0CD26F793399}" type="slidenum">
              <a:rPr lang="en-US" sz="1400"/>
              <a:pPr eaLnBrk="1" hangingPunct="1"/>
              <a:t>20</a:t>
            </a:fld>
            <a:endParaRPr lang="en-US" sz="1400" dirty="0"/>
          </a:p>
        </p:txBody>
      </p:sp>
      <p:sp>
        <p:nvSpPr>
          <p:cNvPr id="32772" name="TextBox 4"/>
          <p:cNvSpPr txBox="1">
            <a:spLocks noChangeArrowheads="1"/>
          </p:cNvSpPr>
          <p:nvPr/>
        </p:nvSpPr>
        <p:spPr bwMode="auto">
          <a:xfrm>
            <a:off x="500296" y="6010248"/>
            <a:ext cx="4648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>
                <a:latin typeface="+mn-lt"/>
              </a:rPr>
              <a:t>Partly from (Rankin, 2009)</a:t>
            </a:r>
          </a:p>
        </p:txBody>
      </p:sp>
    </p:spTree>
    <p:extLst>
      <p:ext uri="{BB962C8B-B14F-4D97-AF65-F5344CB8AC3E}">
        <p14:creationId xmlns:p14="http://schemas.microsoft.com/office/powerpoint/2010/main" val="662276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21</a:t>
            </a:fld>
            <a:endParaRPr 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6576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sudo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235481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have</a:t>
            </a:r>
            <a:r>
              <a:rPr lang="en-US" altLang="ja-JP" dirty="0"/>
              <a:t> been using </a:t>
            </a:r>
            <a:r>
              <a:rPr lang="en-US" altLang="ja-JP" dirty="0">
                <a:cs typeface="Courier New" charset="0"/>
              </a:rPr>
              <a:t>sudo</a:t>
            </a:r>
            <a:r>
              <a:rPr lang="en-US" altLang="ja-JP" dirty="0"/>
              <a:t> to execute root privilege commands</a:t>
            </a:r>
          </a:p>
          <a:p>
            <a:r>
              <a:rPr lang="en-US" i="1" dirty="0"/>
              <a:t>Ubuntu has disabled the root account </a:t>
            </a:r>
            <a:r>
              <a:rPr lang="en-US" dirty="0"/>
              <a:t>so you can</a:t>
            </a:r>
            <a:r>
              <a:rPr lang="ja-JP" altLang="en-US" dirty="0"/>
              <a:t>’</a:t>
            </a:r>
            <a:r>
              <a:rPr lang="en-US" altLang="ja-JP" dirty="0"/>
              <a:t>t log into it directly</a:t>
            </a:r>
          </a:p>
          <a:p>
            <a:pPr lvl="1"/>
            <a:r>
              <a:rPr lang="en-US" dirty="0"/>
              <a:t>Root login is a key brute force login target</a:t>
            </a:r>
          </a:p>
          <a:p>
            <a:r>
              <a:rPr lang="en-US" dirty="0"/>
              <a:t>sudo helps prevent mistakes from overusing root</a:t>
            </a:r>
          </a:p>
          <a:p>
            <a:r>
              <a:rPr lang="en-US" dirty="0"/>
              <a:t>To enable the root account provide it a password 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passwd root</a:t>
            </a:r>
          </a:p>
        </p:txBody>
      </p:sp>
    </p:spTree>
    <p:extLst>
      <p:ext uri="{BB962C8B-B14F-4D97-AF65-F5344CB8AC3E}">
        <p14:creationId xmlns:p14="http://schemas.microsoft.com/office/powerpoint/2010/main" val="750338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6576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sudo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571812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Key features of sudo include</a:t>
            </a:r>
          </a:p>
          <a:p>
            <a:pPr lvl="1"/>
            <a:r>
              <a:rPr lang="en-US" dirty="0"/>
              <a:t>Your user password applies to using sudo, not the root password</a:t>
            </a:r>
          </a:p>
          <a:p>
            <a:pPr lvl="2"/>
            <a:r>
              <a:rPr lang="en-US" dirty="0"/>
              <a:t>This allows you to execute root commands without knowing the root password</a:t>
            </a:r>
          </a:p>
          <a:p>
            <a:pPr lvl="1"/>
            <a:r>
              <a:rPr lang="en-US" dirty="0"/>
              <a:t>sudo can limit which commands you</a:t>
            </a:r>
            <a:r>
              <a:rPr lang="ja-JP" altLang="en-US" dirty="0"/>
              <a:t>’</a:t>
            </a:r>
            <a:r>
              <a:rPr lang="en-US" altLang="ja-JP" dirty="0"/>
              <a:t>re allowed to use, e.g. if you only need to use </a:t>
            </a:r>
            <a:r>
              <a:rPr lang="en-US" altLang="ja-JP" dirty="0">
                <a:cs typeface="Courier New" charset="0"/>
              </a:rPr>
              <a:t>apachectl</a:t>
            </a:r>
          </a:p>
          <a:p>
            <a:pPr lvl="1"/>
            <a:r>
              <a:rPr lang="en-US" dirty="0"/>
              <a:t>sudo allows privileges by group membership</a:t>
            </a:r>
          </a:p>
          <a:p>
            <a:pPr lvl="1"/>
            <a:r>
              <a:rPr lang="en-US" dirty="0"/>
              <a:t>To give a user </a:t>
            </a:r>
            <a:r>
              <a:rPr lang="en-US" dirty="0" err="1"/>
              <a:t>sudo</a:t>
            </a:r>
            <a:r>
              <a:rPr lang="en-US" dirty="0"/>
              <a:t> privileges use </a:t>
            </a:r>
            <a:r>
              <a:rPr lang="en-US" dirty="0" err="1"/>
              <a:t>usermod</a:t>
            </a:r>
            <a:endParaRPr lang="en-US" dirty="0"/>
          </a:p>
          <a:p>
            <a:pPr marL="27432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usermod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–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&lt;username&gt;</a:t>
            </a:r>
          </a:p>
        </p:txBody>
      </p:sp>
    </p:spTree>
    <p:extLst>
      <p:ext uri="{BB962C8B-B14F-4D97-AF65-F5344CB8AC3E}">
        <p14:creationId xmlns:p14="http://schemas.microsoft.com/office/powerpoint/2010/main" val="908874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23</a:t>
            </a:fld>
            <a:endParaRPr 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8075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sudo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571812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Once you use </a:t>
            </a:r>
            <a:r>
              <a:rPr lang="en-US" dirty="0">
                <a:cs typeface="Courier New" charset="0"/>
              </a:rPr>
              <a:t>sudo</a:t>
            </a:r>
            <a:r>
              <a:rPr lang="en-US" dirty="0"/>
              <a:t>, your login to it will automatically expire, providing protection </a:t>
            </a:r>
            <a:br>
              <a:rPr lang="en-US" dirty="0"/>
            </a:br>
            <a:r>
              <a:rPr lang="en-US" dirty="0"/>
              <a:t>if you leave the computer alone</a:t>
            </a:r>
          </a:p>
          <a:p>
            <a:pPr lvl="1"/>
            <a:r>
              <a:rPr lang="en-US" dirty="0"/>
              <a:t>All sudo access is logged, in </a:t>
            </a:r>
            <a:r>
              <a:rPr lang="en-US" dirty="0">
                <a:latin typeface="Courier New" charset="0"/>
                <a:cs typeface="Courier New" charset="0"/>
              </a:rPr>
              <a:t>/var/log/auth.log</a:t>
            </a:r>
          </a:p>
          <a:p>
            <a:pPr lvl="2"/>
            <a:r>
              <a:rPr lang="en-US" dirty="0"/>
              <a:t>Great for forensics!</a:t>
            </a:r>
          </a:p>
          <a:p>
            <a:pPr lvl="1"/>
            <a:r>
              <a:rPr lang="en-US" dirty="0"/>
              <a:t>Some scripts (e.g. </a:t>
            </a:r>
            <a:r>
              <a:rPr lang="en-US" dirty="0">
                <a:latin typeface="Courier New" charset="0"/>
                <a:cs typeface="Courier New" charset="0"/>
              </a:rPr>
              <a:t>cron</a:t>
            </a:r>
            <a:r>
              <a:rPr lang="en-US" dirty="0">
                <a:latin typeface="Arial" charset="0"/>
              </a:rPr>
              <a:t>) </a:t>
            </a:r>
            <a:r>
              <a:rPr lang="en-US" dirty="0"/>
              <a:t>might need to use </a:t>
            </a:r>
            <a:r>
              <a:rPr lang="en-US" dirty="0">
                <a:latin typeface="Courier New" charset="0"/>
                <a:cs typeface="Courier New" charset="0"/>
              </a:rPr>
              <a:t>sudo</a:t>
            </a:r>
            <a:r>
              <a:rPr lang="en-US" dirty="0">
                <a:latin typeface="Arial" charset="0"/>
              </a:rPr>
              <a:t> </a:t>
            </a:r>
            <a:r>
              <a:rPr lang="en-US" dirty="0"/>
              <a:t>without a password, and that can be authorized</a:t>
            </a:r>
          </a:p>
        </p:txBody>
      </p:sp>
    </p:spTree>
    <p:extLst>
      <p:ext uri="{BB962C8B-B14F-4D97-AF65-F5344CB8AC3E}">
        <p14:creationId xmlns:p14="http://schemas.microsoft.com/office/powerpoint/2010/main" val="408994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24</a:t>
            </a:fld>
            <a:endParaRPr 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6576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sudo - Configuration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571812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sudo configuration file is at </a:t>
            </a:r>
          </a:p>
          <a:p>
            <a:pPr lvl="1"/>
            <a:r>
              <a:rPr lang="en-US" dirty="0">
                <a:latin typeface="Courier New" charset="0"/>
                <a:cs typeface="Courier New" charset="0"/>
              </a:rPr>
              <a:t>/etc/sudoers</a:t>
            </a:r>
          </a:p>
          <a:p>
            <a:r>
              <a:rPr lang="en-US" dirty="0"/>
              <a:t>Members of the admin group can use all root privileges </a:t>
            </a:r>
          </a:p>
          <a:p>
            <a:pPr lvl="1"/>
            <a:r>
              <a:rPr lang="en-US" dirty="0"/>
              <a:t>The default account when installing Ubuntu allows this automatically</a:t>
            </a:r>
          </a:p>
          <a:p>
            <a:r>
              <a:rPr lang="en-US" dirty="0"/>
              <a:t>Somewhat recursively, you need to use </a:t>
            </a:r>
            <a:r>
              <a:rPr lang="en-US" dirty="0" err="1"/>
              <a:t>sudo</a:t>
            </a:r>
            <a:r>
              <a:rPr lang="en-US" dirty="0"/>
              <a:t> to edit its config file</a:t>
            </a:r>
          </a:p>
          <a:p>
            <a:pPr marL="274320" lvl="1" indent="0">
              <a:buNone/>
            </a:pPr>
            <a:r>
              <a:rPr lang="en-US" dirty="0" err="1">
                <a:latin typeface="Courier New" charset="0"/>
                <a:cs typeface="Courier New" charset="0"/>
              </a:rPr>
              <a:t>sudo</a:t>
            </a:r>
            <a:r>
              <a:rPr lang="en-US" dirty="0">
                <a:latin typeface="Courier New" charset="0"/>
                <a:cs typeface="Courier New" charset="0"/>
              </a:rPr>
              <a:t> </a:t>
            </a:r>
            <a:r>
              <a:rPr lang="en-US" dirty="0" err="1">
                <a:latin typeface="Courier New" charset="0"/>
                <a:cs typeface="Courier New" charset="0"/>
              </a:rPr>
              <a:t>visudo</a:t>
            </a:r>
            <a:endParaRPr lang="en-US" dirty="0">
              <a:latin typeface="Courier New" charset="0"/>
              <a:cs typeface="Courier New" charset="0"/>
            </a:endParaRPr>
          </a:p>
          <a:p>
            <a:r>
              <a:rPr lang="en-US" dirty="0"/>
              <a:t>The use of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visudo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checks for errors automatically</a:t>
            </a:r>
          </a:p>
          <a:p>
            <a:pPr lvl="1"/>
            <a:endParaRPr lang="en-US" dirty="0"/>
          </a:p>
          <a:p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1431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25</a:t>
            </a:fld>
            <a:endParaRPr 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6576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sudo - Configuration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571812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Aliases</a:t>
            </a:r>
          </a:p>
          <a:p>
            <a:pPr lvl="1"/>
            <a:r>
              <a:rPr lang="en-US" dirty="0"/>
              <a:t>There are four kinds of aliases: Host_Alias, User_Alias, Runas_Alias and Cmnd_Alias. Each alias definition is of the form:</a:t>
            </a:r>
          </a:p>
          <a:p>
            <a:pPr lvl="1"/>
            <a:r>
              <a:rPr lang="en-US" dirty="0"/>
              <a:t>Alias_Type NAME = item1, item2, ...</a:t>
            </a:r>
          </a:p>
          <a:p>
            <a:r>
              <a:rPr lang="en-US" dirty="0"/>
              <a:t>There are also built in aliases called ALL which match everything where they are used. If you used ALL in place of a user list it matches all users for example.</a:t>
            </a:r>
          </a:p>
        </p:txBody>
      </p:sp>
    </p:spTree>
    <p:extLst>
      <p:ext uri="{BB962C8B-B14F-4D97-AF65-F5344CB8AC3E}">
        <p14:creationId xmlns:p14="http://schemas.microsoft.com/office/powerpoint/2010/main" val="9631671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26</a:t>
            </a:fld>
            <a:endParaRPr 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6576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sudo </a:t>
            </a:r>
            <a:r>
              <a:rPr lang="mr-IN" dirty="0"/>
              <a:t>–</a:t>
            </a:r>
            <a:r>
              <a:rPr lang="en-US" dirty="0"/>
              <a:t> Configuration, Aliases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810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# Host aliases are subnets or hostnames.</a:t>
            </a:r>
          </a:p>
          <a:p>
            <a:pPr marL="0" indent="0">
              <a:buFontTx/>
              <a:buNone/>
            </a:pPr>
            <a:r>
              <a:rPr lang="pt-BR" sz="2000" dirty="0">
                <a:latin typeface="Arial" charset="0"/>
              </a:rPr>
              <a:t>Host_Alias   DMZ     = 212.118.81.40/28</a:t>
            </a:r>
          </a:p>
          <a:p>
            <a:pPr marL="0" indent="0">
              <a:buFontTx/>
              <a:buNone/>
            </a:pPr>
            <a:r>
              <a:rPr lang="pt-BR" sz="2000" dirty="0">
                <a:latin typeface="Arial" charset="0"/>
              </a:rPr>
              <a:t>Host_Alias   DESKTOP = work1, work2</a:t>
            </a:r>
          </a:p>
          <a:p>
            <a:pPr marL="0" indent="0">
              <a:buFontTx/>
              <a:buNone/>
            </a:pPr>
            <a:endParaRPr lang="en-US" sz="2000" dirty="0">
              <a:latin typeface="Arial" charset="0"/>
            </a:endParaRP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# User aliases are a list of users which can have the same rights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User_Alias   ADMINS  = colin, luca, admin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User_Alias   DEVEL   = joe, jack, julia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Runas_Alias  DBA     = oracle,pgsql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# You can also use ! to exclude users from an alias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# This matches anybody in the USERS alias who isn't in the DBA or ADMINS aliases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 User_Alias LIMITED_USERS = USERS, !DBA, !ADMINS</a:t>
            </a:r>
          </a:p>
          <a:p>
            <a:pPr marL="0" indent="0">
              <a:buFontTx/>
              <a:buNone/>
            </a:pPr>
            <a:endParaRPr lang="en-US" sz="2000" dirty="0">
              <a:latin typeface="Arial" charset="0"/>
            </a:endParaRPr>
          </a:p>
          <a:p>
            <a:pPr marL="0" indent="0">
              <a:buFontTx/>
              <a:buNone/>
            </a:pPr>
            <a:endParaRPr lang="pt-BR" sz="2000" dirty="0">
              <a:latin typeface="Arial" charset="0"/>
            </a:endParaRPr>
          </a:p>
          <a:p>
            <a:pPr marL="0" indent="0">
              <a:buFontTx/>
              <a:buNone/>
            </a:pPr>
            <a:endParaRPr lang="en-US" sz="20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12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6576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sudo </a:t>
            </a:r>
            <a:r>
              <a:rPr lang="mr-IN" dirty="0"/>
              <a:t>–</a:t>
            </a:r>
            <a:r>
              <a:rPr lang="en-US" dirty="0"/>
              <a:t> Configuration, Aliases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295400"/>
            <a:ext cx="8610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2800" dirty="0">
                <a:latin typeface="Arial" charset="0"/>
              </a:rPr>
              <a:t>Runas Aliases are almost the same as user aliases but you are allowed to specify users by uids (prefixed with '#’)</a:t>
            </a:r>
            <a:endParaRPr lang="en-US" sz="2400" dirty="0">
              <a:latin typeface="Arial" charset="0"/>
            </a:endParaRPr>
          </a:p>
          <a:p>
            <a:pPr marL="0" indent="0">
              <a:buFontTx/>
              <a:buNone/>
            </a:pPr>
            <a:r>
              <a:rPr lang="en-US" sz="2400" dirty="0">
                <a:latin typeface="Arial" charset="0"/>
              </a:rPr>
              <a:t> </a:t>
            </a:r>
            <a:r>
              <a:rPr lang="en-US" sz="2000" dirty="0">
                <a:latin typeface="Arial" charset="0"/>
              </a:rPr>
              <a:t># UID 0 is normally used for root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 # Note the hash (#) on the following line indicates a uid, not a comment.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 Runas_Alias ROOT = #0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 # This is for all the admin users similar to the User_Alias of ADMINS set earlier 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 # with the addition of "root"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 Runas_Alias ADMINS = %admin, root</a:t>
            </a:r>
          </a:p>
        </p:txBody>
      </p:sp>
    </p:spTree>
    <p:extLst>
      <p:ext uri="{BB962C8B-B14F-4D97-AF65-F5344CB8AC3E}">
        <p14:creationId xmlns:p14="http://schemas.microsoft.com/office/powerpoint/2010/main" val="1603687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28</a:t>
            </a:fld>
            <a:endParaRPr 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6576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sudo - Configuration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600200"/>
            <a:ext cx="838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2400" dirty="0">
                <a:latin typeface="Arial" charset="0"/>
              </a:rPr>
              <a:t># Command aliases define the full path of a list of commands</a:t>
            </a:r>
          </a:p>
          <a:p>
            <a:pPr marL="0" indent="0">
              <a:buFontTx/>
              <a:buNone/>
            </a:pPr>
            <a:r>
              <a:rPr lang="en-US" sz="2400" dirty="0">
                <a:latin typeface="Arial" charset="0"/>
              </a:rPr>
              <a:t>Cmnd_Alias   SYSTEM  = /sbin/reboot,/usr/bin/kill,/sbin/halt,/sbin/shutdown,/etc/init.d/</a:t>
            </a:r>
          </a:p>
          <a:p>
            <a:pPr marL="0" indent="0">
              <a:buFontTx/>
              <a:buNone/>
            </a:pPr>
            <a:r>
              <a:rPr lang="en-US" sz="2400" dirty="0">
                <a:latin typeface="Arial" charset="0"/>
              </a:rPr>
              <a:t>Cmnd_Alias   PW      = /usr/bin/passwd, !/usr/bin/passwd root # Not root pwd!</a:t>
            </a:r>
          </a:p>
          <a:p>
            <a:pPr marL="0" indent="0">
              <a:buFontTx/>
              <a:buNone/>
            </a:pPr>
            <a:r>
              <a:rPr lang="en-US" sz="2400" dirty="0">
                <a:latin typeface="Arial" charset="0"/>
              </a:rPr>
              <a:t>Cmnd_Alias   DEBUG   = /usr/sbin/tcpdump,/usr/bin/wireshark,/usr/bin/nmap</a:t>
            </a:r>
          </a:p>
        </p:txBody>
      </p:sp>
    </p:spTree>
    <p:extLst>
      <p:ext uri="{BB962C8B-B14F-4D97-AF65-F5344CB8AC3E}">
        <p14:creationId xmlns:p14="http://schemas.microsoft.com/office/powerpoint/2010/main" val="2249824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29</a:t>
            </a:fld>
            <a:endParaRPr 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6576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sudo - Configuration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219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# The actual rules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 # ADMINS can do anything w/o a password.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root, ADMINS  ALL = (ALL) NOPASSWD: ALL 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# Developers have full right on desktops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DEVEL        DESKTOP = (ALL) NOPASSWD: ALL  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# Developers can debug the DMZ servers.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DEVEL        DMZ     = (ALL) NOPASSWD: DEBUG  </a:t>
            </a:r>
          </a:p>
          <a:p>
            <a:pPr marL="0" indent="0">
              <a:buFontTx/>
              <a:buNone/>
            </a:pPr>
            <a:r>
              <a:rPr lang="en-US" sz="2000" dirty="0">
                <a:latin typeface="Arial" charset="0"/>
              </a:rPr>
              <a:t># User sysadmin can manage the DMZ servers with </a:t>
            </a:r>
            <a:r>
              <a:rPr lang="en-US" sz="2000" i="1" dirty="0">
                <a:latin typeface="Arial" charset="0"/>
              </a:rPr>
              <a:t>some</a:t>
            </a:r>
            <a:r>
              <a:rPr lang="en-US" sz="2000" dirty="0">
                <a:latin typeface="Arial" charset="0"/>
              </a:rPr>
              <a:t> commands.</a:t>
            </a:r>
          </a:p>
          <a:p>
            <a:pPr marL="0" indent="0">
              <a:buFontTx/>
              <a:buNone/>
            </a:pPr>
            <a:r>
              <a:rPr lang="en-US" sz="1800" dirty="0">
                <a:latin typeface="Arial" charset="0"/>
              </a:rPr>
              <a:t>sysadmin  DMZ  = (ALL) NOPASSWD: SYSTEM,PW,DEBUG</a:t>
            </a:r>
          </a:p>
          <a:p>
            <a:pPr marL="0" indent="0">
              <a:buFontTx/>
              <a:buNone/>
            </a:pPr>
            <a:r>
              <a:rPr lang="en-US" sz="1800" dirty="0">
                <a:latin typeface="Arial" charset="0"/>
              </a:rPr>
              <a:t># Can do anything outside the DMZ.</a:t>
            </a:r>
          </a:p>
          <a:p>
            <a:pPr marL="0" indent="0">
              <a:buFontTx/>
              <a:buNone/>
            </a:pPr>
            <a:r>
              <a:rPr lang="en-US" sz="1800" dirty="0">
                <a:latin typeface="Arial" charset="0"/>
              </a:rPr>
              <a:t>sysadmin  ALL,!DMZ = (ALL) NOPASSWD: ALL</a:t>
            </a:r>
          </a:p>
          <a:p>
            <a:pPr marL="0" indent="0">
              <a:buFontTx/>
              <a:buNone/>
            </a:pPr>
            <a:r>
              <a:rPr lang="en-US" sz="1800" dirty="0">
                <a:latin typeface="Arial" charset="0"/>
              </a:rPr>
              <a:t># anyone can mount/unmount a cd-rom on the desktop machines</a:t>
            </a:r>
          </a:p>
          <a:p>
            <a:pPr marL="0" indent="0">
              <a:buFontTx/>
              <a:buNone/>
            </a:pPr>
            <a:r>
              <a:rPr lang="en-US" sz="1800" dirty="0">
                <a:latin typeface="Arial" charset="0"/>
              </a:rPr>
              <a:t>ALL DESKTOP = NOPASSWD: /sbin/mount /cdrom,/sbin/umount /cdrom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70973"/>
            <a:ext cx="32528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Unix Toolbox revision 14.4</a:t>
            </a:r>
          </a:p>
          <a:p>
            <a:r>
              <a:rPr lang="en-US" sz="1500" dirty="0"/>
              <a:t>Copyright (c) 2007-2012 Colin Barschel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78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Administrator </a:t>
            </a:r>
            <a:r>
              <a:rPr lang="mr-IN" dirty="0"/>
              <a:t>–</a:t>
            </a:r>
            <a:r>
              <a:rPr lang="en-US" dirty="0"/>
              <a:t> 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71812"/>
            <a:ext cx="8416977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su command, substitute user, can be used to change to another user id.</a:t>
            </a:r>
          </a:p>
          <a:p>
            <a:r>
              <a:rPr lang="en-US" dirty="0"/>
              <a:t>Using su on its own spawns a root shell</a:t>
            </a:r>
          </a:p>
          <a:p>
            <a:pPr lvl="1"/>
            <a:r>
              <a:rPr lang="en-US" dirty="0"/>
              <a:t>Using the # sign as the prompt</a:t>
            </a:r>
          </a:p>
          <a:p>
            <a:pPr lvl="1"/>
            <a:r>
              <a:rPr lang="en-US" dirty="0"/>
              <a:t>Using the UID of 0, root</a:t>
            </a:r>
          </a:p>
          <a:p>
            <a:pPr lvl="1"/>
            <a:r>
              <a:rPr lang="en-US" dirty="0"/>
              <a:t>The default for Ubuntu does not have a password for the root account</a:t>
            </a:r>
          </a:p>
          <a:p>
            <a:pPr lvl="1"/>
            <a:r>
              <a:rPr lang="en-US" dirty="0"/>
              <a:t>Need to set a root password first before su will spawn a root shell by:</a:t>
            </a:r>
          </a:p>
          <a:p>
            <a:pPr marL="0" indent="0">
              <a:buNone/>
            </a:pPr>
            <a:r>
              <a:rPr lang="en-US" sz="2200" dirty="0">
                <a:latin typeface="Courier New" charset="0"/>
                <a:ea typeface="Courier New" charset="0"/>
                <a:cs typeface="Courier New" charset="0"/>
              </a:rPr>
              <a:t>$ sudo passwd root	# you will then be prompted 					# twice for a password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369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6360"/>
            <a:ext cx="8229600" cy="4876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Mastering Ubuntu Server, Fourth Edition by Jay LaCroix,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Packt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Publishing, 2022 </a:t>
            </a:r>
          </a:p>
          <a:p>
            <a:pPr>
              <a:defRPr/>
            </a:pPr>
            <a:r>
              <a:rPr lang="en-US" sz="2400" dirty="0">
                <a:ea typeface="ＭＳ Ｐゴシック" pitchFamily="34" charset="-128"/>
              </a:rPr>
              <a:t>Index of Ubuntu reference documentation</a:t>
            </a:r>
          </a:p>
          <a:p>
            <a:pPr marL="0" indent="0">
              <a:buFontTx/>
              <a:buNone/>
              <a:defRPr/>
            </a:pPr>
            <a:r>
              <a:rPr lang="en-US" sz="2400" dirty="0">
                <a:ea typeface="ＭＳ Ｐゴシック" pitchFamily="34" charset="-128"/>
              </a:rPr>
              <a:t>    https://</a:t>
            </a:r>
            <a:r>
              <a:rPr lang="en-US" sz="2400" dirty="0" err="1">
                <a:ea typeface="ＭＳ Ｐゴシック" pitchFamily="34" charset="-128"/>
              </a:rPr>
              <a:t>ubuntu.com</a:t>
            </a:r>
            <a:endParaRPr lang="en-US" sz="2400" dirty="0">
              <a:ea typeface="ＭＳ Ｐゴシック" pitchFamily="34" charset="-128"/>
            </a:endParaRPr>
          </a:p>
          <a:p>
            <a:pPr>
              <a:defRPr/>
            </a:pPr>
            <a:r>
              <a:rPr lang="en-US" altLang="en-US" sz="2400" dirty="0">
                <a:solidFill>
                  <a:srgbClr val="000000"/>
                </a:solidFill>
                <a:latin typeface="Bitstream Charter" pitchFamily="32" charset="0"/>
              </a:rPr>
              <a:t> A Practical Guide to Ubuntu Linux</a:t>
            </a:r>
            <a:r>
              <a:rPr lang="en-US" altLang="en-US" sz="2400" baseline="30000" dirty="0">
                <a:solidFill>
                  <a:srgbClr val="000000"/>
                </a:solidFill>
                <a:latin typeface="Bitstream Charter" pitchFamily="32" charset="0"/>
              </a:rPr>
              <a:t>®</a:t>
            </a:r>
            <a:r>
              <a:rPr lang="en-US" altLang="en-US" sz="2400" dirty="0">
                <a:solidFill>
                  <a:srgbClr val="000000"/>
                </a:solidFill>
                <a:latin typeface="Bitstream Charter" pitchFamily="32" charset="0"/>
              </a:rPr>
              <a:t>, Fourth Edition by Mark G. Sobell, Prentice Hall, 2015</a:t>
            </a:r>
            <a:endParaRPr lang="en-US" sz="2400" dirty="0">
              <a:ea typeface="ＭＳ Ｐゴシック" pitchFamily="34" charset="-128"/>
            </a:endParaRPr>
          </a:p>
          <a:p>
            <a:pPr marL="274320" lvl="1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7AB-0FD7-C047-930B-FD009416571E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734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Expo">
      <a:dk1>
        <a:sysClr val="windowText" lastClr="000000"/>
      </a:dk1>
      <a:lt1>
        <a:sysClr val="window" lastClr="FFFFFF"/>
      </a:lt1>
      <a:dk2>
        <a:srgbClr val="263B86"/>
      </a:dk2>
      <a:lt2>
        <a:srgbClr val="76B6F2"/>
      </a:lt2>
      <a:accent1>
        <a:srgbClr val="FBC01E"/>
      </a:accent1>
      <a:accent2>
        <a:srgbClr val="EFE1A2"/>
      </a:accent2>
      <a:accent3>
        <a:srgbClr val="FA8716"/>
      </a:accent3>
      <a:accent4>
        <a:srgbClr val="BE0204"/>
      </a:accent4>
      <a:accent5>
        <a:srgbClr val="640F10"/>
      </a:accent5>
      <a:accent6>
        <a:srgbClr val="7E13E3"/>
      </a:accent6>
      <a:hlink>
        <a:srgbClr val="D2D200"/>
      </a:hlink>
      <a:folHlink>
        <a:srgbClr val="D0B9F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906</TotalTime>
  <Words>2494</Words>
  <Application>Microsoft Macintosh PowerPoint</Application>
  <PresentationFormat>On-screen Show (4:3)</PresentationFormat>
  <Paragraphs>261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Bitstream Charter</vt:lpstr>
      <vt:lpstr>Calibri</vt:lpstr>
      <vt:lpstr>Courier New</vt:lpstr>
      <vt:lpstr>Times New Roman</vt:lpstr>
      <vt:lpstr>Clarity</vt:lpstr>
      <vt:lpstr>CT210 Open Server I</vt:lpstr>
      <vt:lpstr>Users and Groups</vt:lpstr>
      <vt:lpstr>root account</vt:lpstr>
      <vt:lpstr>Creating and Removing Users</vt:lpstr>
      <vt:lpstr>/etc/passwd file</vt:lpstr>
      <vt:lpstr>/etc/passwd file</vt:lpstr>
      <vt:lpstr>/etc/shadow file </vt:lpstr>
      <vt:lpstr>/etc/shadow</vt:lpstr>
      <vt:lpstr>/etc/skel – default configuration</vt:lpstr>
      <vt:lpstr>Access Permissions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Root privileges</vt:lpstr>
      <vt:lpstr>System Administrator</vt:lpstr>
      <vt:lpstr>System Administrator </vt:lpstr>
      <vt:lpstr>sudo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Administrator – su</vt:lpstr>
      <vt:lpstr>References</vt:lpstr>
    </vt:vector>
  </TitlesOfParts>
  <Company>DrexelU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CCarroll</dc:creator>
  <cp:lastModifiedBy>Carroll,Christopher</cp:lastModifiedBy>
  <cp:revision>74</cp:revision>
  <dcterms:created xsi:type="dcterms:W3CDTF">2016-09-19T18:23:10Z</dcterms:created>
  <dcterms:modified xsi:type="dcterms:W3CDTF">2023-07-17T21:05:15Z</dcterms:modified>
</cp:coreProperties>
</file>