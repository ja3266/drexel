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0" r:id="rId1"/>
  </p:sldMasterIdLst>
  <p:notesMasterIdLst>
    <p:notesMasterId r:id="rId48"/>
  </p:notesMasterIdLst>
  <p:handoutMasterIdLst>
    <p:handoutMasterId r:id="rId49"/>
  </p:handoutMasterIdLst>
  <p:sldIdLst>
    <p:sldId id="337" r:id="rId2"/>
    <p:sldId id="349" r:id="rId3"/>
    <p:sldId id="353" r:id="rId4"/>
    <p:sldId id="355" r:id="rId5"/>
    <p:sldId id="356" r:id="rId6"/>
    <p:sldId id="357" r:id="rId7"/>
    <p:sldId id="358" r:id="rId8"/>
    <p:sldId id="363" r:id="rId9"/>
    <p:sldId id="364" r:id="rId10"/>
    <p:sldId id="365" r:id="rId11"/>
    <p:sldId id="366" r:id="rId12"/>
    <p:sldId id="360" r:id="rId13"/>
    <p:sldId id="368" r:id="rId14"/>
    <p:sldId id="362" r:id="rId15"/>
    <p:sldId id="375" r:id="rId16"/>
    <p:sldId id="376" r:id="rId17"/>
    <p:sldId id="377" r:id="rId18"/>
    <p:sldId id="367" r:id="rId19"/>
    <p:sldId id="369" r:id="rId20"/>
    <p:sldId id="370" r:id="rId21"/>
    <p:sldId id="348" r:id="rId22"/>
    <p:sldId id="374" r:id="rId23"/>
    <p:sldId id="354" r:id="rId24"/>
    <p:sldId id="378" r:id="rId25"/>
    <p:sldId id="467" r:id="rId26"/>
    <p:sldId id="387" r:id="rId27"/>
    <p:sldId id="468" r:id="rId28"/>
    <p:sldId id="456" r:id="rId29"/>
    <p:sldId id="455" r:id="rId30"/>
    <p:sldId id="469" r:id="rId31"/>
    <p:sldId id="464" r:id="rId32"/>
    <p:sldId id="310" r:id="rId33"/>
    <p:sldId id="306" r:id="rId34"/>
    <p:sldId id="326" r:id="rId35"/>
    <p:sldId id="327" r:id="rId36"/>
    <p:sldId id="328" r:id="rId37"/>
    <p:sldId id="308" r:id="rId38"/>
    <p:sldId id="314" r:id="rId39"/>
    <p:sldId id="313" r:id="rId40"/>
    <p:sldId id="471" r:id="rId41"/>
    <p:sldId id="315" r:id="rId42"/>
    <p:sldId id="316" r:id="rId43"/>
    <p:sldId id="330" r:id="rId44"/>
    <p:sldId id="332" r:id="rId45"/>
    <p:sldId id="470" r:id="rId46"/>
    <p:sldId id="381" r:id="rId4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121" d="100"/>
          <a:sy n="121" d="100"/>
        </p:scale>
        <p:origin x="1904" y="176"/>
      </p:cViewPr>
      <p:guideLst>
        <p:guide orient="horz" pos="2160"/>
        <p:guide pos="2880"/>
      </p:guideLst>
    </p:cSldViewPr>
  </p:slideViewPr>
  <p:notesTextViewPr>
    <p:cViewPr>
      <p:scale>
        <a:sx n="100" d="100"/>
        <a:sy n="100" d="100"/>
      </p:scale>
      <p:origin x="0" y="0"/>
    </p:cViewPr>
  </p:notesTextViewPr>
  <p:sorterViewPr>
    <p:cViewPr>
      <p:scale>
        <a:sx n="94" d="100"/>
        <a:sy n="94"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AD971EF-B8E8-5E4E-A252-CAE657155341}" type="datetimeFigureOut">
              <a:rPr lang="en-US" smtClean="0"/>
              <a:t>4/11/24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CD00CC4-C515-EF4A-859B-EC419CFE6516}" type="slidenum">
              <a:rPr lang="en-US" smtClean="0"/>
              <a:t>‹#›</a:t>
            </a:fld>
            <a:endParaRPr lang="en-US" dirty="0"/>
          </a:p>
        </p:txBody>
      </p:sp>
    </p:spTree>
    <p:extLst>
      <p:ext uri="{BB962C8B-B14F-4D97-AF65-F5344CB8AC3E}">
        <p14:creationId xmlns:p14="http://schemas.microsoft.com/office/powerpoint/2010/main" val="10381396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C599B5E-E4DD-C949-B709-844818E87680}" type="datetimeFigureOut">
              <a:rPr lang="en-US" smtClean="0"/>
              <a:t>4/11/24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E844B0F-8041-584B-ADCD-485AE030017A}" type="slidenum">
              <a:rPr lang="en-US" smtClean="0"/>
              <a:t>‹#›</a:t>
            </a:fld>
            <a:endParaRPr lang="en-US" dirty="0"/>
          </a:p>
        </p:txBody>
      </p:sp>
    </p:spTree>
    <p:extLst>
      <p:ext uri="{BB962C8B-B14F-4D97-AF65-F5344CB8AC3E}">
        <p14:creationId xmlns:p14="http://schemas.microsoft.com/office/powerpoint/2010/main" val="417929318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457200" y="18288"/>
            <a:ext cx="2895600" cy="329184"/>
          </a:xfrm>
          <a:prstGeom prst="rect">
            <a:avLst/>
          </a:prstGeom>
        </p:spPr>
        <p:txBody>
          <a:bodyPr/>
          <a:lstStyle/>
          <a:p>
            <a:endParaRPr lang="en-US" dirty="0"/>
          </a:p>
        </p:txBody>
      </p:sp>
      <p:sp>
        <p:nvSpPr>
          <p:cNvPr id="6" name="Slide Number Placeholder 5"/>
          <p:cNvSpPr>
            <a:spLocks noGrp="1"/>
          </p:cNvSpPr>
          <p:nvPr>
            <p:ph type="sldNum" sz="quarter" idx="12"/>
          </p:nvPr>
        </p:nvSpPr>
        <p:spPr>
          <a:xfrm>
            <a:off x="8426824" y="0"/>
            <a:ext cx="732118" cy="329184"/>
          </a:xfrm>
          <a:prstGeom prst="rect">
            <a:avLst/>
          </a:prstGeom>
        </p:spPr>
        <p:txBody>
          <a:bodyPr/>
          <a:lstStyle/>
          <a:p>
            <a:fld id="{7F5CE407-6216-4202-80E4-A30DC2F709B2}" type="slidenum">
              <a:rPr lang="en-US" smtClean="0"/>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402917" y="0"/>
            <a:ext cx="732118" cy="329184"/>
          </a:xfrm>
          <a:prstGeom prst="rect">
            <a:avLst/>
          </a:prstGeom>
        </p:spPr>
        <p:txBody>
          <a:bodyPr/>
          <a:lstStyle/>
          <a:p>
            <a:fld id="{F1E687AB-0FD7-C047-930B-FD009416571E}"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18288"/>
            <a:ext cx="2895600" cy="329184"/>
          </a:xfrm>
          <a:prstGeom prst="rect">
            <a:avLst/>
          </a:prstGeom>
        </p:spPr>
        <p:txBody>
          <a:bodyPr/>
          <a:lstStyle/>
          <a:p>
            <a:endParaRPr lang="en-US" dirty="0"/>
          </a:p>
        </p:txBody>
      </p:sp>
      <p:sp>
        <p:nvSpPr>
          <p:cNvPr id="5" name="Footer Placeholder 4"/>
          <p:cNvSpPr>
            <a:spLocks noGrp="1"/>
          </p:cNvSpPr>
          <p:nvPr>
            <p:ph type="ftr" sz="quarter" idx="11"/>
          </p:nvPr>
        </p:nvSpPr>
        <p:spPr>
          <a:xfrm>
            <a:off x="3429000" y="18288"/>
            <a:ext cx="4114800" cy="329184"/>
          </a:xfrm>
          <a:prstGeom prst="rect">
            <a:avLst/>
          </a:prstGeom>
        </p:spPr>
        <p:txBody>
          <a:bodyPr/>
          <a:lstStyle/>
          <a:p>
            <a:endParaRPr lang="en-US" dirty="0"/>
          </a:p>
        </p:txBody>
      </p:sp>
      <p:sp>
        <p:nvSpPr>
          <p:cNvPr id="6" name="Slide Number Placeholder 5"/>
          <p:cNvSpPr>
            <a:spLocks noGrp="1"/>
          </p:cNvSpPr>
          <p:nvPr>
            <p:ph type="sldNum" sz="quarter" idx="12"/>
          </p:nvPr>
        </p:nvSpPr>
        <p:spPr>
          <a:xfrm>
            <a:off x="7620000" y="18288"/>
            <a:ext cx="732118" cy="329184"/>
          </a:xfrm>
          <a:prstGeom prst="rect">
            <a:avLst/>
          </a:prstGeom>
        </p:spPr>
        <p:txBody>
          <a:bodyPr/>
          <a:lstStyle/>
          <a:p>
            <a:fld id="{F1E687AB-0FD7-C047-930B-FD009416571E}" type="slidenum">
              <a:rPr lang="en-US" smtClean="0"/>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8411882" y="18288"/>
            <a:ext cx="732118" cy="329184"/>
          </a:xfrm>
          <a:prstGeom prst="rect">
            <a:avLst/>
          </a:prstGeom>
        </p:spPr>
        <p:txBody>
          <a:bodyPr/>
          <a:lstStyle/>
          <a:p>
            <a:fld id="{F1E687AB-0FD7-C047-930B-FD009416571E}"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457200" y="18288"/>
            <a:ext cx="2895600" cy="329184"/>
          </a:xfrm>
          <a:prstGeom prst="rect">
            <a:avLst/>
          </a:prstGeom>
        </p:spPr>
        <p:txBody>
          <a:bodyPr/>
          <a:lstStyle/>
          <a:p>
            <a:endParaRPr lang="en-US" dirty="0"/>
          </a:p>
        </p:txBody>
      </p:sp>
      <p:sp>
        <p:nvSpPr>
          <p:cNvPr id="9" name="Slide Number Placeholder 8"/>
          <p:cNvSpPr>
            <a:spLocks noGrp="1"/>
          </p:cNvSpPr>
          <p:nvPr>
            <p:ph type="sldNum" sz="quarter" idx="12"/>
          </p:nvPr>
        </p:nvSpPr>
        <p:spPr>
          <a:xfrm>
            <a:off x="8411882" y="18288"/>
            <a:ext cx="732118" cy="329184"/>
          </a:xfrm>
          <a:prstGeom prst="rect">
            <a:avLst/>
          </a:prstGeom>
        </p:spPr>
        <p:txBody>
          <a:bodyPr/>
          <a:lstStyle/>
          <a:p>
            <a:fld id="{F1E687AB-0FD7-C047-930B-FD009416571E}" type="slidenum">
              <a:rPr lang="en-US" smtClean="0"/>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a:xfrm>
            <a:off x="8411882" y="3347"/>
            <a:ext cx="732118" cy="329184"/>
          </a:xfrm>
          <a:prstGeom prst="rect">
            <a:avLst/>
          </a:prstGeom>
        </p:spPr>
        <p:txBody>
          <a:bodyPr/>
          <a:lstStyle/>
          <a:p>
            <a:fld id="{F1E687AB-0FD7-C047-930B-FD009416571E}"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18288"/>
            <a:ext cx="2895600" cy="329184"/>
          </a:xfrm>
          <a:prstGeom prst="rect">
            <a:avLst/>
          </a:prstGeom>
        </p:spPr>
        <p:txBody>
          <a:bodyPr/>
          <a:lstStyle/>
          <a:p>
            <a:endParaRPr lang="en-US" dirty="0"/>
          </a:p>
        </p:txBody>
      </p:sp>
      <p:sp>
        <p:nvSpPr>
          <p:cNvPr id="3" name="Footer Placeholder 2"/>
          <p:cNvSpPr>
            <a:spLocks noGrp="1"/>
          </p:cNvSpPr>
          <p:nvPr>
            <p:ph type="ftr" sz="quarter" idx="11"/>
          </p:nvPr>
        </p:nvSpPr>
        <p:spPr>
          <a:xfrm>
            <a:off x="3429000" y="18288"/>
            <a:ext cx="4114800" cy="329184"/>
          </a:xfrm>
          <a:prstGeom prst="rect">
            <a:avLst/>
          </a:prstGeom>
        </p:spPr>
        <p:txBody>
          <a:bodyPr/>
          <a:lstStyle/>
          <a:p>
            <a:endParaRPr lang="en-US" dirty="0"/>
          </a:p>
        </p:txBody>
      </p:sp>
      <p:sp>
        <p:nvSpPr>
          <p:cNvPr id="4" name="Slide Number Placeholder 3"/>
          <p:cNvSpPr>
            <a:spLocks noGrp="1"/>
          </p:cNvSpPr>
          <p:nvPr>
            <p:ph type="sldNum" sz="quarter" idx="12"/>
          </p:nvPr>
        </p:nvSpPr>
        <p:spPr>
          <a:xfrm>
            <a:off x="8411882" y="3347"/>
            <a:ext cx="732118" cy="329184"/>
          </a:xfrm>
          <a:prstGeom prst="rect">
            <a:avLst/>
          </a:prstGeom>
        </p:spPr>
        <p:txBody>
          <a:bodyPr/>
          <a:lstStyle/>
          <a:p>
            <a:fld id="{F1E687AB-0FD7-C047-930B-FD009416571E}"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18288"/>
            <a:ext cx="2895600" cy="329184"/>
          </a:xfrm>
          <a:prstGeom prst="rect">
            <a:avLst/>
          </a:prstGeom>
        </p:spPr>
        <p:txBody>
          <a:bodyPr/>
          <a:lstStyle/>
          <a:p>
            <a:endParaRPr lang="en-US" dirty="0"/>
          </a:p>
        </p:txBody>
      </p:sp>
      <p:sp>
        <p:nvSpPr>
          <p:cNvPr id="6" name="Footer Placeholder 5"/>
          <p:cNvSpPr>
            <a:spLocks noGrp="1"/>
          </p:cNvSpPr>
          <p:nvPr>
            <p:ph type="ftr" sz="quarter" idx="11"/>
          </p:nvPr>
        </p:nvSpPr>
        <p:spPr>
          <a:xfrm>
            <a:off x="3429000" y="18288"/>
            <a:ext cx="4114800" cy="329184"/>
          </a:xfrm>
          <a:prstGeom prst="rect">
            <a:avLst/>
          </a:prstGeom>
        </p:spPr>
        <p:txBody>
          <a:bodyPr/>
          <a:lstStyle/>
          <a:p>
            <a:endParaRPr lang="en-US" dirty="0"/>
          </a:p>
        </p:txBody>
      </p:sp>
      <p:sp>
        <p:nvSpPr>
          <p:cNvPr id="7" name="Slide Number Placeholder 6"/>
          <p:cNvSpPr>
            <a:spLocks noGrp="1"/>
          </p:cNvSpPr>
          <p:nvPr>
            <p:ph type="sldNum" sz="quarter" idx="12"/>
          </p:nvPr>
        </p:nvSpPr>
        <p:spPr>
          <a:xfrm>
            <a:off x="7620000" y="18288"/>
            <a:ext cx="732118" cy="329184"/>
          </a:xfrm>
          <a:prstGeom prst="rect">
            <a:avLst/>
          </a:prstGeom>
        </p:spPr>
        <p:txBody>
          <a:bodyPr/>
          <a:lstStyle/>
          <a:p>
            <a:fld id="{F1E687AB-0FD7-C047-930B-FD009416571E}" type="slidenum">
              <a:rPr lang="en-US" smtClean="0"/>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18288"/>
            <a:ext cx="2895600" cy="329184"/>
          </a:xfrm>
          <a:prstGeom prst="rect">
            <a:avLst/>
          </a:prstGeom>
        </p:spPr>
        <p:txBody>
          <a:bodyPr/>
          <a:lstStyle/>
          <a:p>
            <a:endParaRPr lang="en-US" dirty="0"/>
          </a:p>
        </p:txBody>
      </p:sp>
      <p:sp>
        <p:nvSpPr>
          <p:cNvPr id="7" name="Slide Number Placeholder 6"/>
          <p:cNvSpPr>
            <a:spLocks noGrp="1"/>
          </p:cNvSpPr>
          <p:nvPr>
            <p:ph type="sldNum" sz="quarter" idx="12"/>
          </p:nvPr>
        </p:nvSpPr>
        <p:spPr>
          <a:xfrm>
            <a:off x="8411882" y="18288"/>
            <a:ext cx="732118" cy="329184"/>
          </a:xfrm>
          <a:prstGeom prst="rect">
            <a:avLst/>
          </a:prstGeom>
        </p:spPr>
        <p:txBody>
          <a:bodyPr/>
          <a:lstStyle/>
          <a:p>
            <a:fld id="{F1E687AB-0FD7-C047-930B-FD009416571E}"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18288"/>
            <a:ext cx="2895600" cy="329184"/>
          </a:xfrm>
          <a:prstGeom prst="rect">
            <a:avLst/>
          </a:prstGeom>
        </p:spPr>
        <p:txBody>
          <a:bodyPr/>
          <a:lstStyle/>
          <a:p>
            <a:endParaRPr lang="en-US" dirty="0"/>
          </a:p>
        </p:txBody>
      </p:sp>
      <p:sp>
        <p:nvSpPr>
          <p:cNvPr id="5" name="Footer Placeholder 4"/>
          <p:cNvSpPr>
            <a:spLocks noGrp="1"/>
          </p:cNvSpPr>
          <p:nvPr>
            <p:ph type="ftr" sz="quarter" idx="11"/>
          </p:nvPr>
        </p:nvSpPr>
        <p:spPr>
          <a:xfrm>
            <a:off x="3429000" y="18288"/>
            <a:ext cx="4114800" cy="329184"/>
          </a:xfrm>
          <a:prstGeom prst="rect">
            <a:avLst/>
          </a:prstGeom>
        </p:spPr>
        <p:txBody>
          <a:bodyPr/>
          <a:lstStyle/>
          <a:p>
            <a:endParaRPr lang="en-US" dirty="0"/>
          </a:p>
        </p:txBody>
      </p:sp>
      <p:sp>
        <p:nvSpPr>
          <p:cNvPr id="6" name="Slide Number Placeholder 5"/>
          <p:cNvSpPr>
            <a:spLocks noGrp="1"/>
          </p:cNvSpPr>
          <p:nvPr>
            <p:ph type="sldNum" sz="quarter" idx="12"/>
          </p:nvPr>
        </p:nvSpPr>
        <p:spPr>
          <a:xfrm>
            <a:off x="7620000" y="18288"/>
            <a:ext cx="732118" cy="329184"/>
          </a:xfrm>
          <a:prstGeom prst="rect">
            <a:avLst/>
          </a:prstGeom>
        </p:spPr>
        <p:txBody>
          <a:bodyPr/>
          <a:lstStyle/>
          <a:p>
            <a:fld id="{F1E687AB-0FD7-C047-930B-FD009416571E}"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57200" y="18288"/>
            <a:ext cx="2895600" cy="329184"/>
          </a:xfrm>
          <a:prstGeom prst="rect">
            <a:avLst/>
          </a:prstGeom>
        </p:spPr>
        <p:txBody>
          <a:bodyPr/>
          <a:lstStyle/>
          <a:p>
            <a:endParaRPr lang="en-US" dirty="0"/>
          </a:p>
        </p:txBody>
      </p:sp>
      <p:sp>
        <p:nvSpPr>
          <p:cNvPr id="5" name="Footer Placeholder 4"/>
          <p:cNvSpPr>
            <a:spLocks noGrp="1"/>
          </p:cNvSpPr>
          <p:nvPr>
            <p:ph type="ftr" sz="quarter" idx="11"/>
          </p:nvPr>
        </p:nvSpPr>
        <p:spPr>
          <a:xfrm>
            <a:off x="3429000" y="18288"/>
            <a:ext cx="4114800" cy="329184"/>
          </a:xfrm>
          <a:prstGeom prst="rect">
            <a:avLst/>
          </a:prstGeom>
        </p:spPr>
        <p:txBody>
          <a:bodyPr/>
          <a:lstStyle/>
          <a:p>
            <a:endParaRPr lang="en-US" dirty="0"/>
          </a:p>
        </p:txBody>
      </p:sp>
      <p:sp>
        <p:nvSpPr>
          <p:cNvPr id="6" name="Slide Number Placeholder 5"/>
          <p:cNvSpPr>
            <a:spLocks noGrp="1"/>
          </p:cNvSpPr>
          <p:nvPr>
            <p:ph type="sldNum" sz="quarter" idx="12"/>
          </p:nvPr>
        </p:nvSpPr>
        <p:spPr>
          <a:xfrm>
            <a:off x="7620000" y="18288"/>
            <a:ext cx="732118" cy="329184"/>
          </a:xfrm>
          <a:prstGeom prst="rect">
            <a:avLst/>
          </a:prstGeom>
        </p:spPr>
        <p:txBody>
          <a:bodyPr/>
          <a:lstStyle/>
          <a:p>
            <a:fld id="{F1E687AB-0FD7-C047-930B-FD009416571E}"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pic>
        <p:nvPicPr>
          <p:cNvPr id="3" name="Picture 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28700" y="6381750"/>
            <a:ext cx="7086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3"/>
          <p:cNvSpPr>
            <a:spLocks noGrp="1"/>
          </p:cNvSpPr>
          <p:nvPr>
            <p:ph sz="quarter" idx="11"/>
          </p:nvPr>
        </p:nvSpPr>
        <p:spPr>
          <a:xfrm>
            <a:off x="228600" y="457200"/>
            <a:ext cx="8686800" cy="5334001"/>
          </a:xfrm>
        </p:spPr>
        <p:txBody>
          <a:bodyPr/>
          <a:lstStyle/>
          <a:p>
            <a:pPr lvl="0"/>
            <a:endParaRPr lang="en-US" dirty="0"/>
          </a:p>
        </p:txBody>
      </p:sp>
    </p:spTree>
    <p:extLst>
      <p:ext uri="{BB962C8B-B14F-4D97-AF65-F5344CB8AC3E}">
        <p14:creationId xmlns:p14="http://schemas.microsoft.com/office/powerpoint/2010/main" val="883678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365760"/>
            <a:ext cx="8229600" cy="9906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571812"/>
            <a:ext cx="8229600" cy="48768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Slide Number Placeholder 5"/>
          <p:cNvSpPr>
            <a:spLocks noGrp="1"/>
          </p:cNvSpPr>
          <p:nvPr>
            <p:ph type="sldNum" sz="quarter" idx="4"/>
          </p:nvPr>
        </p:nvSpPr>
        <p:spPr>
          <a:xfrm>
            <a:off x="8426824" y="0"/>
            <a:ext cx="732118" cy="329184"/>
          </a:xfrm>
          <a:prstGeom prst="rect">
            <a:avLst/>
          </a:prstGeom>
        </p:spPr>
        <p:txBody>
          <a:bodyPr/>
          <a:lstStyle/>
          <a:p>
            <a:fld id="{7F5CE407-6216-4202-80E4-A30DC2F709B2}" type="slidenum">
              <a:rPr lang="en-US" smtClean="0"/>
              <a:t>‹#›</a:t>
            </a:fld>
            <a:endParaRPr lang="en-US" dirty="0"/>
          </a:p>
        </p:txBody>
      </p:sp>
      <p:sp>
        <p:nvSpPr>
          <p:cNvPr id="9" name="TextBox 8"/>
          <p:cNvSpPr txBox="1"/>
          <p:nvPr userDrawn="1"/>
        </p:nvSpPr>
        <p:spPr>
          <a:xfrm>
            <a:off x="3769121" y="6519446"/>
            <a:ext cx="1432479" cy="307777"/>
          </a:xfrm>
          <a:prstGeom prst="rect">
            <a:avLst/>
          </a:prstGeom>
          <a:noFill/>
        </p:spPr>
        <p:txBody>
          <a:bodyPr wrap="none" rtlCol="0">
            <a:spAutoFit/>
          </a:bodyPr>
          <a:lstStyle/>
          <a:p>
            <a:r>
              <a:rPr lang="en-US" sz="1400" dirty="0"/>
              <a:t>Drexel University</a:t>
            </a:r>
          </a:p>
        </p:txBody>
      </p:sp>
    </p:spTree>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6" r:id="rId12"/>
  </p:sldLayoutIdLst>
  <p:hf hdr="0" ftr="0" dt="0"/>
  <p:txStyles>
    <p:titleStyle>
      <a:lvl1pPr algn="ctr" defTabSz="914400" rtl="0" eaLnBrk="1" latinLnBrk="0" hangingPunct="1">
        <a:spcBef>
          <a:spcPct val="0"/>
        </a:spcBef>
        <a:buNone/>
        <a:defRPr sz="4000" kern="1200" spc="-100" baseline="0">
          <a:solidFill>
            <a:schemeClr val="bg2">
              <a:lumMod val="50000"/>
            </a:schemeClr>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03.ibm.com/ibm/history/exhibits/701/701_intro.html" TargetMode="Externa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CT210 Open Server I</a:t>
            </a:r>
          </a:p>
        </p:txBody>
      </p:sp>
      <p:sp>
        <p:nvSpPr>
          <p:cNvPr id="3" name="Subtitle 2"/>
          <p:cNvSpPr>
            <a:spLocks noGrp="1"/>
          </p:cNvSpPr>
          <p:nvPr>
            <p:ph type="subTitle" idx="1"/>
          </p:nvPr>
        </p:nvSpPr>
        <p:spPr/>
        <p:txBody>
          <a:bodyPr/>
          <a:lstStyle/>
          <a:p>
            <a:r>
              <a:rPr lang="en-US" dirty="0"/>
              <a:t>Week 2</a:t>
            </a:r>
          </a:p>
          <a:p>
            <a:r>
              <a:rPr lang="en-US" dirty="0"/>
              <a:t>Welcome to Linux</a:t>
            </a:r>
          </a:p>
        </p:txBody>
      </p:sp>
    </p:spTree>
    <p:extLst>
      <p:ext uri="{BB962C8B-B14F-4D97-AF65-F5344CB8AC3E}">
        <p14:creationId xmlns:p14="http://schemas.microsoft.com/office/powerpoint/2010/main" val="3132578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of Server Concepts</a:t>
            </a:r>
          </a:p>
        </p:txBody>
      </p:sp>
      <p:sp>
        <p:nvSpPr>
          <p:cNvPr id="5" name="Slide Number Placeholder 4"/>
          <p:cNvSpPr>
            <a:spLocks noGrp="1"/>
          </p:cNvSpPr>
          <p:nvPr>
            <p:ph type="sldNum" sz="quarter" idx="12"/>
          </p:nvPr>
        </p:nvSpPr>
        <p:spPr/>
        <p:txBody>
          <a:bodyPr/>
          <a:lstStyle/>
          <a:p>
            <a:fld id="{F1E687AB-0FD7-C047-930B-FD009416571E}" type="slidenum">
              <a:rPr lang="en-US" smtClean="0"/>
              <a:t>2</a:t>
            </a:fld>
            <a:endParaRPr lang="en-US" dirty="0"/>
          </a:p>
        </p:txBody>
      </p:sp>
      <p:sp>
        <p:nvSpPr>
          <p:cNvPr id="8" name="Content Placeholder 2"/>
          <p:cNvSpPr txBox="1">
            <a:spLocks/>
          </p:cNvSpPr>
          <p:nvPr/>
        </p:nvSpPr>
        <p:spPr>
          <a:xfrm>
            <a:off x="457200" y="1356360"/>
            <a:ext cx="8229600" cy="4876800"/>
          </a:xfrm>
          <a:prstGeom prst="rect">
            <a:avLst/>
          </a:prstGeom>
        </p:spPr>
        <p:txBody>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sz="2800" dirty="0"/>
              <a:t>Discussed CPU, Central Processing Unit</a:t>
            </a:r>
          </a:p>
          <a:p>
            <a:r>
              <a:rPr lang="en-US" sz="2800" dirty="0"/>
              <a:t>Multi-processing, Multitasking and Multiuser </a:t>
            </a:r>
            <a:endParaRPr lang="en-US" sz="2400" dirty="0"/>
          </a:p>
          <a:p>
            <a:r>
              <a:rPr lang="en-US" sz="2800" dirty="0"/>
              <a:t>Memory, RAM – Random Access Memory</a:t>
            </a:r>
          </a:p>
          <a:p>
            <a:r>
              <a:rPr lang="en-US" sz="2800" dirty="0"/>
              <a:t>Disk Storage</a:t>
            </a:r>
          </a:p>
          <a:p>
            <a:r>
              <a:rPr lang="en-US" sz="2800" dirty="0"/>
              <a:t>RAID levels</a:t>
            </a:r>
            <a:endParaRPr lang="en-US" sz="2400" dirty="0"/>
          </a:p>
          <a:p>
            <a:r>
              <a:rPr lang="en-US" sz="2800" dirty="0"/>
              <a:t>Removable Media </a:t>
            </a:r>
            <a:endParaRPr lang="en-US" sz="2400" dirty="0"/>
          </a:p>
          <a:p>
            <a:r>
              <a:rPr lang="en-US" sz="2800" dirty="0" err="1"/>
              <a:t>Input/Output</a:t>
            </a:r>
            <a:r>
              <a:rPr lang="en-US" sz="2800" dirty="0"/>
              <a:t> devices and </a:t>
            </a:r>
            <a:r>
              <a:rPr lang="en-US" sz="2800" dirty="0" err="1"/>
              <a:t>Interupts</a:t>
            </a:r>
            <a:endParaRPr lang="en-US" sz="2800" dirty="0"/>
          </a:p>
          <a:p>
            <a:r>
              <a:rPr lang="en-US" sz="2800" dirty="0"/>
              <a:t>Process Management and Memory Management Unit</a:t>
            </a:r>
            <a:endParaRPr lang="en-US" sz="2400" dirty="0"/>
          </a:p>
          <a:p>
            <a:r>
              <a:rPr lang="en-US" sz="2800" dirty="0"/>
              <a:t>Network </a:t>
            </a:r>
          </a:p>
          <a:p>
            <a:r>
              <a:rPr lang="en-US" sz="2800" dirty="0"/>
              <a:t>Security</a:t>
            </a:r>
          </a:p>
        </p:txBody>
      </p:sp>
    </p:spTree>
    <p:extLst>
      <p:ext uri="{BB962C8B-B14F-4D97-AF65-F5344CB8AC3E}">
        <p14:creationId xmlns:p14="http://schemas.microsoft.com/office/powerpoint/2010/main" val="4267428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69054"/>
            <a:ext cx="8229600" cy="990600"/>
          </a:xfrm>
        </p:spPr>
        <p:txBody>
          <a:bodyPr>
            <a:normAutofit/>
          </a:bodyPr>
          <a:lstStyle/>
          <a:p>
            <a:r>
              <a:rPr lang="en-US" sz="4200" dirty="0"/>
              <a:t>Welcome to Linux</a:t>
            </a:r>
          </a:p>
        </p:txBody>
      </p:sp>
      <p:sp>
        <p:nvSpPr>
          <p:cNvPr id="3" name="Slide Number Placeholder 2"/>
          <p:cNvSpPr>
            <a:spLocks noGrp="1"/>
          </p:cNvSpPr>
          <p:nvPr>
            <p:ph type="sldNum" sz="quarter" idx="12"/>
          </p:nvPr>
        </p:nvSpPr>
        <p:spPr/>
        <p:txBody>
          <a:bodyPr/>
          <a:lstStyle/>
          <a:p>
            <a:fld id="{F1E687AB-0FD7-C047-930B-FD009416571E}" type="slidenum">
              <a:rPr lang="en-US" smtClean="0"/>
              <a:t>3</a:t>
            </a:fld>
            <a:endParaRPr lang="en-US" dirty="0"/>
          </a:p>
        </p:txBody>
      </p:sp>
    </p:spTree>
    <p:extLst>
      <p:ext uri="{BB962C8B-B14F-4D97-AF65-F5344CB8AC3E}">
        <p14:creationId xmlns:p14="http://schemas.microsoft.com/office/powerpoint/2010/main" val="3708576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Pre-Unix OS’s</a:t>
            </a:r>
          </a:p>
        </p:txBody>
      </p:sp>
      <p:sp>
        <p:nvSpPr>
          <p:cNvPr id="3" name="Slide Number Placeholder 2"/>
          <p:cNvSpPr>
            <a:spLocks noGrp="1"/>
          </p:cNvSpPr>
          <p:nvPr>
            <p:ph type="sldNum" sz="quarter" idx="12"/>
          </p:nvPr>
        </p:nvSpPr>
        <p:spPr/>
        <p:txBody>
          <a:bodyPr/>
          <a:lstStyle/>
          <a:p>
            <a:fld id="{F1E687AB-0FD7-C047-930B-FD009416571E}" type="slidenum">
              <a:rPr lang="en-US" smtClean="0"/>
              <a:t>4</a:t>
            </a:fld>
            <a:endParaRPr lang="en-US" dirty="0"/>
          </a:p>
        </p:txBody>
      </p:sp>
      <p:sp>
        <p:nvSpPr>
          <p:cNvPr id="5" name="Rectangle 3"/>
          <p:cNvSpPr txBox="1">
            <a:spLocks noChangeArrowheads="1"/>
          </p:cNvSpPr>
          <p:nvPr/>
        </p:nvSpPr>
        <p:spPr>
          <a:xfrm>
            <a:off x="457200" y="1600200"/>
            <a:ext cx="8229600" cy="4525963"/>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Mainframe </a:t>
            </a:r>
            <a:r>
              <a:rPr lang="en-US" i="1" dirty="0"/>
              <a:t>transistor</a:t>
            </a:r>
            <a:r>
              <a:rPr lang="en-US" dirty="0"/>
              <a:t>-based systems were available in the mid-1950</a:t>
            </a:r>
            <a:r>
              <a:rPr lang="ja-JP" altLang="en-US" dirty="0"/>
              <a:t>’</a:t>
            </a:r>
            <a:r>
              <a:rPr lang="en-US" altLang="ja-JP" dirty="0"/>
              <a:t>s, e.g. </a:t>
            </a:r>
            <a:r>
              <a:rPr lang="en-US" altLang="ja-JP" dirty="0">
                <a:hlinkClick r:id="rId2"/>
              </a:rPr>
              <a:t>IBM 701</a:t>
            </a:r>
            <a:endParaRPr lang="en-US" altLang="ja-JP" dirty="0"/>
          </a:p>
          <a:p>
            <a:pPr lvl="1"/>
            <a:r>
              <a:rPr lang="en-US" dirty="0"/>
              <a:t>Glorified calculators</a:t>
            </a:r>
          </a:p>
          <a:p>
            <a:pPr lvl="1"/>
            <a:r>
              <a:rPr lang="en-US" dirty="0"/>
              <a:t>Magnetic tape I/O</a:t>
            </a:r>
          </a:p>
          <a:p>
            <a:pPr lvl="1"/>
            <a:r>
              <a:rPr lang="en-US" dirty="0"/>
              <a:t>Over 18 units sold</a:t>
            </a:r>
          </a:p>
          <a:p>
            <a:pPr lvl="1"/>
            <a:r>
              <a:rPr lang="en-US" dirty="0"/>
              <a:t>20 </a:t>
            </a:r>
            <a:r>
              <a:rPr lang="en-US" dirty="0" err="1"/>
              <a:t>kB</a:t>
            </a:r>
            <a:r>
              <a:rPr lang="en-US" dirty="0"/>
              <a:t> memory</a:t>
            </a:r>
          </a:p>
          <a:p>
            <a:pPr lvl="1"/>
            <a:r>
              <a:rPr lang="en-US" dirty="0"/>
              <a:t>80 </a:t>
            </a:r>
            <a:r>
              <a:rPr lang="en-US" dirty="0" err="1"/>
              <a:t>kB</a:t>
            </a:r>
            <a:r>
              <a:rPr lang="en-US" dirty="0"/>
              <a:t> drum</a:t>
            </a:r>
          </a:p>
          <a:p>
            <a:pPr lvl="1"/>
            <a:r>
              <a:rPr lang="en-US" dirty="0"/>
              <a:t>Single </a:t>
            </a:r>
            <a:r>
              <a:rPr lang="ja-JP" altLang="en-US" dirty="0"/>
              <a:t>“</a:t>
            </a:r>
            <a:r>
              <a:rPr lang="en-US" altLang="ja-JP" dirty="0"/>
              <a:t>user</a:t>
            </a:r>
            <a:r>
              <a:rPr lang="ja-JP" altLang="en-US" dirty="0"/>
              <a:t>”</a:t>
            </a:r>
            <a:endParaRPr lang="en-US" dirty="0"/>
          </a:p>
        </p:txBody>
      </p:sp>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2743200"/>
            <a:ext cx="4219575"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388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Pre-Unix OS’s</a:t>
            </a:r>
          </a:p>
        </p:txBody>
      </p:sp>
      <p:sp>
        <p:nvSpPr>
          <p:cNvPr id="3" name="Slide Number Placeholder 2"/>
          <p:cNvSpPr>
            <a:spLocks noGrp="1"/>
          </p:cNvSpPr>
          <p:nvPr>
            <p:ph type="sldNum" sz="quarter" idx="12"/>
          </p:nvPr>
        </p:nvSpPr>
        <p:spPr/>
        <p:txBody>
          <a:bodyPr/>
          <a:lstStyle/>
          <a:p>
            <a:fld id="{F1E687AB-0FD7-C047-930B-FD009416571E}" type="slidenum">
              <a:rPr lang="en-US" smtClean="0"/>
              <a:t>5</a:t>
            </a:fld>
            <a:endParaRPr lang="en-US" dirty="0"/>
          </a:p>
        </p:txBody>
      </p:sp>
      <p:sp>
        <p:nvSpPr>
          <p:cNvPr id="4" name="Rectangle 3"/>
          <p:cNvSpPr txBox="1">
            <a:spLocks noChangeArrowheads="1"/>
          </p:cNvSpPr>
          <p:nvPr/>
        </p:nvSpPr>
        <p:spPr>
          <a:xfrm>
            <a:off x="457200" y="1600200"/>
            <a:ext cx="8229600" cy="4525963"/>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During the 60</a:t>
            </a:r>
            <a:r>
              <a:rPr lang="ja-JP" altLang="en-US" dirty="0"/>
              <a:t>’</a:t>
            </a:r>
            <a:r>
              <a:rPr lang="en-US" altLang="ja-JP" dirty="0"/>
              <a:t>s, more advanced OS were developed for IBM mainframes</a:t>
            </a:r>
            <a:endParaRPr lang="en-US" dirty="0"/>
          </a:p>
          <a:p>
            <a:r>
              <a:rPr lang="en-US" dirty="0"/>
              <a:t>Start of </a:t>
            </a:r>
            <a:r>
              <a:rPr lang="en-US" i="1" dirty="0"/>
              <a:t>timesharing</a:t>
            </a:r>
            <a:r>
              <a:rPr lang="en-US" dirty="0"/>
              <a:t> among many users</a:t>
            </a:r>
          </a:p>
          <a:p>
            <a:pPr lvl="2"/>
            <a:r>
              <a:rPr lang="en-US" dirty="0"/>
              <a:t>The first was CTSS* at MIT circa 1962</a:t>
            </a:r>
          </a:p>
          <a:p>
            <a:pPr lvl="2"/>
            <a:r>
              <a:rPr lang="en-US" sz="2400" dirty="0"/>
              <a:t>* Compatible Time-Sharing System </a:t>
            </a:r>
          </a:p>
          <a:p>
            <a:r>
              <a:rPr lang="en-US" dirty="0"/>
              <a:t>MULTICS** was the best example for large scale timesharing, using a GE-645 system</a:t>
            </a:r>
          </a:p>
          <a:p>
            <a:pPr lvl="1"/>
            <a:r>
              <a:rPr lang="en-US" sz="2400" dirty="0"/>
              <a:t>**</a:t>
            </a:r>
            <a:r>
              <a:rPr lang="en-US" sz="2400" dirty="0" err="1"/>
              <a:t>MULTiplexed</a:t>
            </a:r>
            <a:r>
              <a:rPr lang="en-US" sz="2400" dirty="0"/>
              <a:t> Information and Computing Service</a:t>
            </a:r>
          </a:p>
          <a:p>
            <a:pPr lvl="2"/>
            <a:endParaRPr lang="en-US" sz="2400" dirty="0"/>
          </a:p>
          <a:p>
            <a:pPr lvl="2"/>
            <a:endParaRPr lang="en-US" dirty="0">
              <a:latin typeface="Arial" charset="0"/>
            </a:endParaRPr>
          </a:p>
        </p:txBody>
      </p:sp>
    </p:spTree>
    <p:extLst>
      <p:ext uri="{BB962C8B-B14F-4D97-AF65-F5344CB8AC3E}">
        <p14:creationId xmlns:p14="http://schemas.microsoft.com/office/powerpoint/2010/main" val="228388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Lessons Learned</a:t>
            </a:r>
          </a:p>
        </p:txBody>
      </p:sp>
      <p:sp>
        <p:nvSpPr>
          <p:cNvPr id="3" name="Slide Number Placeholder 2"/>
          <p:cNvSpPr>
            <a:spLocks noGrp="1"/>
          </p:cNvSpPr>
          <p:nvPr>
            <p:ph type="sldNum" sz="quarter" idx="12"/>
          </p:nvPr>
        </p:nvSpPr>
        <p:spPr/>
        <p:txBody>
          <a:bodyPr/>
          <a:lstStyle/>
          <a:p>
            <a:fld id="{F1E687AB-0FD7-C047-930B-FD009416571E}" type="slidenum">
              <a:rPr lang="en-US" smtClean="0"/>
              <a:t>6</a:t>
            </a:fld>
            <a:endParaRPr lang="en-US" dirty="0"/>
          </a:p>
        </p:txBody>
      </p:sp>
      <p:sp>
        <p:nvSpPr>
          <p:cNvPr id="4" name="Rectangle 3"/>
          <p:cNvSpPr txBox="1">
            <a:spLocks noChangeArrowheads="1"/>
          </p:cNvSpPr>
          <p:nvPr/>
        </p:nvSpPr>
        <p:spPr>
          <a:xfrm>
            <a:off x="457200" y="1600200"/>
            <a:ext cx="8229600" cy="4525963"/>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UNIX learned from CTSS and MULTICS</a:t>
            </a:r>
          </a:p>
          <a:p>
            <a:pPr lvl="1"/>
            <a:r>
              <a:rPr lang="en-US" dirty="0"/>
              <a:t>Especially the latter became very bloated, with 1000s of pages of specs before anyone touched hardware</a:t>
            </a:r>
          </a:p>
          <a:p>
            <a:pPr lvl="1"/>
            <a:r>
              <a:rPr lang="en-US" dirty="0"/>
              <a:t>UNIX benefitted from being the </a:t>
            </a:r>
            <a:r>
              <a:rPr lang="ja-JP" altLang="en-US" dirty="0"/>
              <a:t>‘</a:t>
            </a:r>
            <a:r>
              <a:rPr lang="en-US" altLang="ja-JP" dirty="0"/>
              <a:t>third project,</a:t>
            </a:r>
            <a:r>
              <a:rPr lang="ja-JP" altLang="en-US" dirty="0"/>
              <a:t>’</a:t>
            </a:r>
            <a:r>
              <a:rPr lang="en-US" altLang="ja-JP" dirty="0"/>
              <a:t> to avoid the mistakes of the first two</a:t>
            </a:r>
          </a:p>
          <a:p>
            <a:pPr lvl="1"/>
            <a:r>
              <a:rPr lang="en-US" dirty="0"/>
              <a:t>This also influenced its philosophy a great deal</a:t>
            </a:r>
          </a:p>
        </p:txBody>
      </p:sp>
    </p:spTree>
    <p:extLst>
      <p:ext uri="{BB962C8B-B14F-4D97-AF65-F5344CB8AC3E}">
        <p14:creationId xmlns:p14="http://schemas.microsoft.com/office/powerpoint/2010/main" val="1931606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Unix</a:t>
            </a:r>
          </a:p>
        </p:txBody>
      </p:sp>
      <p:sp>
        <p:nvSpPr>
          <p:cNvPr id="3" name="Slide Number Placeholder 2"/>
          <p:cNvSpPr>
            <a:spLocks noGrp="1"/>
          </p:cNvSpPr>
          <p:nvPr>
            <p:ph type="sldNum" sz="quarter" idx="12"/>
          </p:nvPr>
        </p:nvSpPr>
        <p:spPr/>
        <p:txBody>
          <a:bodyPr/>
          <a:lstStyle/>
          <a:p>
            <a:fld id="{F1E687AB-0FD7-C047-930B-FD009416571E}" type="slidenum">
              <a:rPr lang="en-US" smtClean="0"/>
              <a:t>7</a:t>
            </a:fld>
            <a:endParaRPr lang="en-US" dirty="0"/>
          </a:p>
        </p:txBody>
      </p:sp>
      <p:sp>
        <p:nvSpPr>
          <p:cNvPr id="4" name="Rectangle 3"/>
          <p:cNvSpPr txBox="1">
            <a:spLocks noChangeArrowheads="1"/>
          </p:cNvSpPr>
          <p:nvPr/>
        </p:nvSpPr>
        <p:spPr>
          <a:xfrm>
            <a:off x="457200" y="1600200"/>
            <a:ext cx="8229600" cy="4525963"/>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A PDP-7 was used to create a single user version of MULTICS, which became UNIX</a:t>
            </a:r>
          </a:p>
          <a:p>
            <a:r>
              <a:rPr lang="en-US" dirty="0"/>
              <a:t>Ken Thompson from Bell Labs was the papa of UNIX in 1969</a:t>
            </a:r>
          </a:p>
          <a:p>
            <a:r>
              <a:rPr lang="en-US" dirty="0"/>
              <a:t>Originally called UNICS, for </a:t>
            </a:r>
            <a:r>
              <a:rPr lang="en-US" dirty="0" err="1"/>
              <a:t>UNiplexed</a:t>
            </a:r>
            <a:r>
              <a:rPr lang="en-US" dirty="0"/>
              <a:t> Information and Computer Service, a pun on MULTICS</a:t>
            </a:r>
          </a:p>
        </p:txBody>
      </p:sp>
    </p:spTree>
    <p:extLst>
      <p:ext uri="{BB962C8B-B14F-4D97-AF65-F5344CB8AC3E}">
        <p14:creationId xmlns:p14="http://schemas.microsoft.com/office/powerpoint/2010/main" val="1931606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1968-1969</a:t>
            </a:r>
          </a:p>
        </p:txBody>
      </p:sp>
      <p:sp>
        <p:nvSpPr>
          <p:cNvPr id="3" name="Slide Number Placeholder 2"/>
          <p:cNvSpPr>
            <a:spLocks noGrp="1"/>
          </p:cNvSpPr>
          <p:nvPr>
            <p:ph type="sldNum" sz="quarter" idx="12"/>
          </p:nvPr>
        </p:nvSpPr>
        <p:spPr/>
        <p:txBody>
          <a:bodyPr/>
          <a:lstStyle/>
          <a:p>
            <a:fld id="{F1E687AB-0FD7-C047-930B-FD009416571E}" type="slidenum">
              <a:rPr lang="en-US" smtClean="0"/>
              <a:t>8</a:t>
            </a:fld>
            <a:endParaRPr lang="en-US" dirty="0"/>
          </a:p>
        </p:txBody>
      </p:sp>
      <p:sp>
        <p:nvSpPr>
          <p:cNvPr id="4" name="Rectangle 3"/>
          <p:cNvSpPr txBox="1">
            <a:spLocks noChangeArrowheads="1"/>
          </p:cNvSpPr>
          <p:nvPr/>
        </p:nvSpPr>
        <p:spPr>
          <a:xfrm>
            <a:off x="457200" y="1600200"/>
            <a:ext cx="8229600" cy="4525963"/>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a:defRPr/>
            </a:pPr>
            <a:r>
              <a:rPr lang="en-US" dirty="0" err="1"/>
              <a:t>ARPAnet</a:t>
            </a:r>
            <a:r>
              <a:rPr lang="en-US" dirty="0"/>
              <a:t> invented, foundation of the Internet</a:t>
            </a:r>
          </a:p>
          <a:p>
            <a:pPr>
              <a:defRPr/>
            </a:pPr>
            <a:r>
              <a:rPr lang="en-US" dirty="0"/>
              <a:t>UNIX invented</a:t>
            </a:r>
          </a:p>
          <a:p>
            <a:pPr lvl="1">
              <a:defRPr/>
            </a:pPr>
            <a:r>
              <a:rPr lang="en-US" dirty="0"/>
              <a:t>Computers viewed as the nucleus of communities, not just number crunchers</a:t>
            </a:r>
          </a:p>
          <a:p>
            <a:pPr>
              <a:defRPr/>
            </a:pPr>
            <a:r>
              <a:rPr lang="en-US" dirty="0"/>
              <a:t>   C programming language invented*</a:t>
            </a:r>
          </a:p>
        </p:txBody>
      </p:sp>
    </p:spTree>
    <p:extLst>
      <p:ext uri="{BB962C8B-B14F-4D97-AF65-F5344CB8AC3E}">
        <p14:creationId xmlns:p14="http://schemas.microsoft.com/office/powerpoint/2010/main" val="172652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UNIX and Portability</a:t>
            </a:r>
          </a:p>
        </p:txBody>
      </p:sp>
      <p:sp>
        <p:nvSpPr>
          <p:cNvPr id="3" name="Slide Number Placeholder 2"/>
          <p:cNvSpPr>
            <a:spLocks noGrp="1"/>
          </p:cNvSpPr>
          <p:nvPr>
            <p:ph type="sldNum" sz="quarter" idx="12"/>
          </p:nvPr>
        </p:nvSpPr>
        <p:spPr/>
        <p:txBody>
          <a:bodyPr/>
          <a:lstStyle/>
          <a:p>
            <a:fld id="{F1E687AB-0FD7-C047-930B-FD009416571E}" type="slidenum">
              <a:rPr lang="en-US" smtClean="0"/>
              <a:t>9</a:t>
            </a:fld>
            <a:endParaRPr lang="en-US" dirty="0"/>
          </a:p>
        </p:txBody>
      </p:sp>
      <p:sp>
        <p:nvSpPr>
          <p:cNvPr id="4" name="Rectangle 3"/>
          <p:cNvSpPr txBox="1">
            <a:spLocks noChangeArrowheads="1"/>
          </p:cNvSpPr>
          <p:nvPr/>
        </p:nvSpPr>
        <p:spPr>
          <a:xfrm>
            <a:off x="457200" y="1600200"/>
            <a:ext cx="8229600" cy="4525963"/>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UNIX was written in a third generation programming language (C) in 1973</a:t>
            </a:r>
          </a:p>
          <a:p>
            <a:pPr lvl="1"/>
            <a:r>
              <a:rPr lang="en-US" dirty="0"/>
              <a:t>Before that it was written in B.  Really.</a:t>
            </a:r>
          </a:p>
          <a:p>
            <a:pPr lvl="1"/>
            <a:r>
              <a:rPr lang="en-US" dirty="0"/>
              <a:t>Before UNIX, most OS</a:t>
            </a:r>
            <a:r>
              <a:rPr lang="ja-JP" altLang="en-US" dirty="0"/>
              <a:t>’</a:t>
            </a:r>
            <a:r>
              <a:rPr lang="en-US" altLang="ja-JP" dirty="0"/>
              <a:t>s were written in assembly language for a specific platform</a:t>
            </a:r>
          </a:p>
          <a:p>
            <a:r>
              <a:rPr lang="en-US" dirty="0"/>
              <a:t>Its source code was distributed from the start, hence it encouraged portability</a:t>
            </a:r>
          </a:p>
          <a:p>
            <a:pPr lvl="1"/>
            <a:r>
              <a:rPr lang="en-US" dirty="0"/>
              <a:t>But this also helped UNIX fragment quickly</a:t>
            </a:r>
          </a:p>
        </p:txBody>
      </p:sp>
    </p:spTree>
    <p:extLst>
      <p:ext uri="{BB962C8B-B14F-4D97-AF65-F5344CB8AC3E}">
        <p14:creationId xmlns:p14="http://schemas.microsoft.com/office/powerpoint/2010/main" val="1482546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UNIX</a:t>
            </a:r>
          </a:p>
        </p:txBody>
      </p:sp>
      <p:sp>
        <p:nvSpPr>
          <p:cNvPr id="3" name="Slide Number Placeholder 2"/>
          <p:cNvSpPr>
            <a:spLocks noGrp="1"/>
          </p:cNvSpPr>
          <p:nvPr>
            <p:ph type="sldNum" sz="quarter" idx="12"/>
          </p:nvPr>
        </p:nvSpPr>
        <p:spPr/>
        <p:txBody>
          <a:bodyPr/>
          <a:lstStyle/>
          <a:p>
            <a:fld id="{F1E687AB-0FD7-C047-930B-FD009416571E}" type="slidenum">
              <a:rPr lang="en-US" smtClean="0"/>
              <a:t>10</a:t>
            </a:fld>
            <a:endParaRPr lang="en-US" dirty="0"/>
          </a:p>
        </p:txBody>
      </p:sp>
      <p:sp>
        <p:nvSpPr>
          <p:cNvPr id="4" name="Rectangle 3"/>
          <p:cNvSpPr txBox="1">
            <a:spLocks noChangeArrowheads="1"/>
          </p:cNvSpPr>
          <p:nvPr/>
        </p:nvSpPr>
        <p:spPr>
          <a:xfrm>
            <a:off x="457200" y="1600200"/>
            <a:ext cx="8229600" cy="4525963"/>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Unix evolution followed two major paths</a:t>
            </a:r>
          </a:p>
          <a:p>
            <a:pPr lvl="1"/>
            <a:r>
              <a:rPr lang="en-US" dirty="0"/>
              <a:t>(IBM) </a:t>
            </a:r>
            <a:r>
              <a:rPr lang="en-US" b="1" dirty="0"/>
              <a:t>System V</a:t>
            </a:r>
            <a:r>
              <a:rPr lang="en-US" dirty="0"/>
              <a:t> versus </a:t>
            </a:r>
            <a:r>
              <a:rPr lang="en-US" b="1" dirty="0"/>
              <a:t>BSD</a:t>
            </a:r>
            <a:r>
              <a:rPr lang="en-US" dirty="0"/>
              <a:t> (Berkeley Software Distribution)</a:t>
            </a:r>
          </a:p>
          <a:p>
            <a:pPr lvl="1"/>
            <a:r>
              <a:rPr lang="en-US" dirty="0"/>
              <a:t>Many commands differ between them</a:t>
            </a:r>
          </a:p>
          <a:p>
            <a:pPr lvl="1"/>
            <a:r>
              <a:rPr lang="en-US" dirty="0"/>
              <a:t>Most current Unix's are a blend of V and BSD</a:t>
            </a:r>
          </a:p>
          <a:p>
            <a:r>
              <a:rPr lang="en-US" dirty="0"/>
              <a:t>1983 UNIX became a commercial product</a:t>
            </a:r>
          </a:p>
          <a:p>
            <a:pPr lvl="1"/>
            <a:r>
              <a:rPr lang="en-US" dirty="0"/>
              <a:t>Spread UNIX internationally</a:t>
            </a:r>
          </a:p>
          <a:p>
            <a:pPr lvl="1"/>
            <a:r>
              <a:rPr lang="en-US" dirty="0"/>
              <a:t>Almost killed it with proprietary variants</a:t>
            </a:r>
          </a:p>
        </p:txBody>
      </p:sp>
    </p:spTree>
    <p:extLst>
      <p:ext uri="{BB962C8B-B14F-4D97-AF65-F5344CB8AC3E}">
        <p14:creationId xmlns:p14="http://schemas.microsoft.com/office/powerpoint/2010/main" val="1313019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1983-1985</a:t>
            </a:r>
          </a:p>
        </p:txBody>
      </p:sp>
      <p:sp>
        <p:nvSpPr>
          <p:cNvPr id="3" name="Slide Number Placeholder 2"/>
          <p:cNvSpPr>
            <a:spLocks noGrp="1"/>
          </p:cNvSpPr>
          <p:nvPr>
            <p:ph type="sldNum" sz="quarter" idx="12"/>
          </p:nvPr>
        </p:nvSpPr>
        <p:spPr/>
        <p:txBody>
          <a:bodyPr/>
          <a:lstStyle/>
          <a:p>
            <a:fld id="{F1E687AB-0FD7-C047-930B-FD009416571E}" type="slidenum">
              <a:rPr lang="en-US" smtClean="0"/>
              <a:t>11</a:t>
            </a:fld>
            <a:endParaRPr lang="en-US" dirty="0"/>
          </a:p>
        </p:txBody>
      </p:sp>
      <p:sp>
        <p:nvSpPr>
          <p:cNvPr id="4" name="Rectangle 3"/>
          <p:cNvSpPr txBox="1">
            <a:spLocks noChangeArrowheads="1"/>
          </p:cNvSpPr>
          <p:nvPr/>
        </p:nvSpPr>
        <p:spPr>
          <a:xfrm>
            <a:off x="457200" y="1600200"/>
            <a:ext cx="8229600" cy="4525963"/>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The Intel 386 chip was released</a:t>
            </a:r>
          </a:p>
          <a:p>
            <a:pPr lvl="1"/>
            <a:r>
              <a:rPr lang="en-US" dirty="0"/>
              <a:t>32-bit clean addressing, up to 4 GB of RAM</a:t>
            </a:r>
          </a:p>
          <a:p>
            <a:pPr lvl="1"/>
            <a:r>
              <a:rPr lang="en-US" dirty="0"/>
              <a:t>Basis of the first UNIX-based PC</a:t>
            </a:r>
          </a:p>
          <a:p>
            <a:pPr lvl="1"/>
            <a:r>
              <a:rPr lang="en-US" dirty="0"/>
              <a:t>Major threat to the workstation market</a:t>
            </a:r>
          </a:p>
          <a:p>
            <a:r>
              <a:rPr lang="en-US" dirty="0"/>
              <a:t>Richard Stallman issued GNU manifesto, launched the Free Software Foundation </a:t>
            </a:r>
          </a:p>
          <a:p>
            <a:pPr lvl="1"/>
            <a:r>
              <a:rPr lang="en-US" dirty="0"/>
              <a:t>Notice that UNIX followed the open source model even before it had that name</a:t>
            </a:r>
          </a:p>
        </p:txBody>
      </p:sp>
    </p:spTree>
    <p:extLst>
      <p:ext uri="{BB962C8B-B14F-4D97-AF65-F5344CB8AC3E}">
        <p14:creationId xmlns:p14="http://schemas.microsoft.com/office/powerpoint/2010/main" val="1424105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Linux</a:t>
            </a:r>
          </a:p>
        </p:txBody>
      </p:sp>
      <p:sp>
        <p:nvSpPr>
          <p:cNvPr id="3" name="Slide Number Placeholder 2"/>
          <p:cNvSpPr>
            <a:spLocks noGrp="1"/>
          </p:cNvSpPr>
          <p:nvPr>
            <p:ph type="sldNum" sz="quarter" idx="12"/>
          </p:nvPr>
        </p:nvSpPr>
        <p:spPr/>
        <p:txBody>
          <a:bodyPr/>
          <a:lstStyle/>
          <a:p>
            <a:fld id="{F1E687AB-0FD7-C047-930B-FD009416571E}" type="slidenum">
              <a:rPr lang="en-US" smtClean="0"/>
              <a:t>12</a:t>
            </a:fld>
            <a:endParaRPr lang="en-US" dirty="0"/>
          </a:p>
        </p:txBody>
      </p:sp>
      <p:sp>
        <p:nvSpPr>
          <p:cNvPr id="4" name="Rectangle 3"/>
          <p:cNvSpPr txBox="1">
            <a:spLocks noChangeArrowheads="1"/>
          </p:cNvSpPr>
          <p:nvPr/>
        </p:nvSpPr>
        <p:spPr>
          <a:xfrm>
            <a:off x="457200" y="1600200"/>
            <a:ext cx="8229600" cy="4525963"/>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a:lnSpc>
                <a:spcPct val="90000"/>
              </a:lnSpc>
            </a:pPr>
            <a:r>
              <a:rPr lang="en-US" dirty="0"/>
              <a:t>Linux was started in 1991 by Linus Torvalds, a Finnish student, in response </a:t>
            </a:r>
            <a:br>
              <a:rPr lang="en-US" dirty="0"/>
            </a:br>
            <a:r>
              <a:rPr lang="en-US" dirty="0"/>
              <a:t>to the high cost of Sun UNIX</a:t>
            </a:r>
          </a:p>
          <a:p>
            <a:pPr lvl="1">
              <a:lnSpc>
                <a:spcPct val="90000"/>
              </a:lnSpc>
            </a:pPr>
            <a:r>
              <a:rPr lang="en-US" dirty="0"/>
              <a:t>His goal was to port BSD UNIX to a 386</a:t>
            </a:r>
          </a:p>
          <a:p>
            <a:pPr lvl="1">
              <a:lnSpc>
                <a:spcPct val="90000"/>
              </a:lnSpc>
            </a:pPr>
            <a:r>
              <a:rPr lang="en-US" dirty="0"/>
              <a:t>He </a:t>
            </a:r>
            <a:r>
              <a:rPr lang="en-US" dirty="0" err="1"/>
              <a:t>didn</a:t>
            </a:r>
            <a:r>
              <a:rPr lang="ja-JP" altLang="en-US" dirty="0"/>
              <a:t>’</a:t>
            </a:r>
            <a:r>
              <a:rPr lang="en-US" altLang="ja-JP" dirty="0"/>
              <a:t>t know the Internet was about to become very public</a:t>
            </a:r>
          </a:p>
          <a:p>
            <a:pPr lvl="1">
              <a:lnSpc>
                <a:spcPct val="90000"/>
              </a:lnSpc>
            </a:pPr>
            <a:r>
              <a:rPr lang="en-US" dirty="0"/>
              <a:t>I doubt he intended to create a revolution</a:t>
            </a:r>
          </a:p>
          <a:p>
            <a:pPr>
              <a:lnSpc>
                <a:spcPct val="90000"/>
              </a:lnSpc>
            </a:pPr>
            <a:r>
              <a:rPr lang="en-US" dirty="0"/>
              <a:t>He used GNU open source tools to add </a:t>
            </a:r>
            <a:br>
              <a:rPr lang="en-US" dirty="0"/>
            </a:br>
            <a:r>
              <a:rPr lang="en-US" dirty="0"/>
              <a:t>    onto the foundation he and others laid</a:t>
            </a:r>
          </a:p>
        </p:txBody>
      </p:sp>
    </p:spTree>
    <p:extLst>
      <p:ext uri="{BB962C8B-B14F-4D97-AF65-F5344CB8AC3E}">
        <p14:creationId xmlns:p14="http://schemas.microsoft.com/office/powerpoint/2010/main" val="507939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so Good About Linux?</a:t>
            </a:r>
          </a:p>
        </p:txBody>
      </p:sp>
      <p:sp>
        <p:nvSpPr>
          <p:cNvPr id="3" name="Slide Number Placeholder 2"/>
          <p:cNvSpPr>
            <a:spLocks noGrp="1"/>
          </p:cNvSpPr>
          <p:nvPr>
            <p:ph type="sldNum" sz="quarter" idx="12"/>
          </p:nvPr>
        </p:nvSpPr>
        <p:spPr/>
        <p:txBody>
          <a:bodyPr/>
          <a:lstStyle/>
          <a:p>
            <a:fld id="{F1E687AB-0FD7-C047-930B-FD009416571E}" type="slidenum">
              <a:rPr lang="en-US" smtClean="0"/>
              <a:t>13</a:t>
            </a:fld>
            <a:endParaRPr lang="en-US" dirty="0"/>
          </a:p>
        </p:txBody>
      </p:sp>
      <p:sp>
        <p:nvSpPr>
          <p:cNvPr id="4" name="Content Placeholder 2"/>
          <p:cNvSpPr txBox="1">
            <a:spLocks/>
          </p:cNvSpPr>
          <p:nvPr/>
        </p:nvSpPr>
        <p:spPr>
          <a:xfrm>
            <a:off x="457200" y="1571812"/>
            <a:ext cx="8229600" cy="4876800"/>
          </a:xfrm>
          <a:prstGeom prst="rect">
            <a:avLst/>
          </a:prstGeom>
        </p:spPr>
        <p:txBody>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Standards</a:t>
            </a:r>
          </a:p>
          <a:p>
            <a:pPr lvl="1"/>
            <a:r>
              <a:rPr lang="en-US" dirty="0"/>
              <a:t>In 1985 the computer industry worked together to develop the POSIX (Portable Operating System Interface for Computer Environments)</a:t>
            </a:r>
          </a:p>
          <a:p>
            <a:pPr lvl="1"/>
            <a:r>
              <a:rPr lang="en-US" dirty="0"/>
              <a:t>Group of IEEE standards that define the API, Application Programming Interface, shell, and utility interfaces for an </a:t>
            </a:r>
            <a:r>
              <a:rPr lang="en-US" dirty="0" err="1"/>
              <a:t>os</a:t>
            </a:r>
            <a:endParaRPr lang="en-US" dirty="0"/>
          </a:p>
          <a:p>
            <a:pPr lvl="1"/>
            <a:r>
              <a:rPr lang="en-US" dirty="0"/>
              <a:t>These standards were based largely on Unix</a:t>
            </a:r>
          </a:p>
          <a:p>
            <a:r>
              <a:rPr lang="en-US" dirty="0"/>
              <a:t>Applications- A rich set of applications is available for Linux both free and commercial</a:t>
            </a:r>
          </a:p>
          <a:p>
            <a:pPr lvl="1"/>
            <a:endParaRPr lang="en-US" dirty="0"/>
          </a:p>
        </p:txBody>
      </p:sp>
    </p:spTree>
    <p:extLst>
      <p:ext uri="{BB962C8B-B14F-4D97-AF65-F5344CB8AC3E}">
        <p14:creationId xmlns:p14="http://schemas.microsoft.com/office/powerpoint/2010/main" val="1097352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so Good About Linux?</a:t>
            </a:r>
          </a:p>
        </p:txBody>
      </p:sp>
      <p:sp>
        <p:nvSpPr>
          <p:cNvPr id="3" name="Slide Number Placeholder 2"/>
          <p:cNvSpPr>
            <a:spLocks noGrp="1"/>
          </p:cNvSpPr>
          <p:nvPr>
            <p:ph type="sldNum" sz="quarter" idx="12"/>
          </p:nvPr>
        </p:nvSpPr>
        <p:spPr/>
        <p:txBody>
          <a:bodyPr/>
          <a:lstStyle/>
          <a:p>
            <a:fld id="{F1E687AB-0FD7-C047-930B-FD009416571E}" type="slidenum">
              <a:rPr lang="en-US" smtClean="0"/>
              <a:t>14</a:t>
            </a:fld>
            <a:endParaRPr lang="en-US" dirty="0"/>
          </a:p>
        </p:txBody>
      </p:sp>
      <p:sp>
        <p:nvSpPr>
          <p:cNvPr id="4" name="Content Placeholder 2"/>
          <p:cNvSpPr txBox="1">
            <a:spLocks/>
          </p:cNvSpPr>
          <p:nvPr/>
        </p:nvSpPr>
        <p:spPr>
          <a:xfrm>
            <a:off x="457200" y="1571812"/>
            <a:ext cx="8229600" cy="4876800"/>
          </a:xfrm>
          <a:prstGeom prst="rect">
            <a:avLst/>
          </a:prstGeom>
        </p:spPr>
        <p:txBody>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Used a higher level language, C</a:t>
            </a:r>
          </a:p>
          <a:p>
            <a:pPr lvl="1"/>
            <a:r>
              <a:rPr lang="en-US" dirty="0"/>
              <a:t>Easier to enhance – people prefer coding in C than a platform specific Assembly code language</a:t>
            </a:r>
          </a:p>
          <a:p>
            <a:pPr lvl="1"/>
            <a:r>
              <a:rPr lang="en-US" dirty="0"/>
              <a:t>Portable to different hardware platforms</a:t>
            </a:r>
          </a:p>
          <a:p>
            <a:r>
              <a:rPr lang="en-US" dirty="0"/>
              <a:t>Linux is an open operating system</a:t>
            </a:r>
          </a:p>
          <a:p>
            <a:pPr lvl="1"/>
            <a:r>
              <a:rPr lang="en-US" dirty="0"/>
              <a:t>Open Source</a:t>
            </a:r>
          </a:p>
          <a:p>
            <a:pPr lvl="1"/>
            <a:r>
              <a:rPr lang="en-US" dirty="0"/>
              <a:t>No license fee</a:t>
            </a:r>
          </a:p>
          <a:p>
            <a:r>
              <a:rPr lang="en-US" dirty="0"/>
              <a:t>Linux kernel</a:t>
            </a:r>
          </a:p>
          <a:p>
            <a:pPr lvl="1"/>
            <a:r>
              <a:rPr lang="en-US" dirty="0"/>
              <a:t>Uses less memory than many proprietary </a:t>
            </a:r>
            <a:r>
              <a:rPr lang="en-US" dirty="0" err="1"/>
              <a:t>os’s</a:t>
            </a:r>
            <a:endParaRPr lang="en-US" dirty="0"/>
          </a:p>
          <a:p>
            <a:pPr lvl="1"/>
            <a:endParaRPr lang="en-US" dirty="0"/>
          </a:p>
        </p:txBody>
      </p:sp>
    </p:spTree>
    <p:extLst>
      <p:ext uri="{BB962C8B-B14F-4D97-AF65-F5344CB8AC3E}">
        <p14:creationId xmlns:p14="http://schemas.microsoft.com/office/powerpoint/2010/main" val="507939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do companies make money with Linux?</a:t>
            </a:r>
          </a:p>
        </p:txBody>
      </p:sp>
      <p:sp>
        <p:nvSpPr>
          <p:cNvPr id="3" name="Slide Number Placeholder 2"/>
          <p:cNvSpPr>
            <a:spLocks noGrp="1"/>
          </p:cNvSpPr>
          <p:nvPr>
            <p:ph type="sldNum" sz="quarter" idx="12"/>
          </p:nvPr>
        </p:nvSpPr>
        <p:spPr/>
        <p:txBody>
          <a:bodyPr/>
          <a:lstStyle/>
          <a:p>
            <a:fld id="{F1E687AB-0FD7-C047-930B-FD009416571E}" type="slidenum">
              <a:rPr lang="en-US" smtClean="0"/>
              <a:t>15</a:t>
            </a:fld>
            <a:endParaRPr lang="en-US" dirty="0"/>
          </a:p>
        </p:txBody>
      </p:sp>
      <p:sp>
        <p:nvSpPr>
          <p:cNvPr id="4" name="Content Placeholder 2"/>
          <p:cNvSpPr txBox="1">
            <a:spLocks/>
          </p:cNvSpPr>
          <p:nvPr/>
        </p:nvSpPr>
        <p:spPr>
          <a:xfrm>
            <a:off x="457200" y="1571812"/>
            <a:ext cx="8229600" cy="4876800"/>
          </a:xfrm>
          <a:prstGeom prst="rect">
            <a:avLst/>
          </a:prstGeom>
        </p:spPr>
        <p:txBody>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Companies can make money using open source software by</a:t>
            </a:r>
          </a:p>
          <a:p>
            <a:pPr lvl="1"/>
            <a:r>
              <a:rPr lang="en-US" dirty="0"/>
              <a:t>Selling Support on supported releases</a:t>
            </a:r>
          </a:p>
          <a:p>
            <a:pPr lvl="1"/>
            <a:r>
              <a:rPr lang="en-US" dirty="0"/>
              <a:t>Selling training and/or documentation</a:t>
            </a:r>
          </a:p>
          <a:p>
            <a:pPr lvl="1"/>
            <a:r>
              <a:rPr lang="en-US" dirty="0"/>
              <a:t>Subscriptions to automated software updates</a:t>
            </a:r>
          </a:p>
          <a:p>
            <a:r>
              <a:rPr lang="en-US" dirty="0"/>
              <a:t>Notably Red Hat </a:t>
            </a:r>
          </a:p>
          <a:p>
            <a:pPr lvl="1"/>
            <a:r>
              <a:rPr lang="en-US" dirty="0"/>
              <a:t>Currently one of the largest contributors to the Linux kernel</a:t>
            </a:r>
          </a:p>
          <a:p>
            <a:pPr lvl="1"/>
            <a:r>
              <a:rPr lang="en-US" dirty="0"/>
              <a:t>Sponsors the open source Fedora project </a:t>
            </a:r>
          </a:p>
          <a:p>
            <a:pPr lvl="1"/>
            <a:endParaRPr lang="en-US" dirty="0"/>
          </a:p>
          <a:p>
            <a:pPr marL="274320" lvl="1" indent="0">
              <a:buNone/>
            </a:pPr>
            <a:endParaRPr lang="en-US" dirty="0"/>
          </a:p>
          <a:p>
            <a:pPr lvl="1"/>
            <a:endParaRPr lang="en-US" dirty="0"/>
          </a:p>
          <a:p>
            <a:pPr lvl="1"/>
            <a:endParaRPr lang="en-US" dirty="0"/>
          </a:p>
        </p:txBody>
      </p:sp>
    </p:spTree>
    <p:extLst>
      <p:ext uri="{BB962C8B-B14F-4D97-AF65-F5344CB8AC3E}">
        <p14:creationId xmlns:p14="http://schemas.microsoft.com/office/powerpoint/2010/main" val="14148945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do companies make money with Linux?</a:t>
            </a:r>
          </a:p>
        </p:txBody>
      </p:sp>
      <p:sp>
        <p:nvSpPr>
          <p:cNvPr id="3" name="Slide Number Placeholder 2"/>
          <p:cNvSpPr>
            <a:spLocks noGrp="1"/>
          </p:cNvSpPr>
          <p:nvPr>
            <p:ph type="sldNum" sz="quarter" idx="12"/>
          </p:nvPr>
        </p:nvSpPr>
        <p:spPr/>
        <p:txBody>
          <a:bodyPr/>
          <a:lstStyle/>
          <a:p>
            <a:fld id="{F1E687AB-0FD7-C047-930B-FD009416571E}" type="slidenum">
              <a:rPr lang="en-US" smtClean="0"/>
              <a:t>16</a:t>
            </a:fld>
            <a:endParaRPr lang="en-US" dirty="0"/>
          </a:p>
        </p:txBody>
      </p:sp>
      <p:sp>
        <p:nvSpPr>
          <p:cNvPr id="4" name="Content Placeholder 2"/>
          <p:cNvSpPr txBox="1">
            <a:spLocks/>
          </p:cNvSpPr>
          <p:nvPr/>
        </p:nvSpPr>
        <p:spPr>
          <a:xfrm>
            <a:off x="457200" y="1356360"/>
            <a:ext cx="8229600" cy="4876800"/>
          </a:xfrm>
          <a:prstGeom prst="rect">
            <a:avLst/>
          </a:prstGeom>
        </p:spPr>
        <p:txBody>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sz="2600" dirty="0"/>
              <a:t>Fedora is a community-based, free distribution focused on quick releases with new features and functionality.</a:t>
            </a:r>
          </a:p>
          <a:p>
            <a:r>
              <a:rPr lang="en-US" sz="2600" dirty="0" err="1"/>
              <a:t>Redhat</a:t>
            </a:r>
            <a:r>
              <a:rPr lang="en-US" sz="2600" dirty="0"/>
              <a:t> is the corporate version based upon Fedora</a:t>
            </a:r>
          </a:p>
          <a:p>
            <a:pPr lvl="1"/>
            <a:r>
              <a:rPr lang="en-US" sz="2200" dirty="0"/>
              <a:t>Has slower releases</a:t>
            </a:r>
          </a:p>
          <a:p>
            <a:pPr lvl="1"/>
            <a:r>
              <a:rPr lang="en-US" sz="2200" dirty="0"/>
              <a:t>Comes with support from </a:t>
            </a:r>
            <a:r>
              <a:rPr lang="en-US" sz="2200" dirty="0" err="1"/>
              <a:t>RedHat</a:t>
            </a:r>
            <a:r>
              <a:rPr lang="en-US" sz="2200" dirty="0"/>
              <a:t>, the corporation </a:t>
            </a:r>
          </a:p>
          <a:p>
            <a:pPr lvl="1"/>
            <a:r>
              <a:rPr lang="en-US" sz="2200" dirty="0"/>
              <a:t>Is not free </a:t>
            </a:r>
          </a:p>
          <a:p>
            <a:pPr lvl="1"/>
            <a:r>
              <a:rPr lang="en-US" sz="2200" dirty="0"/>
              <a:t>RedHat was a publicly traded company on the NYSE under the symbol RHT. Purchased by </a:t>
            </a:r>
            <a:r>
              <a:rPr lang="en-US" sz="2200"/>
              <a:t>IBM in 2019.</a:t>
            </a:r>
            <a:endParaRPr lang="en-US" sz="2200" dirty="0"/>
          </a:p>
          <a:p>
            <a:r>
              <a:rPr lang="en-US" sz="2600" dirty="0" err="1"/>
              <a:t>CentOS</a:t>
            </a:r>
            <a:r>
              <a:rPr lang="en-US" sz="2600" dirty="0"/>
              <a:t> is basically the community version of </a:t>
            </a:r>
            <a:r>
              <a:rPr lang="en-US" sz="2600" dirty="0" err="1"/>
              <a:t>Redhat</a:t>
            </a:r>
            <a:r>
              <a:rPr lang="en-US" sz="2600" dirty="0"/>
              <a:t>. </a:t>
            </a:r>
          </a:p>
          <a:p>
            <a:pPr lvl="1"/>
            <a:r>
              <a:rPr lang="en-US" sz="2200" dirty="0"/>
              <a:t>Community based distribution identical to </a:t>
            </a:r>
            <a:r>
              <a:rPr lang="en-US" sz="2200" dirty="0" err="1"/>
              <a:t>RedHat</a:t>
            </a:r>
            <a:endParaRPr lang="en-US" sz="2200" dirty="0"/>
          </a:p>
          <a:p>
            <a:pPr lvl="1"/>
            <a:r>
              <a:rPr lang="en-US" sz="2200" dirty="0"/>
              <a:t>Free</a:t>
            </a:r>
          </a:p>
          <a:p>
            <a:pPr lvl="1"/>
            <a:r>
              <a:rPr lang="en-US" sz="2200" dirty="0"/>
              <a:t>Support comes from the community as opposed to </a:t>
            </a:r>
            <a:r>
              <a:rPr lang="en-US" sz="2200" dirty="0" err="1"/>
              <a:t>Redhat</a:t>
            </a:r>
            <a:r>
              <a:rPr lang="en-US" sz="2200" dirty="0"/>
              <a:t> itself</a:t>
            </a:r>
            <a:endParaRPr lang="en-US" dirty="0"/>
          </a:p>
          <a:p>
            <a:pPr marL="274320" lvl="1" indent="0">
              <a:buNone/>
            </a:pPr>
            <a:endParaRPr lang="en-US" dirty="0"/>
          </a:p>
          <a:p>
            <a:pPr lvl="1"/>
            <a:endParaRPr lang="en-US" dirty="0"/>
          </a:p>
          <a:p>
            <a:pPr lvl="1"/>
            <a:endParaRPr lang="en-US" dirty="0"/>
          </a:p>
        </p:txBody>
      </p:sp>
    </p:spTree>
    <p:extLst>
      <p:ext uri="{BB962C8B-B14F-4D97-AF65-F5344CB8AC3E}">
        <p14:creationId xmlns:p14="http://schemas.microsoft.com/office/powerpoint/2010/main" val="1255570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do companies make money with Linux?</a:t>
            </a:r>
          </a:p>
        </p:txBody>
      </p:sp>
      <p:sp>
        <p:nvSpPr>
          <p:cNvPr id="3" name="Slide Number Placeholder 2"/>
          <p:cNvSpPr>
            <a:spLocks noGrp="1"/>
          </p:cNvSpPr>
          <p:nvPr>
            <p:ph type="sldNum" sz="quarter" idx="12"/>
          </p:nvPr>
        </p:nvSpPr>
        <p:spPr/>
        <p:txBody>
          <a:bodyPr/>
          <a:lstStyle/>
          <a:p>
            <a:fld id="{F1E687AB-0FD7-C047-930B-FD009416571E}" type="slidenum">
              <a:rPr lang="en-US" smtClean="0"/>
              <a:t>17</a:t>
            </a:fld>
            <a:endParaRPr lang="en-US" dirty="0"/>
          </a:p>
        </p:txBody>
      </p:sp>
      <p:sp>
        <p:nvSpPr>
          <p:cNvPr id="4" name="Content Placeholder 2"/>
          <p:cNvSpPr txBox="1">
            <a:spLocks/>
          </p:cNvSpPr>
          <p:nvPr/>
        </p:nvSpPr>
        <p:spPr>
          <a:xfrm>
            <a:off x="457200" y="1404172"/>
            <a:ext cx="8229600" cy="4876800"/>
          </a:xfrm>
          <a:prstGeom prst="rect">
            <a:avLst/>
          </a:prstGeom>
        </p:spPr>
        <p:txBody>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sz="2400" dirty="0"/>
              <a:t>Canonical Ltd. is a private company that created and continues to pay for Ubuntu. Canonical was initially founded by multi-millionaire Mark Shuttleworth without an immediate goal to make a profit.</a:t>
            </a:r>
          </a:p>
          <a:p>
            <a:r>
              <a:rPr lang="en-US" sz="2400" dirty="0"/>
              <a:t>Some of </a:t>
            </a:r>
            <a:r>
              <a:rPr lang="en-US" sz="2400" dirty="0" err="1"/>
              <a:t>Canonical’s</a:t>
            </a:r>
            <a:r>
              <a:rPr lang="en-US" sz="2400" dirty="0"/>
              <a:t> key revenue streams offer services around Ubuntu:</a:t>
            </a:r>
          </a:p>
          <a:p>
            <a:pPr lvl="1"/>
            <a:r>
              <a:rPr lang="en-US" sz="2200" dirty="0"/>
              <a:t>Support services (mostly to business) alongside which they sell Landscape</a:t>
            </a:r>
          </a:p>
          <a:p>
            <a:pPr lvl="1"/>
            <a:r>
              <a:rPr lang="en-US" sz="2200" dirty="0"/>
              <a:t>Landscape is management tool used to deploy, monitor and manage Ubuntu servers to help with building a cloud.</a:t>
            </a:r>
          </a:p>
          <a:p>
            <a:pPr lvl="1"/>
            <a:r>
              <a:rPr lang="en-US" sz="2200" dirty="0"/>
              <a:t>Contracting services to businesses (for instance working with OEMs such as Dell, or helping Google with Chrome OS). As Ubuntu makes its way onto mobile phones and TVs then this will grow.</a:t>
            </a:r>
          </a:p>
          <a:p>
            <a:endParaRPr lang="en-US" sz="2200" dirty="0"/>
          </a:p>
          <a:p>
            <a:pPr marL="274320" lvl="1" indent="0">
              <a:buNone/>
            </a:pPr>
            <a:endParaRPr lang="en-US" dirty="0"/>
          </a:p>
          <a:p>
            <a:pPr lvl="1"/>
            <a:endParaRPr lang="en-US" dirty="0"/>
          </a:p>
          <a:p>
            <a:pPr lvl="1"/>
            <a:endParaRPr lang="en-US" dirty="0"/>
          </a:p>
        </p:txBody>
      </p:sp>
    </p:spTree>
    <p:extLst>
      <p:ext uri="{BB962C8B-B14F-4D97-AF65-F5344CB8AC3E}">
        <p14:creationId xmlns:p14="http://schemas.microsoft.com/office/powerpoint/2010/main" val="16368301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Linux and Android</a:t>
            </a:r>
          </a:p>
        </p:txBody>
      </p:sp>
      <p:sp>
        <p:nvSpPr>
          <p:cNvPr id="3" name="Slide Number Placeholder 2"/>
          <p:cNvSpPr>
            <a:spLocks noGrp="1"/>
          </p:cNvSpPr>
          <p:nvPr>
            <p:ph type="sldNum" sz="quarter" idx="12"/>
          </p:nvPr>
        </p:nvSpPr>
        <p:spPr/>
        <p:txBody>
          <a:bodyPr/>
          <a:lstStyle/>
          <a:p>
            <a:fld id="{F1E687AB-0FD7-C047-930B-FD009416571E}" type="slidenum">
              <a:rPr lang="en-US" smtClean="0"/>
              <a:t>18</a:t>
            </a:fld>
            <a:endParaRPr lang="en-US" dirty="0"/>
          </a:p>
        </p:txBody>
      </p:sp>
      <p:sp>
        <p:nvSpPr>
          <p:cNvPr id="4" name="Content Placeholder 1"/>
          <p:cNvSpPr txBox="1">
            <a:spLocks/>
          </p:cNvSpPr>
          <p:nvPr/>
        </p:nvSpPr>
        <p:spPr>
          <a:xfrm>
            <a:off x="381000" y="1600200"/>
            <a:ext cx="8407400" cy="4498975"/>
          </a:xfrm>
          <a:prstGeom prst="rect">
            <a:avLst/>
          </a:prstGeom>
        </p:spPr>
        <p:txBody>
          <a:bodyPr>
            <a:normAutofit lnSpcReduction="10000"/>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a:defRPr/>
            </a:pPr>
            <a:r>
              <a:rPr lang="en-US" sz="3600"/>
              <a:t> Google acquired Android in August of 2005 </a:t>
            </a:r>
          </a:p>
          <a:p>
            <a:pPr>
              <a:defRPr/>
            </a:pPr>
            <a:r>
              <a:rPr lang="en-US" sz="3600"/>
              <a:t> The Android os was released and sold on smartphones in the Fall of 2008</a:t>
            </a:r>
          </a:p>
          <a:p>
            <a:pPr>
              <a:defRPr/>
            </a:pPr>
            <a:r>
              <a:rPr lang="en-US" sz="3600"/>
              <a:t> The kernel operating system used for the Android platform is based on Linux</a:t>
            </a:r>
          </a:p>
          <a:p>
            <a:pPr>
              <a:defRPr/>
            </a:pPr>
            <a:r>
              <a:rPr lang="en-US" sz="3600"/>
              <a:t> Chosen for its portability to work on various types of hardware</a:t>
            </a:r>
            <a:endParaRPr lang="en-US" sz="3600" dirty="0"/>
          </a:p>
        </p:txBody>
      </p:sp>
    </p:spTree>
    <p:extLst>
      <p:ext uri="{BB962C8B-B14F-4D97-AF65-F5344CB8AC3E}">
        <p14:creationId xmlns:p14="http://schemas.microsoft.com/office/powerpoint/2010/main" val="1894230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of Linux</a:t>
            </a:r>
          </a:p>
        </p:txBody>
      </p:sp>
      <p:sp>
        <p:nvSpPr>
          <p:cNvPr id="3" name="Slide Number Placeholder 2"/>
          <p:cNvSpPr>
            <a:spLocks noGrp="1"/>
          </p:cNvSpPr>
          <p:nvPr>
            <p:ph type="sldNum" sz="quarter" idx="12"/>
          </p:nvPr>
        </p:nvSpPr>
        <p:spPr/>
        <p:txBody>
          <a:bodyPr/>
          <a:lstStyle/>
          <a:p>
            <a:fld id="{F1E687AB-0FD7-C047-930B-FD009416571E}" type="slidenum">
              <a:rPr lang="en-US" smtClean="0"/>
              <a:t>19</a:t>
            </a:fld>
            <a:endParaRPr lang="en-US" dirty="0"/>
          </a:p>
        </p:txBody>
      </p:sp>
      <p:sp>
        <p:nvSpPr>
          <p:cNvPr id="4" name="Content Placeholder 2"/>
          <p:cNvSpPr txBox="1">
            <a:spLocks/>
          </p:cNvSpPr>
          <p:nvPr/>
        </p:nvSpPr>
        <p:spPr>
          <a:xfrm>
            <a:off x="457200" y="1571812"/>
            <a:ext cx="8229600" cy="4876800"/>
          </a:xfrm>
          <a:prstGeom prst="rect">
            <a:avLst/>
          </a:prstGeom>
        </p:spPr>
        <p:txBody>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Kernel – the part of the </a:t>
            </a:r>
            <a:r>
              <a:rPr lang="en-US" dirty="0" err="1"/>
              <a:t>os</a:t>
            </a:r>
            <a:r>
              <a:rPr lang="en-US" dirty="0"/>
              <a:t> that allocates machine resources including memory, disk space, CPU cycles to the programs that are running.</a:t>
            </a:r>
          </a:p>
          <a:p>
            <a:r>
              <a:rPr lang="en-US" dirty="0"/>
              <a:t>Programs interact with the kernel through system calls</a:t>
            </a:r>
          </a:p>
          <a:p>
            <a:r>
              <a:rPr lang="en-US" dirty="0"/>
              <a:t>Linux is a multi-processing, multitasking multiuser </a:t>
            </a:r>
            <a:r>
              <a:rPr lang="en-US" dirty="0" err="1"/>
              <a:t>os</a:t>
            </a:r>
            <a:endParaRPr lang="en-US" dirty="0"/>
          </a:p>
          <a:p>
            <a:pPr lvl="1"/>
            <a:endParaRPr lang="en-US" dirty="0"/>
          </a:p>
        </p:txBody>
      </p:sp>
    </p:spTree>
    <p:extLst>
      <p:ext uri="{BB962C8B-B14F-4D97-AF65-F5344CB8AC3E}">
        <p14:creationId xmlns:p14="http://schemas.microsoft.com/office/powerpoint/2010/main" val="3756485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Content Placeholder 6"/>
          <p:cNvPicPr>
            <a:picLocks noGrp="1" noChangeAspect="1"/>
          </p:cNvPicPr>
          <p:nvPr>
            <p:ph sz="quarter" idx="11"/>
          </p:nvPr>
        </p:nvPicPr>
        <p:blipFill>
          <a:blip r:embed="rId2">
            <a:extLst>
              <a:ext uri="{28A0092B-C50C-407E-A947-70E740481C1C}">
                <a14:useLocalDpi xmlns:a14="http://schemas.microsoft.com/office/drawing/2010/main" val="0"/>
              </a:ext>
            </a:extLst>
          </a:blip>
          <a:srcRect/>
          <a:stretch>
            <a:fillRect/>
          </a:stretch>
        </p:blipFill>
        <p:spPr>
          <a:xfrm>
            <a:off x="304800" y="1600200"/>
            <a:ext cx="8686800" cy="3559175"/>
          </a:xfrm>
        </p:spPr>
      </p:pic>
    </p:spTree>
    <p:extLst>
      <p:ext uri="{BB962C8B-B14F-4D97-AF65-F5344CB8AC3E}">
        <p14:creationId xmlns:p14="http://schemas.microsoft.com/office/powerpoint/2010/main" val="1792311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of Linux</a:t>
            </a:r>
          </a:p>
        </p:txBody>
      </p:sp>
      <p:sp>
        <p:nvSpPr>
          <p:cNvPr id="3" name="Content Placeholder 2"/>
          <p:cNvSpPr>
            <a:spLocks noGrp="1"/>
          </p:cNvSpPr>
          <p:nvPr>
            <p:ph idx="1"/>
          </p:nvPr>
        </p:nvSpPr>
        <p:spPr>
          <a:xfrm>
            <a:off x="457200" y="1356360"/>
            <a:ext cx="8229600" cy="4876800"/>
          </a:xfrm>
        </p:spPr>
        <p:txBody>
          <a:bodyPr>
            <a:normAutofit fontScale="92500" lnSpcReduction="10000"/>
          </a:bodyPr>
          <a:lstStyle/>
          <a:p>
            <a:r>
              <a:rPr lang="en-US" dirty="0"/>
              <a:t>Linux provides </a:t>
            </a:r>
          </a:p>
          <a:p>
            <a:pPr lvl="1"/>
            <a:r>
              <a:rPr lang="en-US" dirty="0"/>
              <a:t>A secure hierarchical </a:t>
            </a:r>
            <a:r>
              <a:rPr lang="en-US" dirty="0" err="1"/>
              <a:t>filesystem</a:t>
            </a:r>
            <a:endParaRPr lang="en-US" dirty="0"/>
          </a:p>
          <a:p>
            <a:pPr lvl="2"/>
            <a:r>
              <a:rPr lang="en-US" dirty="0"/>
              <a:t>Files arranged and ordered under directories</a:t>
            </a:r>
          </a:p>
          <a:p>
            <a:pPr lvl="2"/>
            <a:r>
              <a:rPr lang="en-US" dirty="0"/>
              <a:t>Each directory can hold other files and directories</a:t>
            </a:r>
          </a:p>
          <a:p>
            <a:pPr lvl="2"/>
            <a:r>
              <a:rPr lang="en-US" dirty="0"/>
              <a:t>Tree like structure starting at the root directory /</a:t>
            </a:r>
          </a:p>
          <a:p>
            <a:pPr lvl="2"/>
            <a:r>
              <a:rPr lang="en-US" dirty="0"/>
              <a:t>Disk drives all mounted to map into the hierarchical directory structure underneath /</a:t>
            </a:r>
          </a:p>
          <a:p>
            <a:pPr lvl="1"/>
            <a:r>
              <a:rPr lang="en-US" dirty="0"/>
              <a:t>Command interpreter called the shell</a:t>
            </a:r>
          </a:p>
          <a:p>
            <a:pPr lvl="1"/>
            <a:r>
              <a:rPr lang="en-US" dirty="0"/>
              <a:t>More than one shell available; 4 most widely used:</a:t>
            </a:r>
          </a:p>
          <a:p>
            <a:pPr lvl="2"/>
            <a:r>
              <a:rPr lang="en-US" dirty="0"/>
              <a:t>Bourne Again Shell (bash) – shell that this course uses</a:t>
            </a:r>
          </a:p>
          <a:p>
            <a:pPr lvl="2"/>
            <a:r>
              <a:rPr lang="en-US" dirty="0"/>
              <a:t>TC shell enhance version of the C shell (</a:t>
            </a:r>
            <a:r>
              <a:rPr lang="en-US" dirty="0" err="1"/>
              <a:t>tcsh</a:t>
            </a:r>
            <a:r>
              <a:rPr lang="en-US" dirty="0"/>
              <a:t>)</a:t>
            </a:r>
          </a:p>
          <a:p>
            <a:pPr lvl="2"/>
            <a:r>
              <a:rPr lang="en-US" dirty="0"/>
              <a:t>Z shell that incorporates the </a:t>
            </a:r>
            <a:r>
              <a:rPr lang="en-US" dirty="0" err="1"/>
              <a:t>Korn</a:t>
            </a:r>
            <a:r>
              <a:rPr lang="en-US" dirty="0"/>
              <a:t> shell (</a:t>
            </a:r>
            <a:r>
              <a:rPr lang="en-US" dirty="0" err="1"/>
              <a:t>zsh</a:t>
            </a:r>
            <a:r>
              <a:rPr lang="en-US" dirty="0"/>
              <a:t>)</a:t>
            </a:r>
          </a:p>
          <a:p>
            <a:pPr lvl="2"/>
            <a:r>
              <a:rPr lang="en-US" dirty="0" err="1"/>
              <a:t>Debian</a:t>
            </a:r>
            <a:r>
              <a:rPr lang="en-US" dirty="0"/>
              <a:t> </a:t>
            </a:r>
            <a:r>
              <a:rPr lang="en-US" dirty="0" err="1"/>
              <a:t>Almquist</a:t>
            </a:r>
            <a:r>
              <a:rPr lang="en-US" dirty="0"/>
              <a:t> shell – smaller faster version of bash (dash)</a:t>
            </a:r>
          </a:p>
          <a:p>
            <a:pPr lvl="1"/>
            <a:endParaRPr lang="en-US" dirty="0"/>
          </a:p>
        </p:txBody>
      </p:sp>
      <p:sp>
        <p:nvSpPr>
          <p:cNvPr id="5" name="Slide Number Placeholder 4"/>
          <p:cNvSpPr>
            <a:spLocks noGrp="1"/>
          </p:cNvSpPr>
          <p:nvPr>
            <p:ph type="sldNum" sz="quarter" idx="12"/>
          </p:nvPr>
        </p:nvSpPr>
        <p:spPr/>
        <p:txBody>
          <a:bodyPr/>
          <a:lstStyle/>
          <a:p>
            <a:fld id="{F1E687AB-0FD7-C047-930B-FD009416571E}" type="slidenum">
              <a:rPr lang="en-US" smtClean="0"/>
              <a:t>21</a:t>
            </a:fld>
            <a:endParaRPr lang="en-US" dirty="0"/>
          </a:p>
        </p:txBody>
      </p:sp>
    </p:spTree>
    <p:extLst>
      <p:ext uri="{BB962C8B-B14F-4D97-AF65-F5344CB8AC3E}">
        <p14:creationId xmlns:p14="http://schemas.microsoft.com/office/powerpoint/2010/main" val="8081104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of Linux</a:t>
            </a:r>
          </a:p>
        </p:txBody>
      </p:sp>
      <p:sp>
        <p:nvSpPr>
          <p:cNvPr id="3" name="Content Placeholder 2"/>
          <p:cNvSpPr>
            <a:spLocks noGrp="1"/>
          </p:cNvSpPr>
          <p:nvPr>
            <p:ph idx="1"/>
          </p:nvPr>
        </p:nvSpPr>
        <p:spPr>
          <a:xfrm>
            <a:off x="457200" y="1356360"/>
            <a:ext cx="8229600" cy="4876800"/>
          </a:xfrm>
        </p:spPr>
        <p:txBody>
          <a:bodyPr>
            <a:normAutofit lnSpcReduction="10000"/>
          </a:bodyPr>
          <a:lstStyle/>
          <a:p>
            <a:r>
              <a:rPr lang="en-US" dirty="0"/>
              <a:t>Graphical User Interfaces</a:t>
            </a:r>
          </a:p>
          <a:p>
            <a:pPr lvl="1"/>
            <a:r>
              <a:rPr lang="en-US" dirty="0"/>
              <a:t>X Window system originally created by researchers at MIT is the foundation for the Linux GUIs </a:t>
            </a:r>
          </a:p>
          <a:p>
            <a:pPr lvl="2"/>
            <a:r>
              <a:rPr lang="en-US" dirty="0"/>
              <a:t>Window manager – the program that runs under the desktop manager allowing the opening and closing of windows</a:t>
            </a:r>
          </a:p>
          <a:p>
            <a:pPr lvl="2"/>
            <a:r>
              <a:rPr lang="en-US" dirty="0"/>
              <a:t>Desktop Environment – provides the capabilities of a window manager  such as utilities, application launching and a file manager.</a:t>
            </a:r>
          </a:p>
          <a:p>
            <a:pPr lvl="1"/>
            <a:r>
              <a:rPr lang="en-US" dirty="0"/>
              <a:t>Available Desktop managers</a:t>
            </a:r>
          </a:p>
          <a:p>
            <a:pPr lvl="2"/>
            <a:r>
              <a:rPr lang="en-US" dirty="0"/>
              <a:t>GNOME</a:t>
            </a:r>
          </a:p>
          <a:p>
            <a:pPr lvl="2"/>
            <a:r>
              <a:rPr lang="en-US" dirty="0"/>
              <a:t>UNITY default desktop environment used by Ubuntu</a:t>
            </a:r>
          </a:p>
          <a:p>
            <a:pPr lvl="2"/>
            <a:r>
              <a:rPr lang="en-US" dirty="0"/>
              <a:t>KDE</a:t>
            </a:r>
          </a:p>
          <a:p>
            <a:pPr lvl="2"/>
            <a:endParaRPr lang="en-US" dirty="0"/>
          </a:p>
          <a:p>
            <a:pPr lvl="1"/>
            <a:endParaRPr lang="en-US" dirty="0"/>
          </a:p>
        </p:txBody>
      </p:sp>
      <p:sp>
        <p:nvSpPr>
          <p:cNvPr id="5" name="Slide Number Placeholder 4"/>
          <p:cNvSpPr>
            <a:spLocks noGrp="1"/>
          </p:cNvSpPr>
          <p:nvPr>
            <p:ph type="sldNum" sz="quarter" idx="12"/>
          </p:nvPr>
        </p:nvSpPr>
        <p:spPr/>
        <p:txBody>
          <a:bodyPr/>
          <a:lstStyle/>
          <a:p>
            <a:fld id="{F1E687AB-0FD7-C047-930B-FD009416571E}" type="slidenum">
              <a:rPr lang="en-US" smtClean="0"/>
              <a:t>22</a:t>
            </a:fld>
            <a:endParaRPr lang="en-US" dirty="0"/>
          </a:p>
        </p:txBody>
      </p:sp>
    </p:spTree>
    <p:extLst>
      <p:ext uri="{BB962C8B-B14F-4D97-AF65-F5344CB8AC3E}">
        <p14:creationId xmlns:p14="http://schemas.microsoft.com/office/powerpoint/2010/main" val="3546951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an Operating System</a:t>
            </a:r>
          </a:p>
        </p:txBody>
      </p:sp>
      <p:sp>
        <p:nvSpPr>
          <p:cNvPr id="3" name="Content Placeholder 2"/>
          <p:cNvSpPr>
            <a:spLocks noGrp="1"/>
          </p:cNvSpPr>
          <p:nvPr>
            <p:ph idx="1"/>
          </p:nvPr>
        </p:nvSpPr>
        <p:spPr>
          <a:xfrm>
            <a:off x="457200" y="1571812"/>
            <a:ext cx="8387976" cy="4876800"/>
          </a:xfrm>
        </p:spPr>
        <p:txBody>
          <a:bodyPr>
            <a:normAutofit fontScale="92500"/>
          </a:bodyPr>
          <a:lstStyle/>
          <a:p>
            <a:r>
              <a:rPr lang="en-US" dirty="0"/>
              <a:t>Factors/Questions used for choosing an </a:t>
            </a:r>
            <a:r>
              <a:rPr lang="en-US" dirty="0" err="1"/>
              <a:t>os</a:t>
            </a:r>
            <a:endParaRPr lang="en-US" dirty="0"/>
          </a:p>
          <a:p>
            <a:pPr lvl="1"/>
            <a:r>
              <a:rPr lang="en-US" dirty="0"/>
              <a:t>Look and Feel – Is the GUI intuitive?</a:t>
            </a:r>
          </a:p>
          <a:p>
            <a:pPr lvl="1"/>
            <a:r>
              <a:rPr lang="en-US" dirty="0"/>
              <a:t>Cost – What is included in the cost of an </a:t>
            </a:r>
            <a:r>
              <a:rPr lang="en-US" dirty="0" err="1"/>
              <a:t>os</a:t>
            </a:r>
            <a:r>
              <a:rPr lang="en-US" dirty="0"/>
              <a:t>?</a:t>
            </a:r>
          </a:p>
          <a:p>
            <a:pPr lvl="1"/>
            <a:r>
              <a:rPr lang="en-US" dirty="0"/>
              <a:t>Bundled software – What comes with the </a:t>
            </a:r>
            <a:r>
              <a:rPr lang="en-US" dirty="0" err="1"/>
              <a:t>os</a:t>
            </a:r>
            <a:r>
              <a:rPr lang="en-US" dirty="0"/>
              <a:t>?</a:t>
            </a:r>
          </a:p>
          <a:p>
            <a:pPr lvl="1"/>
            <a:r>
              <a:rPr lang="en-US" dirty="0"/>
              <a:t>Hardware requirements – how much memory?</a:t>
            </a:r>
          </a:p>
          <a:p>
            <a:pPr lvl="1"/>
            <a:r>
              <a:rPr lang="en-US" dirty="0"/>
              <a:t>Bugs – Does the </a:t>
            </a:r>
            <a:r>
              <a:rPr lang="en-US" dirty="0" err="1"/>
              <a:t>os</a:t>
            </a:r>
            <a:r>
              <a:rPr lang="en-US" dirty="0"/>
              <a:t> have a good track record for fixing bugs</a:t>
            </a:r>
          </a:p>
          <a:p>
            <a:pPr lvl="1"/>
            <a:r>
              <a:rPr lang="en-US" dirty="0"/>
              <a:t>Security – How secure is the </a:t>
            </a:r>
            <a:r>
              <a:rPr lang="en-US" dirty="0" err="1"/>
              <a:t>os</a:t>
            </a:r>
            <a:r>
              <a:rPr lang="en-US" dirty="0"/>
              <a:t>?</a:t>
            </a:r>
          </a:p>
          <a:p>
            <a:pPr lvl="1"/>
            <a:r>
              <a:rPr lang="en-US" dirty="0"/>
              <a:t>Software – Does the </a:t>
            </a:r>
            <a:r>
              <a:rPr lang="en-US" dirty="0" err="1"/>
              <a:t>os</a:t>
            </a:r>
            <a:r>
              <a:rPr lang="en-US" dirty="0"/>
              <a:t> support the software required by the clients? Is there lots of software available for the </a:t>
            </a:r>
            <a:r>
              <a:rPr lang="en-US" dirty="0" err="1"/>
              <a:t>os</a:t>
            </a:r>
            <a:r>
              <a:rPr lang="en-US" dirty="0"/>
              <a:t>? </a:t>
            </a:r>
          </a:p>
          <a:p>
            <a:pPr lvl="1"/>
            <a:endParaRPr lang="en-US" dirty="0"/>
          </a:p>
        </p:txBody>
      </p:sp>
      <p:sp>
        <p:nvSpPr>
          <p:cNvPr id="5" name="Slide Number Placeholder 4"/>
          <p:cNvSpPr>
            <a:spLocks noGrp="1"/>
          </p:cNvSpPr>
          <p:nvPr>
            <p:ph type="sldNum" sz="quarter" idx="12"/>
          </p:nvPr>
        </p:nvSpPr>
        <p:spPr/>
        <p:txBody>
          <a:bodyPr/>
          <a:lstStyle/>
          <a:p>
            <a:fld id="{F1E687AB-0FD7-C047-930B-FD009416571E}" type="slidenum">
              <a:rPr lang="en-US" smtClean="0"/>
              <a:t>23</a:t>
            </a:fld>
            <a:endParaRPr lang="en-US" dirty="0"/>
          </a:p>
        </p:txBody>
      </p:sp>
    </p:spTree>
    <p:extLst>
      <p:ext uri="{BB962C8B-B14F-4D97-AF65-F5344CB8AC3E}">
        <p14:creationId xmlns:p14="http://schemas.microsoft.com/office/powerpoint/2010/main" val="13949115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Installing Ubuntu Linux</a:t>
            </a:r>
          </a:p>
        </p:txBody>
      </p:sp>
      <p:sp>
        <p:nvSpPr>
          <p:cNvPr id="3" name="Content Placeholder 2"/>
          <p:cNvSpPr>
            <a:spLocks noGrp="1"/>
          </p:cNvSpPr>
          <p:nvPr>
            <p:ph idx="1"/>
          </p:nvPr>
        </p:nvSpPr>
        <p:spPr>
          <a:xfrm>
            <a:off x="298824" y="1434054"/>
            <a:ext cx="8546352" cy="4876800"/>
          </a:xfrm>
        </p:spPr>
        <p:txBody>
          <a:bodyPr>
            <a:normAutofit fontScale="92500" lnSpcReduction="20000"/>
          </a:bodyPr>
          <a:lstStyle/>
          <a:p>
            <a:r>
              <a:rPr lang="en-US" dirty="0"/>
              <a:t>Install from DVD</a:t>
            </a:r>
          </a:p>
          <a:p>
            <a:r>
              <a:rPr lang="en-US" dirty="0"/>
              <a:t>Install from a downloaded .</a:t>
            </a:r>
            <a:r>
              <a:rPr lang="en-US" dirty="0" err="1"/>
              <a:t>iso</a:t>
            </a:r>
            <a:r>
              <a:rPr lang="en-US" dirty="0"/>
              <a:t> file</a:t>
            </a:r>
          </a:p>
          <a:p>
            <a:pPr lvl="1"/>
            <a:r>
              <a:rPr lang="en-US" dirty="0"/>
              <a:t>An </a:t>
            </a:r>
            <a:r>
              <a:rPr lang="en-US" dirty="0" err="1"/>
              <a:t>iso</a:t>
            </a:r>
            <a:r>
              <a:rPr lang="en-US" dirty="0"/>
              <a:t> file is an archive file of an optical disk (IE DVD) </a:t>
            </a:r>
          </a:p>
          <a:p>
            <a:pPr lvl="1"/>
            <a:r>
              <a:rPr lang="en-US" dirty="0"/>
              <a:t>Checking the integrity of an </a:t>
            </a:r>
            <a:r>
              <a:rPr lang="en-US" dirty="0" err="1"/>
              <a:t>iso</a:t>
            </a:r>
            <a:r>
              <a:rPr lang="en-US" dirty="0"/>
              <a:t> file </a:t>
            </a:r>
          </a:p>
          <a:p>
            <a:pPr lvl="2"/>
            <a:r>
              <a:rPr lang="en-US" dirty="0"/>
              <a:t>A file’s checksum is commonly used to verify the integrity of an </a:t>
            </a:r>
            <a:r>
              <a:rPr lang="en-US" dirty="0" err="1"/>
              <a:t>iso</a:t>
            </a:r>
            <a:r>
              <a:rPr lang="en-US" dirty="0"/>
              <a:t> file. </a:t>
            </a:r>
          </a:p>
          <a:p>
            <a:pPr lvl="2"/>
            <a:r>
              <a:rPr lang="en-US" dirty="0"/>
              <a:t>Often the sha256sum utility is used to create the checksum</a:t>
            </a:r>
          </a:p>
          <a:p>
            <a:pPr lvl="2"/>
            <a:r>
              <a:rPr lang="en-US" dirty="0"/>
              <a:t>Can be stored in a sha1sum file</a:t>
            </a:r>
          </a:p>
          <a:p>
            <a:pPr lvl="2"/>
            <a:r>
              <a:rPr lang="en-US" dirty="0"/>
              <a:t>Ubuntu posts the checksums for its different releases on its web site.</a:t>
            </a:r>
          </a:p>
          <a:p>
            <a:pPr lvl="2"/>
            <a:r>
              <a:rPr lang="en-US" dirty="0"/>
              <a:t>Use the sha256sum command on the </a:t>
            </a:r>
            <a:r>
              <a:rPr lang="en-US" dirty="0" err="1"/>
              <a:t>iso</a:t>
            </a:r>
            <a:r>
              <a:rPr lang="en-US" dirty="0"/>
              <a:t> file to compute the checksum</a:t>
            </a:r>
          </a:p>
          <a:p>
            <a:pPr marL="0" indent="0">
              <a:buNone/>
            </a:pPr>
            <a:r>
              <a:rPr lang="en-US" sz="1700" dirty="0"/>
              <a:t>$ sha256sum ubuntu-14.04-server-amd64.iso *ubuntu-14.04.1-server-amd64.iso</a:t>
            </a:r>
          </a:p>
          <a:p>
            <a:pPr marL="0" indent="0">
              <a:buNone/>
            </a:pPr>
            <a:r>
              <a:rPr lang="nl-NL" sz="1700" dirty="0"/>
              <a:t>946a6077af6f5f95a51f82fdc44051c7aa19f9cfc5f737954845a6050543d7c2  </a:t>
            </a:r>
            <a:r>
              <a:rPr lang="en-US" sz="1700" dirty="0"/>
              <a:t>*ubuntu-14.04.1-server-amd64.iso</a:t>
            </a:r>
          </a:p>
          <a:p>
            <a:pPr marL="617220" lvl="3" indent="-342900">
              <a:buSzPct val="85000"/>
            </a:pPr>
            <a:r>
              <a:rPr lang="en-US" dirty="0"/>
              <a:t>Compare the checksum hex number above starting with 946.. to the value on Ubuntu’s website</a:t>
            </a:r>
          </a:p>
          <a:p>
            <a:pPr marL="617220" lvl="3" indent="-342900">
              <a:buSzPct val="85000"/>
            </a:pPr>
            <a:r>
              <a:rPr lang="en-US" dirty="0"/>
              <a:t>There other checksum commands such as md5sum</a:t>
            </a:r>
          </a:p>
          <a:p>
            <a:pPr marL="0" indent="0">
              <a:buNone/>
            </a:pPr>
            <a:endParaRPr lang="en-US" sz="1900" dirty="0"/>
          </a:p>
          <a:p>
            <a:pPr lvl="1"/>
            <a:endParaRPr lang="en-US" dirty="0"/>
          </a:p>
          <a:p>
            <a:endParaRPr lang="en-US" dirty="0"/>
          </a:p>
          <a:p>
            <a:pPr lvl="1"/>
            <a:endParaRPr lang="en-US" dirty="0"/>
          </a:p>
        </p:txBody>
      </p:sp>
      <p:sp>
        <p:nvSpPr>
          <p:cNvPr id="5" name="Slide Number Placeholder 4"/>
          <p:cNvSpPr>
            <a:spLocks noGrp="1"/>
          </p:cNvSpPr>
          <p:nvPr>
            <p:ph type="sldNum" sz="quarter" idx="12"/>
          </p:nvPr>
        </p:nvSpPr>
        <p:spPr/>
        <p:txBody>
          <a:bodyPr/>
          <a:lstStyle/>
          <a:p>
            <a:fld id="{F1E687AB-0FD7-C047-930B-FD009416571E}" type="slidenum">
              <a:rPr lang="en-US" smtClean="0"/>
              <a:t>24</a:t>
            </a:fld>
            <a:endParaRPr lang="en-US" dirty="0"/>
          </a:p>
        </p:txBody>
      </p:sp>
    </p:spTree>
    <p:extLst>
      <p:ext uri="{BB962C8B-B14F-4D97-AF65-F5344CB8AC3E}">
        <p14:creationId xmlns:p14="http://schemas.microsoft.com/office/powerpoint/2010/main" val="1921409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AB709-223F-786F-4869-C19EC033CE51}"/>
              </a:ext>
            </a:extLst>
          </p:cNvPr>
          <p:cNvSpPr>
            <a:spLocks noGrp="1"/>
          </p:cNvSpPr>
          <p:nvPr>
            <p:ph type="title"/>
          </p:nvPr>
        </p:nvSpPr>
        <p:spPr/>
        <p:txBody>
          <a:bodyPr/>
          <a:lstStyle/>
          <a:p>
            <a:r>
              <a:rPr lang="en-US" dirty="0"/>
              <a:t>Technical Requirements</a:t>
            </a:r>
          </a:p>
        </p:txBody>
      </p:sp>
      <p:sp>
        <p:nvSpPr>
          <p:cNvPr id="3" name="Content Placeholder 2">
            <a:extLst>
              <a:ext uri="{FF2B5EF4-FFF2-40B4-BE49-F238E27FC236}">
                <a16:creationId xmlns:a16="http://schemas.microsoft.com/office/drawing/2014/main" id="{9558516F-1C1C-0E6D-7F7C-005DE04176B9}"/>
              </a:ext>
            </a:extLst>
          </p:cNvPr>
          <p:cNvSpPr>
            <a:spLocks noGrp="1"/>
          </p:cNvSpPr>
          <p:nvPr>
            <p:ph idx="1"/>
          </p:nvPr>
        </p:nvSpPr>
        <p:spPr>
          <a:xfrm>
            <a:off x="457200" y="1356360"/>
            <a:ext cx="8229600" cy="4876800"/>
          </a:xfrm>
        </p:spPr>
        <p:txBody>
          <a:bodyPr>
            <a:normAutofit lnSpcReduction="10000"/>
          </a:bodyPr>
          <a:lstStyle/>
          <a:p>
            <a:r>
              <a:rPr lang="en-US" dirty="0"/>
              <a:t>Both Operating Systems and software applications specify technical requirements that involve:</a:t>
            </a:r>
          </a:p>
          <a:p>
            <a:pPr lvl="1"/>
            <a:r>
              <a:rPr lang="en-US" dirty="0"/>
              <a:t>CPU specifications</a:t>
            </a:r>
          </a:p>
          <a:p>
            <a:pPr lvl="1"/>
            <a:r>
              <a:rPr lang="en-US" dirty="0"/>
              <a:t>Size of RAM (Memory)</a:t>
            </a:r>
          </a:p>
          <a:p>
            <a:pPr lvl="1"/>
            <a:r>
              <a:rPr lang="en-US" dirty="0"/>
              <a:t>Storage</a:t>
            </a:r>
          </a:p>
          <a:p>
            <a:r>
              <a:rPr lang="en-US" dirty="0"/>
              <a:t>Minimum verses Allocated</a:t>
            </a:r>
          </a:p>
          <a:p>
            <a:r>
              <a:rPr lang="en-US" sz="2800" dirty="0"/>
              <a:t>For Ubuntu 22</a:t>
            </a:r>
          </a:p>
          <a:p>
            <a:pPr lvl="2"/>
            <a:r>
              <a:rPr lang="en-US" sz="2000" dirty="0"/>
              <a:t>64 bit CPU</a:t>
            </a:r>
          </a:p>
          <a:p>
            <a:pPr lvl="2"/>
            <a:r>
              <a:rPr lang="en-US" sz="2000" dirty="0"/>
              <a:t>1 GB RAM</a:t>
            </a:r>
          </a:p>
          <a:p>
            <a:pPr lvl="2"/>
            <a:r>
              <a:rPr lang="en-US" sz="2000" dirty="0"/>
              <a:t>Minimum 10 GB disk storage; &gt; 16 GB recommended</a:t>
            </a:r>
          </a:p>
          <a:p>
            <a:pPr lvl="2"/>
            <a:endParaRPr lang="en-US" dirty="0"/>
          </a:p>
        </p:txBody>
      </p:sp>
      <p:sp>
        <p:nvSpPr>
          <p:cNvPr id="4" name="Slide Number Placeholder 3">
            <a:extLst>
              <a:ext uri="{FF2B5EF4-FFF2-40B4-BE49-F238E27FC236}">
                <a16:creationId xmlns:a16="http://schemas.microsoft.com/office/drawing/2014/main" id="{95C02023-FE56-4696-5468-63014C5D07D0}"/>
              </a:ext>
            </a:extLst>
          </p:cNvPr>
          <p:cNvSpPr>
            <a:spLocks noGrp="1"/>
          </p:cNvSpPr>
          <p:nvPr>
            <p:ph type="sldNum" sz="quarter" idx="12"/>
          </p:nvPr>
        </p:nvSpPr>
        <p:spPr/>
        <p:txBody>
          <a:bodyPr/>
          <a:lstStyle/>
          <a:p>
            <a:fld id="{F1E687AB-0FD7-C047-930B-FD009416571E}" type="slidenum">
              <a:rPr lang="en-US" smtClean="0"/>
              <a:t>25</a:t>
            </a:fld>
            <a:endParaRPr lang="en-US" dirty="0"/>
          </a:p>
        </p:txBody>
      </p:sp>
    </p:spTree>
    <p:extLst>
      <p:ext uri="{BB962C8B-B14F-4D97-AF65-F5344CB8AC3E}">
        <p14:creationId xmlns:p14="http://schemas.microsoft.com/office/powerpoint/2010/main" val="789253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64 bit operating system and Memory</a:t>
            </a:r>
          </a:p>
        </p:txBody>
      </p:sp>
      <p:sp>
        <p:nvSpPr>
          <p:cNvPr id="3" name="Slide Number Placeholder 2"/>
          <p:cNvSpPr>
            <a:spLocks noGrp="1"/>
          </p:cNvSpPr>
          <p:nvPr>
            <p:ph type="sldNum" sz="quarter" idx="12"/>
          </p:nvPr>
        </p:nvSpPr>
        <p:spPr/>
        <p:txBody>
          <a:bodyPr/>
          <a:lstStyle/>
          <a:p>
            <a:fld id="{F1E687AB-0FD7-C047-930B-FD009416571E}" type="slidenum">
              <a:rPr lang="en-US" smtClean="0"/>
              <a:t>26</a:t>
            </a:fld>
            <a:endParaRPr lang="en-US" dirty="0"/>
          </a:p>
        </p:txBody>
      </p:sp>
      <p:sp>
        <p:nvSpPr>
          <p:cNvPr id="4" name="Rectangle 3"/>
          <p:cNvSpPr txBox="1">
            <a:spLocks noChangeArrowheads="1"/>
          </p:cNvSpPr>
          <p:nvPr/>
        </p:nvSpPr>
        <p:spPr>
          <a:xfrm>
            <a:off x="457200" y="1295400"/>
            <a:ext cx="8229600" cy="4525963"/>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What are the advantages of a 64 bit </a:t>
            </a:r>
            <a:r>
              <a:rPr lang="en-US" dirty="0" err="1"/>
              <a:t>os</a:t>
            </a:r>
            <a:r>
              <a:rPr lang="en-US" dirty="0"/>
              <a:t> verses a 32 bit </a:t>
            </a:r>
            <a:r>
              <a:rPr lang="en-US" dirty="0" err="1"/>
              <a:t>os</a:t>
            </a:r>
            <a:r>
              <a:rPr lang="en-US" dirty="0"/>
              <a:t>?</a:t>
            </a:r>
          </a:p>
          <a:p>
            <a:pPr lvl="1"/>
            <a:r>
              <a:rPr lang="en-US" dirty="0"/>
              <a:t>Memory addresses are stored using 64 bit integers as opposed to 32 bit integers  </a:t>
            </a:r>
          </a:p>
          <a:p>
            <a:pPr lvl="2"/>
            <a:r>
              <a:rPr lang="en-US" dirty="0"/>
              <a:t>A 64 bit </a:t>
            </a:r>
            <a:r>
              <a:rPr lang="en-US" dirty="0" err="1"/>
              <a:t>os</a:t>
            </a:r>
            <a:r>
              <a:rPr lang="en-US" dirty="0"/>
              <a:t> has much more addressable memory</a:t>
            </a:r>
          </a:p>
          <a:p>
            <a:pPr lvl="2"/>
            <a:r>
              <a:rPr lang="en-US" dirty="0"/>
              <a:t>2</a:t>
            </a:r>
            <a:r>
              <a:rPr lang="en-US" baseline="30000" dirty="0"/>
              <a:t>64 </a:t>
            </a:r>
            <a:r>
              <a:rPr lang="en-US" dirty="0"/>
              <a:t>bytes</a:t>
            </a:r>
            <a:r>
              <a:rPr lang="en-US" baseline="30000" dirty="0"/>
              <a:t> </a:t>
            </a:r>
            <a:r>
              <a:rPr lang="en-US" dirty="0"/>
              <a:t>equivalent to 16 </a:t>
            </a:r>
            <a:r>
              <a:rPr lang="en-US" dirty="0" err="1"/>
              <a:t>Exbibytes</a:t>
            </a:r>
            <a:r>
              <a:rPr lang="en-US" dirty="0"/>
              <a:t>!</a:t>
            </a:r>
          </a:p>
          <a:p>
            <a:pPr lvl="2"/>
            <a:r>
              <a:rPr lang="en-US" dirty="0"/>
              <a:t>2</a:t>
            </a:r>
            <a:r>
              <a:rPr lang="en-US" baseline="30000" dirty="0"/>
              <a:t>32</a:t>
            </a:r>
            <a:r>
              <a:rPr lang="en-US" dirty="0"/>
              <a:t> bytes equivalent to only 4 </a:t>
            </a:r>
            <a:r>
              <a:rPr lang="en-US" dirty="0" err="1"/>
              <a:t>Gibibytes</a:t>
            </a:r>
            <a:endParaRPr lang="en-US" dirty="0"/>
          </a:p>
          <a:p>
            <a:pPr lvl="1"/>
            <a:r>
              <a:rPr lang="en-US" dirty="0"/>
              <a:t>64 bit instruction set</a:t>
            </a:r>
          </a:p>
          <a:p>
            <a:pPr lvl="2"/>
            <a:r>
              <a:rPr lang="en-US" dirty="0"/>
              <a:t>Larger registers</a:t>
            </a:r>
          </a:p>
        </p:txBody>
      </p:sp>
    </p:spTree>
    <p:extLst>
      <p:ext uri="{BB962C8B-B14F-4D97-AF65-F5344CB8AC3E}">
        <p14:creationId xmlns:p14="http://schemas.microsoft.com/office/powerpoint/2010/main" val="3911959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an Operating System</a:t>
            </a:r>
          </a:p>
        </p:txBody>
      </p:sp>
      <p:sp>
        <p:nvSpPr>
          <p:cNvPr id="3" name="Content Placeholder 2"/>
          <p:cNvSpPr>
            <a:spLocks noGrp="1"/>
          </p:cNvSpPr>
          <p:nvPr>
            <p:ph idx="1"/>
          </p:nvPr>
        </p:nvSpPr>
        <p:spPr>
          <a:xfrm>
            <a:off x="457200" y="1571812"/>
            <a:ext cx="8387976" cy="4876800"/>
          </a:xfrm>
        </p:spPr>
        <p:txBody>
          <a:bodyPr>
            <a:normAutofit fontScale="92500"/>
          </a:bodyPr>
          <a:lstStyle/>
          <a:p>
            <a:r>
              <a:rPr lang="en-US" dirty="0"/>
              <a:t>Factors/Questions used for choosing an </a:t>
            </a:r>
            <a:r>
              <a:rPr lang="en-US" dirty="0" err="1"/>
              <a:t>os</a:t>
            </a:r>
            <a:endParaRPr lang="en-US" dirty="0"/>
          </a:p>
          <a:p>
            <a:pPr lvl="1"/>
            <a:r>
              <a:rPr lang="en-US" dirty="0"/>
              <a:t>Look and Feel – Is the GUI intuitive?</a:t>
            </a:r>
          </a:p>
          <a:p>
            <a:pPr lvl="1"/>
            <a:r>
              <a:rPr lang="en-US" dirty="0"/>
              <a:t>Cost – What is included in the cost of an </a:t>
            </a:r>
            <a:r>
              <a:rPr lang="en-US" dirty="0" err="1"/>
              <a:t>os</a:t>
            </a:r>
            <a:r>
              <a:rPr lang="en-US" dirty="0"/>
              <a:t>?</a:t>
            </a:r>
          </a:p>
          <a:p>
            <a:pPr lvl="1"/>
            <a:r>
              <a:rPr lang="en-US" dirty="0"/>
              <a:t>Bundled software – What comes with the </a:t>
            </a:r>
            <a:r>
              <a:rPr lang="en-US" dirty="0" err="1"/>
              <a:t>os</a:t>
            </a:r>
            <a:r>
              <a:rPr lang="en-US" dirty="0"/>
              <a:t>?</a:t>
            </a:r>
          </a:p>
          <a:p>
            <a:pPr lvl="1"/>
            <a:r>
              <a:rPr lang="en-US" dirty="0"/>
              <a:t>Hardware requirements – how much memory?</a:t>
            </a:r>
          </a:p>
          <a:p>
            <a:pPr lvl="1"/>
            <a:r>
              <a:rPr lang="en-US" dirty="0"/>
              <a:t>Bugs – Does the </a:t>
            </a:r>
            <a:r>
              <a:rPr lang="en-US" dirty="0" err="1"/>
              <a:t>os</a:t>
            </a:r>
            <a:r>
              <a:rPr lang="en-US" dirty="0"/>
              <a:t> have a good track record for fixing bugs</a:t>
            </a:r>
          </a:p>
          <a:p>
            <a:pPr lvl="1"/>
            <a:r>
              <a:rPr lang="en-US" dirty="0"/>
              <a:t>Security – How secure is the </a:t>
            </a:r>
            <a:r>
              <a:rPr lang="en-US" dirty="0" err="1"/>
              <a:t>os</a:t>
            </a:r>
            <a:r>
              <a:rPr lang="en-US" dirty="0"/>
              <a:t>?</a:t>
            </a:r>
          </a:p>
          <a:p>
            <a:pPr lvl="1"/>
            <a:r>
              <a:rPr lang="en-US" dirty="0"/>
              <a:t>Software – Does the </a:t>
            </a:r>
            <a:r>
              <a:rPr lang="en-US" dirty="0" err="1"/>
              <a:t>os</a:t>
            </a:r>
            <a:r>
              <a:rPr lang="en-US" dirty="0"/>
              <a:t> support the software required by the clients? Is there lots of software available for the </a:t>
            </a:r>
            <a:r>
              <a:rPr lang="en-US" dirty="0" err="1"/>
              <a:t>os</a:t>
            </a:r>
            <a:r>
              <a:rPr lang="en-US" dirty="0"/>
              <a:t>? </a:t>
            </a:r>
          </a:p>
          <a:p>
            <a:pPr lvl="1"/>
            <a:endParaRPr lang="en-US" dirty="0"/>
          </a:p>
        </p:txBody>
      </p:sp>
      <p:sp>
        <p:nvSpPr>
          <p:cNvPr id="5" name="Slide Number Placeholder 4"/>
          <p:cNvSpPr>
            <a:spLocks noGrp="1"/>
          </p:cNvSpPr>
          <p:nvPr>
            <p:ph type="sldNum" sz="quarter" idx="12"/>
          </p:nvPr>
        </p:nvSpPr>
        <p:spPr/>
        <p:txBody>
          <a:bodyPr/>
          <a:lstStyle/>
          <a:p>
            <a:fld id="{F1E687AB-0FD7-C047-930B-FD009416571E}" type="slidenum">
              <a:rPr lang="en-US" smtClean="0"/>
              <a:t>27</a:t>
            </a:fld>
            <a:endParaRPr lang="en-US" dirty="0"/>
          </a:p>
        </p:txBody>
      </p:sp>
    </p:spTree>
    <p:extLst>
      <p:ext uri="{BB962C8B-B14F-4D97-AF65-F5344CB8AC3E}">
        <p14:creationId xmlns:p14="http://schemas.microsoft.com/office/powerpoint/2010/main" val="37087315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A Device for a Server </a:t>
            </a:r>
          </a:p>
        </p:txBody>
      </p:sp>
      <p:sp>
        <p:nvSpPr>
          <p:cNvPr id="3" name="Slide Number Placeholder 2"/>
          <p:cNvSpPr>
            <a:spLocks noGrp="1"/>
          </p:cNvSpPr>
          <p:nvPr>
            <p:ph type="sldNum" sz="quarter" idx="12"/>
          </p:nvPr>
        </p:nvSpPr>
        <p:spPr/>
        <p:txBody>
          <a:bodyPr/>
          <a:lstStyle/>
          <a:p>
            <a:fld id="{F1E687AB-0FD7-C047-930B-FD009416571E}" type="slidenum">
              <a:rPr lang="en-US" smtClean="0"/>
              <a:t>28</a:t>
            </a:fld>
            <a:endParaRPr lang="en-US" dirty="0"/>
          </a:p>
        </p:txBody>
      </p:sp>
      <p:sp>
        <p:nvSpPr>
          <p:cNvPr id="4" name="Rectangle 3"/>
          <p:cNvSpPr txBox="1">
            <a:spLocks noChangeArrowheads="1"/>
          </p:cNvSpPr>
          <p:nvPr/>
        </p:nvSpPr>
        <p:spPr>
          <a:xfrm>
            <a:off x="457200" y="1219200"/>
            <a:ext cx="8229600" cy="4525963"/>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List of platforms that Ubuntu can be installed </a:t>
            </a:r>
          </a:p>
          <a:p>
            <a:pPr lvl="1"/>
            <a:r>
              <a:rPr lang="en-US" dirty="0"/>
              <a:t>Physical Server</a:t>
            </a:r>
          </a:p>
          <a:p>
            <a:pPr lvl="1"/>
            <a:r>
              <a:rPr lang="en-US" dirty="0"/>
              <a:t>Physical Desktop Computer</a:t>
            </a:r>
          </a:p>
          <a:p>
            <a:pPr lvl="1"/>
            <a:r>
              <a:rPr lang="en-US" dirty="0"/>
              <a:t>Laptop Computer</a:t>
            </a:r>
          </a:p>
          <a:p>
            <a:pPr lvl="1"/>
            <a:r>
              <a:rPr lang="en-US" dirty="0"/>
              <a:t>Virtual Server</a:t>
            </a:r>
          </a:p>
          <a:p>
            <a:pPr lvl="1"/>
            <a:r>
              <a:rPr lang="en-US" dirty="0"/>
              <a:t>Virtual Private Server in the Cloud</a:t>
            </a:r>
          </a:p>
          <a:p>
            <a:pPr lvl="1"/>
            <a:r>
              <a:rPr lang="en-US" dirty="0"/>
              <a:t>Raspberry Pi</a:t>
            </a:r>
          </a:p>
          <a:p>
            <a:pPr lvl="1"/>
            <a:r>
              <a:rPr lang="en-US" dirty="0"/>
              <a:t>IoT device</a:t>
            </a:r>
          </a:p>
          <a:p>
            <a:pPr lvl="1"/>
            <a:endParaRPr lang="en-US" dirty="0"/>
          </a:p>
        </p:txBody>
      </p:sp>
    </p:spTree>
    <p:extLst>
      <p:ext uri="{BB962C8B-B14F-4D97-AF65-F5344CB8AC3E}">
        <p14:creationId xmlns:p14="http://schemas.microsoft.com/office/powerpoint/2010/main" val="17322871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Determining your server’s role</a:t>
            </a:r>
          </a:p>
        </p:txBody>
      </p:sp>
      <p:sp>
        <p:nvSpPr>
          <p:cNvPr id="3" name="Slide Number Placeholder 2"/>
          <p:cNvSpPr>
            <a:spLocks noGrp="1"/>
          </p:cNvSpPr>
          <p:nvPr>
            <p:ph type="sldNum" sz="quarter" idx="12"/>
          </p:nvPr>
        </p:nvSpPr>
        <p:spPr/>
        <p:txBody>
          <a:bodyPr/>
          <a:lstStyle/>
          <a:p>
            <a:fld id="{F1E687AB-0FD7-C047-930B-FD009416571E}" type="slidenum">
              <a:rPr lang="en-US" smtClean="0"/>
              <a:t>29</a:t>
            </a:fld>
            <a:endParaRPr lang="en-US" dirty="0"/>
          </a:p>
        </p:txBody>
      </p:sp>
      <p:sp>
        <p:nvSpPr>
          <p:cNvPr id="5" name="Content Placeholder 2"/>
          <p:cNvSpPr txBox="1">
            <a:spLocks/>
          </p:cNvSpPr>
          <p:nvPr/>
        </p:nvSpPr>
        <p:spPr>
          <a:xfrm>
            <a:off x="457200" y="1356360"/>
            <a:ext cx="8229600" cy="4876800"/>
          </a:xfrm>
          <a:prstGeom prst="rect">
            <a:avLst/>
          </a:prstGeom>
        </p:spPr>
        <p:txBody>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sz="2800" dirty="0"/>
              <a:t>Most server’s provide 1-2 purposes or </a:t>
            </a:r>
            <a:r>
              <a:rPr lang="en-US" sz="2800" i="1" dirty="0"/>
              <a:t>role</a:t>
            </a:r>
          </a:p>
          <a:p>
            <a:r>
              <a:rPr lang="en-US" sz="2800" dirty="0"/>
              <a:t>Here are examples of different role servers</a:t>
            </a:r>
          </a:p>
          <a:p>
            <a:pPr lvl="1"/>
            <a:r>
              <a:rPr lang="en-US" sz="2400" dirty="0"/>
              <a:t>Providing Shared Services</a:t>
            </a:r>
          </a:p>
          <a:p>
            <a:pPr lvl="2"/>
            <a:r>
              <a:rPr lang="en-US" sz="1800" dirty="0"/>
              <a:t>DNS Server</a:t>
            </a:r>
          </a:p>
          <a:p>
            <a:pPr lvl="2"/>
            <a:r>
              <a:rPr lang="en-US" sz="1800" dirty="0"/>
              <a:t>DHCP Server</a:t>
            </a:r>
          </a:p>
          <a:p>
            <a:pPr lvl="2"/>
            <a:r>
              <a:rPr lang="en-US" sz="1800" dirty="0"/>
              <a:t>File Server</a:t>
            </a:r>
          </a:p>
          <a:p>
            <a:pPr lvl="2"/>
            <a:r>
              <a:rPr lang="en-US" sz="1800" dirty="0"/>
              <a:t>Print Server (especially to print labels for shipping boxes)</a:t>
            </a:r>
          </a:p>
          <a:p>
            <a:pPr lvl="1"/>
            <a:r>
              <a:rPr lang="en-US" sz="2400" dirty="0"/>
              <a:t>Hosting Applications</a:t>
            </a:r>
          </a:p>
          <a:p>
            <a:pPr lvl="2"/>
            <a:r>
              <a:rPr lang="en-US" sz="1800" dirty="0"/>
              <a:t>Web Server</a:t>
            </a:r>
          </a:p>
          <a:p>
            <a:pPr lvl="2"/>
            <a:r>
              <a:rPr lang="en-US" sz="1800" dirty="0"/>
              <a:t>Middle tier application server</a:t>
            </a:r>
          </a:p>
          <a:p>
            <a:pPr lvl="2"/>
            <a:r>
              <a:rPr lang="en-US" sz="1800" dirty="0"/>
              <a:t>Backend database server supporting an application server</a:t>
            </a:r>
          </a:p>
          <a:p>
            <a:pPr lvl="2"/>
            <a:r>
              <a:rPr lang="en-US" sz="1800" dirty="0"/>
              <a:t>Media Server</a:t>
            </a:r>
          </a:p>
        </p:txBody>
      </p:sp>
    </p:spTree>
    <p:extLst>
      <p:ext uri="{BB962C8B-B14F-4D97-AF65-F5344CB8AC3E}">
        <p14:creationId xmlns:p14="http://schemas.microsoft.com/office/powerpoint/2010/main" val="816840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Ubuntu Linux – Installation Media</a:t>
            </a:r>
          </a:p>
        </p:txBody>
      </p:sp>
      <p:sp>
        <p:nvSpPr>
          <p:cNvPr id="3" name="Content Placeholder 2"/>
          <p:cNvSpPr>
            <a:spLocks noGrp="1"/>
          </p:cNvSpPr>
          <p:nvPr>
            <p:ph idx="1"/>
          </p:nvPr>
        </p:nvSpPr>
        <p:spPr>
          <a:xfrm>
            <a:off x="298824" y="1434054"/>
            <a:ext cx="8546352" cy="4876800"/>
          </a:xfrm>
        </p:spPr>
        <p:txBody>
          <a:bodyPr>
            <a:normAutofit fontScale="92500" lnSpcReduction="10000"/>
          </a:bodyPr>
          <a:lstStyle/>
          <a:p>
            <a:r>
              <a:rPr lang="en-US" dirty="0"/>
              <a:t>Install from DVD</a:t>
            </a:r>
          </a:p>
          <a:p>
            <a:r>
              <a:rPr lang="en-US" dirty="0"/>
              <a:t>Install from a downloaded .</a:t>
            </a:r>
            <a:r>
              <a:rPr lang="en-US" dirty="0" err="1"/>
              <a:t>iso</a:t>
            </a:r>
            <a:r>
              <a:rPr lang="en-US" dirty="0"/>
              <a:t> file</a:t>
            </a:r>
          </a:p>
          <a:p>
            <a:pPr lvl="1"/>
            <a:r>
              <a:rPr lang="en-US" dirty="0"/>
              <a:t>An </a:t>
            </a:r>
            <a:r>
              <a:rPr lang="en-US" dirty="0" err="1"/>
              <a:t>iso</a:t>
            </a:r>
            <a:r>
              <a:rPr lang="en-US" dirty="0"/>
              <a:t> file is an archive file of an optical disk (IE DVD) </a:t>
            </a:r>
          </a:p>
          <a:p>
            <a:pPr lvl="1"/>
            <a:r>
              <a:rPr lang="en-US" dirty="0"/>
              <a:t>Checking the integrity of an </a:t>
            </a:r>
            <a:r>
              <a:rPr lang="en-US" dirty="0" err="1"/>
              <a:t>iso</a:t>
            </a:r>
            <a:r>
              <a:rPr lang="en-US" dirty="0"/>
              <a:t> file </a:t>
            </a:r>
          </a:p>
          <a:p>
            <a:pPr lvl="2"/>
            <a:r>
              <a:rPr lang="en-US" dirty="0"/>
              <a:t>A file’s checksum is commonly used to verify the integrity of an </a:t>
            </a:r>
            <a:r>
              <a:rPr lang="en-US" dirty="0" err="1"/>
              <a:t>iso</a:t>
            </a:r>
            <a:r>
              <a:rPr lang="en-US" dirty="0"/>
              <a:t> file. </a:t>
            </a:r>
          </a:p>
          <a:p>
            <a:pPr lvl="2"/>
            <a:r>
              <a:rPr lang="en-US" dirty="0"/>
              <a:t>Often the sha256sum utility or mdf5 is used to create the checksum</a:t>
            </a:r>
          </a:p>
          <a:p>
            <a:pPr lvl="2"/>
            <a:r>
              <a:rPr lang="en-US" dirty="0"/>
              <a:t>Ubuntu posts the checksums for its different releases on its web site.</a:t>
            </a:r>
          </a:p>
          <a:p>
            <a:pPr lvl="2"/>
            <a:r>
              <a:rPr lang="en-US" dirty="0"/>
              <a:t>Example using the md5 hash command on the iso file to compute the checksum:</a:t>
            </a:r>
          </a:p>
          <a:p>
            <a:pPr marL="0" indent="0">
              <a:buNone/>
            </a:pPr>
            <a:r>
              <a:rPr lang="en-US" sz="1500" dirty="0">
                <a:solidFill>
                  <a:srgbClr val="000000"/>
                </a:solidFill>
                <a:effectLst/>
                <a:latin typeface="Menlo" panose="020B0609030804020204" pitchFamily="49" charset="0"/>
              </a:rPr>
              <a:t>	$ md5 AAAA-ubuntu-22.iso</a:t>
            </a:r>
          </a:p>
          <a:p>
            <a:pPr marL="0" indent="0">
              <a:buNone/>
            </a:pPr>
            <a:r>
              <a:rPr lang="en-US" sz="1500" dirty="0">
                <a:solidFill>
                  <a:srgbClr val="000000"/>
                </a:solidFill>
                <a:effectLst/>
                <a:latin typeface="Menlo" panose="020B0609030804020204" pitchFamily="49" charset="0"/>
              </a:rPr>
              <a:t>	MD5 (AAAA-ubuntu-22.iso) = 53ea13f2a945231e6ae4affe34257884</a:t>
            </a:r>
            <a:endParaRPr lang="en-US" sz="1500" dirty="0"/>
          </a:p>
          <a:p>
            <a:pPr marL="617220" lvl="3" indent="-342900">
              <a:buSzPct val="85000"/>
            </a:pPr>
            <a:r>
              <a:rPr lang="en-US" dirty="0"/>
              <a:t>Compare the checksum hex number above starting with 53ea.. to the value on Ubuntu’s website</a:t>
            </a:r>
          </a:p>
          <a:p>
            <a:pPr marL="617220" lvl="3" indent="-342900">
              <a:buSzPct val="85000"/>
            </a:pPr>
            <a:endParaRPr lang="en-US" sz="1900" dirty="0"/>
          </a:p>
          <a:p>
            <a:pPr lvl="1"/>
            <a:endParaRPr lang="en-US" dirty="0"/>
          </a:p>
          <a:p>
            <a:endParaRPr lang="en-US" dirty="0"/>
          </a:p>
          <a:p>
            <a:pPr lvl="1"/>
            <a:endParaRPr lang="en-US" dirty="0"/>
          </a:p>
        </p:txBody>
      </p:sp>
      <p:sp>
        <p:nvSpPr>
          <p:cNvPr id="5" name="Slide Number Placeholder 4"/>
          <p:cNvSpPr>
            <a:spLocks noGrp="1"/>
          </p:cNvSpPr>
          <p:nvPr>
            <p:ph type="sldNum" sz="quarter" idx="12"/>
          </p:nvPr>
        </p:nvSpPr>
        <p:spPr/>
        <p:txBody>
          <a:bodyPr/>
          <a:lstStyle/>
          <a:p>
            <a:fld id="{F1E687AB-0FD7-C047-930B-FD009416571E}" type="slidenum">
              <a:rPr lang="en-US" smtClean="0"/>
              <a:t>30</a:t>
            </a:fld>
            <a:endParaRPr lang="en-US" dirty="0"/>
          </a:p>
        </p:txBody>
      </p:sp>
    </p:spTree>
    <p:extLst>
      <p:ext uri="{BB962C8B-B14F-4D97-AF65-F5344CB8AC3E}">
        <p14:creationId xmlns:p14="http://schemas.microsoft.com/office/powerpoint/2010/main" val="34854695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Planning Disk Partitions </a:t>
            </a:r>
          </a:p>
        </p:txBody>
      </p:sp>
      <p:sp>
        <p:nvSpPr>
          <p:cNvPr id="3" name="Slide Number Placeholder 2"/>
          <p:cNvSpPr>
            <a:spLocks noGrp="1"/>
          </p:cNvSpPr>
          <p:nvPr>
            <p:ph type="sldNum" sz="quarter" idx="12"/>
          </p:nvPr>
        </p:nvSpPr>
        <p:spPr/>
        <p:txBody>
          <a:bodyPr/>
          <a:lstStyle/>
          <a:p>
            <a:fld id="{F1E687AB-0FD7-C047-930B-FD009416571E}" type="slidenum">
              <a:rPr lang="en-US" smtClean="0"/>
              <a:t>31</a:t>
            </a:fld>
            <a:endParaRPr lang="en-US" dirty="0"/>
          </a:p>
        </p:txBody>
      </p:sp>
      <p:sp>
        <p:nvSpPr>
          <p:cNvPr id="4" name="Rectangle 3"/>
          <p:cNvSpPr txBox="1">
            <a:spLocks noChangeArrowheads="1"/>
          </p:cNvSpPr>
          <p:nvPr/>
        </p:nvSpPr>
        <p:spPr>
          <a:xfrm>
            <a:off x="457200" y="1219200"/>
            <a:ext cx="8229600" cy="4525963"/>
          </a:xfrm>
          <a:prstGeom prst="rect">
            <a:avLst/>
          </a:prstGeom>
        </p:spPr>
        <p:txBody>
          <a:bodyPr vert="horz" lIns="91440" tIns="45720" rIns="91440" bIns="45720" rtlCol="0">
            <a:normAutofit fontScale="92500"/>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Disk partitioning involves dividing up a hard disk to provide more than one storage allocations</a:t>
            </a:r>
          </a:p>
          <a:p>
            <a:pPr lvl="1"/>
            <a:r>
              <a:rPr lang="en-US" dirty="0"/>
              <a:t>Custom Partitioning</a:t>
            </a:r>
          </a:p>
          <a:p>
            <a:pPr lvl="2"/>
            <a:r>
              <a:rPr lang="en-US" dirty="0"/>
              <a:t>Can provide more capabilities such as:</a:t>
            </a:r>
          </a:p>
          <a:p>
            <a:pPr lvl="3"/>
            <a:r>
              <a:rPr lang="en-US" dirty="0"/>
              <a:t>Wipe and reload the </a:t>
            </a:r>
            <a:r>
              <a:rPr lang="en-US" dirty="0" err="1"/>
              <a:t>os</a:t>
            </a:r>
            <a:r>
              <a:rPr lang="en-US" dirty="0"/>
              <a:t> partition without disturbing data</a:t>
            </a:r>
          </a:p>
          <a:p>
            <a:pPr lvl="3"/>
            <a:r>
              <a:rPr lang="en-US" dirty="0"/>
              <a:t>Separate directories that tend to grow over time</a:t>
            </a:r>
          </a:p>
          <a:p>
            <a:pPr lvl="4"/>
            <a:r>
              <a:rPr lang="en-US" dirty="0"/>
              <a:t>/var where logs are stored</a:t>
            </a:r>
          </a:p>
          <a:p>
            <a:pPr lvl="4"/>
            <a:r>
              <a:rPr lang="en-US" dirty="0"/>
              <a:t>/home where user accounts reside</a:t>
            </a:r>
          </a:p>
          <a:p>
            <a:pPr lvl="4"/>
            <a:r>
              <a:rPr lang="en-US" dirty="0"/>
              <a:t>Place all files associated with an application on a separate partition; /application-one</a:t>
            </a:r>
          </a:p>
          <a:p>
            <a:pPr lvl="3"/>
            <a:r>
              <a:rPr lang="en-US" dirty="0"/>
              <a:t>Use to create boundaries</a:t>
            </a:r>
          </a:p>
        </p:txBody>
      </p:sp>
    </p:spTree>
    <p:extLst>
      <p:ext uri="{BB962C8B-B14F-4D97-AF65-F5344CB8AC3E}">
        <p14:creationId xmlns:p14="http://schemas.microsoft.com/office/powerpoint/2010/main" val="37623039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Management</a:t>
            </a:r>
          </a:p>
        </p:txBody>
      </p:sp>
      <p:sp>
        <p:nvSpPr>
          <p:cNvPr id="3" name="Slide Number Placeholder 2"/>
          <p:cNvSpPr>
            <a:spLocks noGrp="1"/>
          </p:cNvSpPr>
          <p:nvPr>
            <p:ph type="sldNum" sz="quarter" idx="12"/>
          </p:nvPr>
        </p:nvSpPr>
        <p:spPr/>
        <p:txBody>
          <a:bodyPr/>
          <a:lstStyle/>
          <a:p>
            <a:fld id="{F1E687AB-0FD7-C047-930B-FD009416571E}" type="slidenum">
              <a:rPr lang="en-US" smtClean="0"/>
              <a:t>32</a:t>
            </a:fld>
            <a:endParaRPr lang="en-US" dirty="0"/>
          </a:p>
        </p:txBody>
      </p:sp>
      <p:sp>
        <p:nvSpPr>
          <p:cNvPr id="4" name="Rectangle 3"/>
          <p:cNvSpPr txBox="1">
            <a:spLocks noChangeArrowheads="1"/>
          </p:cNvSpPr>
          <p:nvPr/>
        </p:nvSpPr>
        <p:spPr>
          <a:xfrm>
            <a:off x="457200" y="1600200"/>
            <a:ext cx="8229600" cy="4525963"/>
          </a:xfrm>
          <a:prstGeom prst="rect">
            <a:avLst/>
          </a:prstGeom>
        </p:spPr>
        <p:txBody>
          <a:bodyPr vert="horz" lIns="91440" tIns="45720" rIns="91440" bIns="45720" rtlCol="0">
            <a:normAutofit fontScale="925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Main Memory can be viewed as a large array or of words, (as a unit), or bytes. Each word or byte has its own address.</a:t>
            </a:r>
          </a:p>
          <a:p>
            <a:pPr lvl="1"/>
            <a:r>
              <a:rPr lang="en-US" dirty="0"/>
              <a:t>Instructions are stored in main memory</a:t>
            </a:r>
          </a:p>
          <a:p>
            <a:pPr lvl="1"/>
            <a:r>
              <a:rPr lang="en-US" dirty="0"/>
              <a:t>Data is stored in main memory</a:t>
            </a:r>
          </a:p>
          <a:p>
            <a:r>
              <a:rPr lang="en-US" dirty="0"/>
              <a:t>The OS kernel includes a memory management unit (MMU)</a:t>
            </a:r>
          </a:p>
          <a:p>
            <a:pPr lvl="1"/>
            <a:r>
              <a:rPr lang="en-US" dirty="0"/>
              <a:t>This makes it possible for several processes to share main memory</a:t>
            </a:r>
          </a:p>
          <a:p>
            <a:pPr lvl="1"/>
            <a:r>
              <a:rPr lang="en-US" dirty="0"/>
              <a:t>An application deals with logical memory addresses</a:t>
            </a:r>
          </a:p>
          <a:p>
            <a:pPr lvl="1"/>
            <a:r>
              <a:rPr lang="en-US" dirty="0"/>
              <a:t>The MMU deals with physical addresses</a:t>
            </a:r>
          </a:p>
          <a:p>
            <a:endParaRPr lang="en-US" dirty="0"/>
          </a:p>
        </p:txBody>
      </p:sp>
    </p:spTree>
    <p:extLst>
      <p:ext uri="{BB962C8B-B14F-4D97-AF65-F5344CB8AC3E}">
        <p14:creationId xmlns:p14="http://schemas.microsoft.com/office/powerpoint/2010/main" val="5884515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Management</a:t>
            </a:r>
          </a:p>
        </p:txBody>
      </p:sp>
      <p:sp>
        <p:nvSpPr>
          <p:cNvPr id="3" name="Slide Number Placeholder 2"/>
          <p:cNvSpPr>
            <a:spLocks noGrp="1"/>
          </p:cNvSpPr>
          <p:nvPr>
            <p:ph type="sldNum" sz="quarter" idx="12"/>
          </p:nvPr>
        </p:nvSpPr>
        <p:spPr/>
        <p:txBody>
          <a:bodyPr/>
          <a:lstStyle/>
          <a:p>
            <a:fld id="{F1E687AB-0FD7-C047-930B-FD009416571E}" type="slidenum">
              <a:rPr lang="en-US" smtClean="0"/>
              <a:t>33</a:t>
            </a:fld>
            <a:endParaRPr lang="en-US" dirty="0"/>
          </a:p>
        </p:txBody>
      </p:sp>
      <p:sp>
        <p:nvSpPr>
          <p:cNvPr id="5" name="Rectangle 3"/>
          <p:cNvSpPr txBox="1">
            <a:spLocks noChangeArrowheads="1"/>
          </p:cNvSpPr>
          <p:nvPr/>
        </p:nvSpPr>
        <p:spPr>
          <a:xfrm>
            <a:off x="381000" y="1371600"/>
            <a:ext cx="8229600" cy="4525963"/>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sz="2800" dirty="0"/>
              <a:t>Paging manages physical memory space</a:t>
            </a:r>
          </a:p>
          <a:p>
            <a:pPr lvl="1"/>
            <a:r>
              <a:rPr lang="en-US" dirty="0"/>
              <a:t>Physical memory is divided into frames</a:t>
            </a:r>
          </a:p>
          <a:p>
            <a:pPr lvl="1"/>
            <a:r>
              <a:rPr lang="en-US" dirty="0"/>
              <a:t>Logical memory is divided into pages</a:t>
            </a:r>
          </a:p>
          <a:p>
            <a:pPr lvl="1"/>
            <a:r>
              <a:rPr lang="en-US" dirty="0"/>
              <a:t>Frames and pages have the same size, defined by the hardware involved</a:t>
            </a:r>
          </a:p>
          <a:p>
            <a:r>
              <a:rPr lang="en-US" sz="2800" dirty="0"/>
              <a:t>Paging provides a technique for implementing a large linear address space in a limited physical memory </a:t>
            </a:r>
          </a:p>
          <a:p>
            <a:r>
              <a:rPr lang="en-US" sz="2800" dirty="0"/>
              <a:t>Managed using a table with page number and an offset</a:t>
            </a:r>
          </a:p>
        </p:txBody>
      </p:sp>
    </p:spTree>
    <p:extLst>
      <p:ext uri="{BB962C8B-B14F-4D97-AF65-F5344CB8AC3E}">
        <p14:creationId xmlns:p14="http://schemas.microsoft.com/office/powerpoint/2010/main" val="34549337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4553"/>
            <a:ext cx="8229600" cy="990600"/>
          </a:xfrm>
        </p:spPr>
        <p:txBody>
          <a:bodyPr/>
          <a:lstStyle/>
          <a:p>
            <a:r>
              <a:rPr lang="en-US" dirty="0"/>
              <a:t>Memory Management Unit</a:t>
            </a:r>
          </a:p>
        </p:txBody>
      </p:sp>
      <p:sp>
        <p:nvSpPr>
          <p:cNvPr id="3" name="Slide Number Placeholder 2"/>
          <p:cNvSpPr>
            <a:spLocks noGrp="1"/>
          </p:cNvSpPr>
          <p:nvPr>
            <p:ph type="sldNum" sz="quarter" idx="12"/>
          </p:nvPr>
        </p:nvSpPr>
        <p:spPr/>
        <p:txBody>
          <a:bodyPr/>
          <a:lstStyle/>
          <a:p>
            <a:fld id="{F1E687AB-0FD7-C047-930B-FD009416571E}" type="slidenum">
              <a:rPr lang="en-US" smtClean="0"/>
              <a:t>34</a:t>
            </a:fld>
            <a:endParaRPr lang="en-US" dirty="0"/>
          </a:p>
        </p:txBody>
      </p:sp>
      <p:sp>
        <p:nvSpPr>
          <p:cNvPr id="6" name="TextBox 5"/>
          <p:cNvSpPr txBox="1"/>
          <p:nvPr/>
        </p:nvSpPr>
        <p:spPr>
          <a:xfrm>
            <a:off x="2297723" y="5907811"/>
            <a:ext cx="2009572" cy="923330"/>
          </a:xfrm>
          <a:prstGeom prst="rect">
            <a:avLst/>
          </a:prstGeom>
          <a:noFill/>
        </p:spPr>
        <p:txBody>
          <a:bodyPr wrap="none" rtlCol="0">
            <a:spAutoFit/>
          </a:bodyPr>
          <a:lstStyle/>
          <a:p>
            <a:pPr algn="ctr"/>
            <a:r>
              <a:rPr lang="en-US" dirty="0"/>
              <a:t>Logical Memory</a:t>
            </a:r>
          </a:p>
          <a:p>
            <a:pPr algn="ctr"/>
            <a:r>
              <a:rPr lang="en-US" dirty="0"/>
              <a:t>Unlimited in theory</a:t>
            </a:r>
          </a:p>
          <a:p>
            <a:endParaRPr lang="en-US" dirty="0"/>
          </a:p>
        </p:txBody>
      </p:sp>
      <p:sp>
        <p:nvSpPr>
          <p:cNvPr id="7" name="TextBox 6"/>
          <p:cNvSpPr txBox="1"/>
          <p:nvPr/>
        </p:nvSpPr>
        <p:spPr>
          <a:xfrm>
            <a:off x="5259064" y="5625405"/>
            <a:ext cx="1852115" cy="923330"/>
          </a:xfrm>
          <a:prstGeom prst="rect">
            <a:avLst/>
          </a:prstGeom>
          <a:noFill/>
        </p:spPr>
        <p:txBody>
          <a:bodyPr wrap="none" rtlCol="0">
            <a:spAutoFit/>
          </a:bodyPr>
          <a:lstStyle/>
          <a:p>
            <a:pPr algn="ctr"/>
            <a:r>
              <a:rPr lang="en-US" dirty="0"/>
              <a:t>Physical Memory</a:t>
            </a:r>
          </a:p>
          <a:p>
            <a:pPr algn="ctr"/>
            <a:r>
              <a:rPr lang="en-US" dirty="0"/>
              <a:t>Fixed</a:t>
            </a:r>
          </a:p>
          <a:p>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3218406003"/>
              </p:ext>
            </p:extLst>
          </p:nvPr>
        </p:nvGraphicFramePr>
        <p:xfrm>
          <a:off x="2086707" y="1267840"/>
          <a:ext cx="4970585" cy="4876794"/>
        </p:xfrm>
        <a:graphic>
          <a:graphicData uri="http://schemas.openxmlformats.org/drawingml/2006/table">
            <a:tbl>
              <a:tblPr/>
              <a:tblGrid>
                <a:gridCol w="508000">
                  <a:extLst>
                    <a:ext uri="{9D8B030D-6E8A-4147-A177-3AD203B41FA5}">
                      <a16:colId xmlns:a16="http://schemas.microsoft.com/office/drawing/2014/main" val="20000"/>
                    </a:ext>
                  </a:extLst>
                </a:gridCol>
                <a:gridCol w="672123">
                  <a:extLst>
                    <a:ext uri="{9D8B030D-6E8A-4147-A177-3AD203B41FA5}">
                      <a16:colId xmlns:a16="http://schemas.microsoft.com/office/drawing/2014/main" val="20001"/>
                    </a:ext>
                  </a:extLst>
                </a:gridCol>
                <a:gridCol w="672123">
                  <a:extLst>
                    <a:ext uri="{9D8B030D-6E8A-4147-A177-3AD203B41FA5}">
                      <a16:colId xmlns:a16="http://schemas.microsoft.com/office/drawing/2014/main" val="20002"/>
                    </a:ext>
                  </a:extLst>
                </a:gridCol>
                <a:gridCol w="422031">
                  <a:extLst>
                    <a:ext uri="{9D8B030D-6E8A-4147-A177-3AD203B41FA5}">
                      <a16:colId xmlns:a16="http://schemas.microsoft.com/office/drawing/2014/main" val="20003"/>
                    </a:ext>
                  </a:extLst>
                </a:gridCol>
                <a:gridCol w="422031">
                  <a:extLst>
                    <a:ext uri="{9D8B030D-6E8A-4147-A177-3AD203B41FA5}">
                      <a16:colId xmlns:a16="http://schemas.microsoft.com/office/drawing/2014/main" val="20004"/>
                    </a:ext>
                  </a:extLst>
                </a:gridCol>
                <a:gridCol w="672123">
                  <a:extLst>
                    <a:ext uri="{9D8B030D-6E8A-4147-A177-3AD203B41FA5}">
                      <a16:colId xmlns:a16="http://schemas.microsoft.com/office/drawing/2014/main" val="20005"/>
                    </a:ext>
                  </a:extLst>
                </a:gridCol>
                <a:gridCol w="422031">
                  <a:extLst>
                    <a:ext uri="{9D8B030D-6E8A-4147-A177-3AD203B41FA5}">
                      <a16:colId xmlns:a16="http://schemas.microsoft.com/office/drawing/2014/main" val="20006"/>
                    </a:ext>
                  </a:extLst>
                </a:gridCol>
                <a:gridCol w="672123">
                  <a:extLst>
                    <a:ext uri="{9D8B030D-6E8A-4147-A177-3AD203B41FA5}">
                      <a16:colId xmlns:a16="http://schemas.microsoft.com/office/drawing/2014/main" val="20007"/>
                    </a:ext>
                  </a:extLst>
                </a:gridCol>
                <a:gridCol w="508000">
                  <a:extLst>
                    <a:ext uri="{9D8B030D-6E8A-4147-A177-3AD203B41FA5}">
                      <a16:colId xmlns:a16="http://schemas.microsoft.com/office/drawing/2014/main" val="20008"/>
                    </a:ext>
                  </a:extLst>
                </a:gridCol>
              </a:tblGrid>
              <a:tr h="375138">
                <a:tc>
                  <a:txBody>
                    <a:bodyPr/>
                    <a:lstStyle/>
                    <a:p>
                      <a:pPr algn="l" fontAlgn="b"/>
                      <a:endParaRPr lang="en-US" sz="1400" b="0" i="0" u="none" strike="noStrike">
                        <a:solidFill>
                          <a:srgbClr val="000000"/>
                        </a:solidFill>
                        <a:effectLst/>
                        <a:latin typeface="Calibri"/>
                      </a:endParaRPr>
                    </a:p>
                  </a:txBody>
                  <a:tcPr marL="7815" marR="7815" marT="7815" marB="0" anchor="b">
                    <a:lnL>
                      <a:noFill/>
                    </a:lnL>
                    <a:lnR>
                      <a:noFill/>
                    </a:lnR>
                    <a:lnT>
                      <a:noFill/>
                    </a:lnT>
                    <a:lnB>
                      <a:noFill/>
                    </a:lnB>
                  </a:tcPr>
                </a:tc>
                <a:tc>
                  <a:txBody>
                    <a:bodyPr/>
                    <a:lstStyle/>
                    <a:p>
                      <a:pPr algn="l" fontAlgn="b"/>
                      <a:endParaRPr lang="en-US" sz="1400" b="0" i="0" u="none" strike="noStrike">
                        <a:solidFill>
                          <a:srgbClr val="000000"/>
                        </a:solidFill>
                        <a:effectLst/>
                        <a:latin typeface="Calibri"/>
                      </a:endParaRPr>
                    </a:p>
                  </a:txBody>
                  <a:tcPr marL="7815" marR="7815" marT="7815" marB="0" anchor="b">
                    <a:lnL>
                      <a:noFill/>
                    </a:lnL>
                    <a:lnR>
                      <a:noFill/>
                    </a:lnR>
                    <a:lnT>
                      <a:noFill/>
                    </a:lnT>
                    <a:lnB>
                      <a:noFill/>
                    </a:lnB>
                  </a:tcPr>
                </a:tc>
                <a:tc>
                  <a:txBody>
                    <a:bodyPr/>
                    <a:lstStyle/>
                    <a:p>
                      <a:pPr algn="l" fontAlgn="b"/>
                      <a:endParaRPr lang="en-US" sz="1400" b="0" i="0" u="none" strike="noStrike">
                        <a:solidFill>
                          <a:srgbClr val="000000"/>
                        </a:solidFill>
                        <a:effectLst/>
                        <a:latin typeface="Calibri"/>
                      </a:endParaRPr>
                    </a:p>
                  </a:txBody>
                  <a:tcPr marL="7815" marR="7815" marT="7815" marB="0" anchor="b">
                    <a:lnL>
                      <a:noFill/>
                    </a:lnL>
                    <a:lnR>
                      <a:noFill/>
                    </a:lnR>
                    <a:lnT>
                      <a:noFill/>
                    </a:lnT>
                    <a:lnB>
                      <a:noFill/>
                    </a:lnB>
                  </a:tcPr>
                </a:tc>
                <a:tc>
                  <a:txBody>
                    <a:bodyPr/>
                    <a:lstStyle/>
                    <a:p>
                      <a:pPr algn="l" fontAlgn="b"/>
                      <a:endParaRPr lang="en-US" sz="1400" b="0" i="0" u="none" strike="noStrike">
                        <a:solidFill>
                          <a:srgbClr val="000000"/>
                        </a:solidFill>
                        <a:effectLst/>
                        <a:latin typeface="Calibri"/>
                      </a:endParaRPr>
                    </a:p>
                  </a:txBody>
                  <a:tcPr marL="7815" marR="7815" marT="7815" marB="0" anchor="b">
                    <a:lnL>
                      <a:noFill/>
                    </a:lnL>
                    <a:lnR>
                      <a:noFill/>
                    </a:lnR>
                    <a:lnT>
                      <a:noFill/>
                    </a:lnT>
                    <a:lnB>
                      <a:noFill/>
                    </a:lnB>
                  </a:tcPr>
                </a:tc>
                <a:tc>
                  <a:txBody>
                    <a:bodyPr/>
                    <a:lstStyle/>
                    <a:p>
                      <a:pPr algn="l" fontAlgn="b"/>
                      <a:endParaRPr lang="en-US" sz="1400" b="0" i="0" u="none" strike="noStrike" dirty="0">
                        <a:solidFill>
                          <a:srgbClr val="000000"/>
                        </a:solidFill>
                        <a:effectLst/>
                        <a:latin typeface="Calibri"/>
                      </a:endParaRPr>
                    </a:p>
                  </a:txBody>
                  <a:tcPr marL="7815" marR="7815" marT="7815" marB="0" anchor="b">
                    <a:lnL>
                      <a:noFill/>
                    </a:lnL>
                    <a:lnR>
                      <a:noFill/>
                    </a:lnR>
                    <a:lnT>
                      <a:noFill/>
                    </a:lnT>
                    <a:lnB>
                      <a:noFill/>
                    </a:lnB>
                  </a:tcPr>
                </a:tc>
                <a:tc>
                  <a:txBody>
                    <a:bodyPr/>
                    <a:lstStyle/>
                    <a:p>
                      <a:pPr algn="l" fontAlgn="b"/>
                      <a:endParaRPr lang="en-US" sz="1400" b="0" i="0" u="none" strike="noStrike">
                        <a:solidFill>
                          <a:srgbClr val="000000"/>
                        </a:solidFill>
                        <a:effectLst/>
                        <a:latin typeface="Calibri"/>
                      </a:endParaRPr>
                    </a:p>
                  </a:txBody>
                  <a:tcPr marL="7815" marR="7815" marT="7815" marB="0" anchor="b">
                    <a:lnL>
                      <a:noFill/>
                    </a:lnL>
                    <a:lnR>
                      <a:noFill/>
                    </a:lnR>
                    <a:lnT>
                      <a:noFill/>
                    </a:lnT>
                    <a:lnB>
                      <a:noFill/>
                    </a:lnB>
                  </a:tcPr>
                </a:tc>
                <a:tc>
                  <a:txBody>
                    <a:bodyPr/>
                    <a:lstStyle/>
                    <a:p>
                      <a:pPr algn="l" fontAlgn="b"/>
                      <a:endParaRPr lang="en-US" sz="1400" b="0" i="0" u="none" strike="noStrike">
                        <a:solidFill>
                          <a:srgbClr val="000000"/>
                        </a:solidFill>
                        <a:effectLst/>
                        <a:latin typeface="Calibri"/>
                      </a:endParaRPr>
                    </a:p>
                  </a:txBody>
                  <a:tcPr marL="7815" marR="7815" marT="7815" marB="0" anchor="b">
                    <a:lnL>
                      <a:noFill/>
                    </a:lnL>
                    <a:lnR>
                      <a:noFill/>
                    </a:lnR>
                    <a:lnT>
                      <a:noFill/>
                    </a:lnT>
                    <a:lnB>
                      <a:noFill/>
                    </a:lnB>
                  </a:tcPr>
                </a:tc>
                <a:tc>
                  <a:txBody>
                    <a:bodyPr/>
                    <a:lstStyle/>
                    <a:p>
                      <a:pPr algn="l" fontAlgn="b"/>
                      <a:endParaRPr lang="en-US" sz="1400" b="0" i="0" u="none" strike="noStrike">
                        <a:solidFill>
                          <a:srgbClr val="000000"/>
                        </a:solidFill>
                        <a:effectLst/>
                        <a:latin typeface="Calibri"/>
                      </a:endParaRPr>
                    </a:p>
                  </a:txBody>
                  <a:tcPr marL="7815" marR="7815" marT="7815" marB="0" anchor="b">
                    <a:lnL>
                      <a:noFill/>
                    </a:lnL>
                    <a:lnR>
                      <a:noFill/>
                    </a:lnR>
                    <a:lnT>
                      <a:noFill/>
                    </a:lnT>
                    <a:lnB>
                      <a:noFill/>
                    </a:lnB>
                  </a:tcPr>
                </a:tc>
                <a:tc>
                  <a:txBody>
                    <a:bodyPr/>
                    <a:lstStyle/>
                    <a:p>
                      <a:pPr algn="l" fontAlgn="b"/>
                      <a:endParaRPr lang="en-US" sz="1400" b="0" i="0" u="none" strike="noStrike">
                        <a:solidFill>
                          <a:srgbClr val="000000"/>
                        </a:solidFill>
                        <a:effectLst/>
                        <a:latin typeface="Calibri"/>
                      </a:endParaRPr>
                    </a:p>
                  </a:txBody>
                  <a:tcPr marL="7815" marR="7815" marT="7815" marB="0" anchor="b">
                    <a:lnL>
                      <a:noFill/>
                    </a:lnL>
                    <a:lnR>
                      <a:noFill/>
                    </a:lnR>
                    <a:lnT>
                      <a:noFill/>
                    </a:lnT>
                    <a:lnB>
                      <a:noFill/>
                    </a:lnB>
                  </a:tcPr>
                </a:tc>
                <a:extLst>
                  <a:ext uri="{0D108BD9-81ED-4DB2-BD59-A6C34878D82A}">
                    <a16:rowId xmlns:a16="http://schemas.microsoft.com/office/drawing/2014/main" val="10000"/>
                  </a:ext>
                </a:extLst>
              </a:tr>
              <a:tr h="375138">
                <a:tc>
                  <a:txBody>
                    <a:bodyPr/>
                    <a:lstStyle/>
                    <a:p>
                      <a:pPr algn="l" fontAlgn="b"/>
                      <a:endParaRPr lang="en-US" sz="1400" b="0" i="0" u="none" strike="noStrike">
                        <a:solidFill>
                          <a:srgbClr val="000000"/>
                        </a:solidFill>
                        <a:effectLst/>
                        <a:latin typeface="Calibri"/>
                      </a:endParaRPr>
                    </a:p>
                  </a:txBody>
                  <a:tcPr marL="7815" marR="7815" marT="7815"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 </a:t>
                      </a:r>
                    </a:p>
                  </a:txBody>
                  <a:tcPr marL="7815" marR="7815" marT="781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extLst>
                  <a:ext uri="{0D108BD9-81ED-4DB2-BD59-A6C34878D82A}">
                    <a16:rowId xmlns:a16="http://schemas.microsoft.com/office/drawing/2014/main" val="10001"/>
                  </a:ext>
                </a:extLst>
              </a:tr>
              <a:tr h="375138">
                <a:tc>
                  <a:txBody>
                    <a:bodyPr/>
                    <a:lstStyle/>
                    <a:p>
                      <a:pPr algn="l" fontAlgn="b"/>
                      <a:endParaRPr lang="en-US" sz="1400" b="0" i="0" u="none" strike="noStrike">
                        <a:solidFill>
                          <a:srgbClr val="000000"/>
                        </a:solidFill>
                        <a:effectLst/>
                        <a:latin typeface="Calibri"/>
                      </a:endParaRPr>
                    </a:p>
                  </a:txBody>
                  <a:tcPr marL="7815" marR="7815" marT="7815"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page 0</a:t>
                      </a:r>
                    </a:p>
                  </a:txBody>
                  <a:tcPr marL="7815" marR="7815" marT="781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endParaRPr lang="en-US" sz="1400" b="0" i="0" u="none" strike="noStrike" dirty="0">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extLst>
                  <a:ext uri="{0D108BD9-81ED-4DB2-BD59-A6C34878D82A}">
                    <a16:rowId xmlns:a16="http://schemas.microsoft.com/office/drawing/2014/main" val="10002"/>
                  </a:ext>
                </a:extLst>
              </a:tr>
              <a:tr h="375138">
                <a:tc>
                  <a:txBody>
                    <a:bodyPr/>
                    <a:lstStyle/>
                    <a:p>
                      <a:pPr algn="l" fontAlgn="b"/>
                      <a:endParaRPr lang="en-US" sz="1400" b="0" i="0" u="none" strike="noStrike">
                        <a:solidFill>
                          <a:srgbClr val="000000"/>
                        </a:solidFill>
                        <a:effectLst/>
                        <a:latin typeface="Calibri"/>
                      </a:endParaRPr>
                    </a:p>
                  </a:txBody>
                  <a:tcPr marL="7815" marR="7815" marT="7815"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page 1</a:t>
                      </a:r>
                    </a:p>
                  </a:txBody>
                  <a:tcPr marL="7815" marR="7815" marT="781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400" b="0" i="0" u="none" strike="noStrike">
                          <a:solidFill>
                            <a:srgbClr val="000000"/>
                          </a:solidFill>
                          <a:effectLst/>
                          <a:latin typeface="Calibri"/>
                        </a:rPr>
                        <a:t>0</a:t>
                      </a:r>
                    </a:p>
                  </a:txBody>
                  <a:tcPr marL="7815" marR="7815" marT="7815"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1</a:t>
                      </a:r>
                    </a:p>
                  </a:txBody>
                  <a:tcPr marL="7815" marR="7815" marT="781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400" b="0" i="0" u="none" strike="noStrike">
                          <a:solidFill>
                            <a:srgbClr val="000000"/>
                          </a:solidFill>
                          <a:effectLst/>
                          <a:latin typeface="Calibri"/>
                        </a:rPr>
                        <a:t>0</a:t>
                      </a:r>
                    </a:p>
                  </a:txBody>
                  <a:tcPr marL="7815" marR="7815" marT="781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 </a:t>
                      </a:r>
                    </a:p>
                  </a:txBody>
                  <a:tcPr marL="7815" marR="7815" marT="781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3"/>
                  </a:ext>
                </a:extLst>
              </a:tr>
              <a:tr h="375138">
                <a:tc>
                  <a:txBody>
                    <a:bodyPr/>
                    <a:lstStyle/>
                    <a:p>
                      <a:pPr algn="l" fontAlgn="b"/>
                      <a:endParaRPr lang="en-US" sz="1400" b="0" i="0" u="none" strike="noStrike">
                        <a:solidFill>
                          <a:srgbClr val="000000"/>
                        </a:solidFill>
                        <a:effectLst/>
                        <a:latin typeface="Calibri"/>
                      </a:endParaRPr>
                    </a:p>
                  </a:txBody>
                  <a:tcPr marL="7815" marR="7815" marT="7815"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page 2</a:t>
                      </a:r>
                    </a:p>
                  </a:txBody>
                  <a:tcPr marL="7815" marR="7815" marT="781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400" b="0" i="0" u="none" strike="noStrike">
                          <a:solidFill>
                            <a:srgbClr val="000000"/>
                          </a:solidFill>
                          <a:effectLst/>
                          <a:latin typeface="Calibri"/>
                        </a:rPr>
                        <a:t>1</a:t>
                      </a:r>
                    </a:p>
                  </a:txBody>
                  <a:tcPr marL="7815" marR="7815" marT="7815"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4</a:t>
                      </a:r>
                    </a:p>
                  </a:txBody>
                  <a:tcPr marL="7815" marR="7815" marT="781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400" b="0" i="0" u="none" strike="noStrike">
                          <a:solidFill>
                            <a:srgbClr val="000000"/>
                          </a:solidFill>
                          <a:effectLst/>
                          <a:latin typeface="Calibri"/>
                        </a:rPr>
                        <a:t>1</a:t>
                      </a:r>
                    </a:p>
                  </a:txBody>
                  <a:tcPr marL="7815" marR="7815" marT="781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page 0</a:t>
                      </a:r>
                    </a:p>
                  </a:txBody>
                  <a:tcPr marL="7815" marR="7815" marT="781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4"/>
                  </a:ext>
                </a:extLst>
              </a:tr>
              <a:tr h="375138">
                <a:tc>
                  <a:txBody>
                    <a:bodyPr/>
                    <a:lstStyle/>
                    <a:p>
                      <a:pPr algn="l" fontAlgn="b"/>
                      <a:endParaRPr lang="en-US" sz="1400" b="0" i="0" u="none" strike="noStrike">
                        <a:solidFill>
                          <a:srgbClr val="000000"/>
                        </a:solidFill>
                        <a:effectLst/>
                        <a:latin typeface="Calibri"/>
                      </a:endParaRPr>
                    </a:p>
                  </a:txBody>
                  <a:tcPr marL="7815" marR="7815" marT="7815"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page 3</a:t>
                      </a:r>
                    </a:p>
                  </a:txBody>
                  <a:tcPr marL="7815" marR="7815" marT="781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400" b="0" i="0" u="none" strike="noStrike">
                          <a:solidFill>
                            <a:srgbClr val="000000"/>
                          </a:solidFill>
                          <a:effectLst/>
                          <a:latin typeface="Calibri"/>
                        </a:rPr>
                        <a:t>2</a:t>
                      </a:r>
                    </a:p>
                  </a:txBody>
                  <a:tcPr marL="7815" marR="7815" marT="7815"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3</a:t>
                      </a:r>
                    </a:p>
                  </a:txBody>
                  <a:tcPr marL="7815" marR="7815" marT="781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400" b="0" i="0" u="none" strike="noStrike">
                          <a:solidFill>
                            <a:srgbClr val="000000"/>
                          </a:solidFill>
                          <a:effectLst/>
                          <a:latin typeface="Calibri"/>
                        </a:rPr>
                        <a:t>2</a:t>
                      </a:r>
                    </a:p>
                  </a:txBody>
                  <a:tcPr marL="7815" marR="7815" marT="781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 </a:t>
                      </a:r>
                    </a:p>
                  </a:txBody>
                  <a:tcPr marL="7815" marR="7815" marT="781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5"/>
                  </a:ext>
                </a:extLst>
              </a:tr>
              <a:tr h="375138">
                <a:tc>
                  <a:txBody>
                    <a:bodyPr/>
                    <a:lstStyle/>
                    <a:p>
                      <a:pPr algn="l" fontAlgn="b"/>
                      <a:endParaRPr lang="en-US" sz="1400" b="0" i="0" u="none" strike="noStrike">
                        <a:solidFill>
                          <a:srgbClr val="000000"/>
                        </a:solidFill>
                        <a:effectLst/>
                        <a:latin typeface="Calibri"/>
                      </a:endParaRPr>
                    </a:p>
                  </a:txBody>
                  <a:tcPr marL="7815" marR="7815" marT="7815"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 </a:t>
                      </a:r>
                    </a:p>
                  </a:txBody>
                  <a:tcPr marL="7815" marR="7815" marT="781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400" b="0" i="0" u="none" strike="noStrike">
                          <a:solidFill>
                            <a:srgbClr val="000000"/>
                          </a:solidFill>
                          <a:effectLst/>
                          <a:latin typeface="Calibri"/>
                        </a:rPr>
                        <a:t>3</a:t>
                      </a:r>
                    </a:p>
                  </a:txBody>
                  <a:tcPr marL="7815" marR="7815" marT="7815"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dirty="0">
                          <a:solidFill>
                            <a:srgbClr val="000000"/>
                          </a:solidFill>
                          <a:effectLst/>
                          <a:latin typeface="Calibri"/>
                        </a:rPr>
                        <a:t>6</a:t>
                      </a:r>
                    </a:p>
                  </a:txBody>
                  <a:tcPr marL="7815" marR="7815" marT="781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400" b="0" i="0" u="none" strike="noStrike">
                          <a:solidFill>
                            <a:srgbClr val="000000"/>
                          </a:solidFill>
                          <a:effectLst/>
                          <a:latin typeface="Calibri"/>
                        </a:rPr>
                        <a:t>3</a:t>
                      </a:r>
                    </a:p>
                  </a:txBody>
                  <a:tcPr marL="7815" marR="7815" marT="781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page 2</a:t>
                      </a:r>
                    </a:p>
                  </a:txBody>
                  <a:tcPr marL="7815" marR="7815" marT="781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6"/>
                  </a:ext>
                </a:extLst>
              </a:tr>
              <a:tr h="375138">
                <a:tc>
                  <a:txBody>
                    <a:bodyPr/>
                    <a:lstStyle/>
                    <a:p>
                      <a:pPr algn="l" fontAlgn="b"/>
                      <a:endParaRPr lang="en-US" sz="1400" b="0" i="0" u="none" strike="noStrike">
                        <a:solidFill>
                          <a:srgbClr val="000000"/>
                        </a:solidFill>
                        <a:effectLst/>
                        <a:latin typeface="Calibri"/>
                      </a:endParaRPr>
                    </a:p>
                  </a:txBody>
                  <a:tcPr marL="7815" marR="7815" marT="7815"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 </a:t>
                      </a:r>
                    </a:p>
                  </a:txBody>
                  <a:tcPr marL="7815" marR="7815" marT="781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r>
                        <a:rPr lang="en-US" sz="1400" b="0" i="0" u="none" strike="noStrike">
                          <a:solidFill>
                            <a:srgbClr val="000000"/>
                          </a:solidFill>
                          <a:effectLst/>
                          <a:latin typeface="Calibri"/>
                        </a:rPr>
                        <a:t>4</a:t>
                      </a:r>
                    </a:p>
                  </a:txBody>
                  <a:tcPr marL="7815" marR="7815" marT="781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page 1</a:t>
                      </a:r>
                    </a:p>
                  </a:txBody>
                  <a:tcPr marL="7815" marR="7815" marT="781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7"/>
                  </a:ext>
                </a:extLst>
              </a:tr>
              <a:tr h="375138">
                <a:tc>
                  <a:txBody>
                    <a:bodyPr/>
                    <a:lstStyle/>
                    <a:p>
                      <a:pPr algn="l" fontAlgn="b"/>
                      <a:endParaRPr lang="en-US" sz="1400" b="0" i="0" u="none" strike="noStrike">
                        <a:solidFill>
                          <a:srgbClr val="000000"/>
                        </a:solidFill>
                        <a:effectLst/>
                        <a:latin typeface="Calibri"/>
                      </a:endParaRPr>
                    </a:p>
                  </a:txBody>
                  <a:tcPr marL="7815" marR="7815" marT="7815"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 </a:t>
                      </a:r>
                    </a:p>
                  </a:txBody>
                  <a:tcPr marL="7815" marR="7815" marT="781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endParaRPr lang="en-US" sz="1400" b="0" i="0" u="none" strike="noStrike" dirty="0">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r>
                        <a:rPr lang="en-US" sz="1400" b="0" i="0" u="none" strike="noStrike">
                          <a:solidFill>
                            <a:srgbClr val="000000"/>
                          </a:solidFill>
                          <a:effectLst/>
                          <a:latin typeface="Calibri"/>
                        </a:rPr>
                        <a:t>5</a:t>
                      </a:r>
                    </a:p>
                  </a:txBody>
                  <a:tcPr marL="7815" marR="7815" marT="781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 </a:t>
                      </a:r>
                    </a:p>
                  </a:txBody>
                  <a:tcPr marL="7815" marR="7815" marT="781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8"/>
                  </a:ext>
                </a:extLst>
              </a:tr>
              <a:tr h="375138">
                <a:tc>
                  <a:txBody>
                    <a:bodyPr/>
                    <a:lstStyle/>
                    <a:p>
                      <a:pPr algn="l" fontAlgn="b"/>
                      <a:endParaRPr lang="en-US" sz="1400" b="0" i="0" u="none" strike="noStrike">
                        <a:solidFill>
                          <a:srgbClr val="000000"/>
                        </a:solidFill>
                        <a:effectLst/>
                        <a:latin typeface="Calibri"/>
                      </a:endParaRPr>
                    </a:p>
                  </a:txBody>
                  <a:tcPr marL="7815" marR="7815" marT="7815"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 </a:t>
                      </a:r>
                    </a:p>
                  </a:txBody>
                  <a:tcPr marL="7815" marR="7815" marT="781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r>
                        <a:rPr lang="en-US" sz="1400" b="0" i="0" u="none" strike="noStrike">
                          <a:solidFill>
                            <a:srgbClr val="000000"/>
                          </a:solidFill>
                          <a:effectLst/>
                          <a:latin typeface="Calibri"/>
                        </a:rPr>
                        <a:t>6</a:t>
                      </a:r>
                    </a:p>
                  </a:txBody>
                  <a:tcPr marL="7815" marR="7815" marT="781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page 3</a:t>
                      </a:r>
                    </a:p>
                  </a:txBody>
                  <a:tcPr marL="7815" marR="7815" marT="781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9"/>
                  </a:ext>
                </a:extLst>
              </a:tr>
              <a:tr h="375138">
                <a:tc>
                  <a:txBody>
                    <a:bodyPr/>
                    <a:lstStyle/>
                    <a:p>
                      <a:pPr algn="l" fontAlgn="b"/>
                      <a:endParaRPr lang="en-US" sz="1400" b="0" i="0" u="none" strike="noStrike">
                        <a:solidFill>
                          <a:srgbClr val="000000"/>
                        </a:solidFill>
                        <a:effectLst/>
                        <a:latin typeface="Calibri"/>
                      </a:endParaRPr>
                    </a:p>
                  </a:txBody>
                  <a:tcPr marL="7815" marR="7815" marT="7815"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 </a:t>
                      </a:r>
                    </a:p>
                  </a:txBody>
                  <a:tcPr marL="7815" marR="7815" marT="781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w="19050" cap="flat" cmpd="sng" algn="ctr">
                      <a:solidFill>
                        <a:srgbClr val="000000"/>
                      </a:solidFill>
                      <a:prstDash val="solid"/>
                      <a:round/>
                      <a:headEnd type="none" w="med" len="med"/>
                      <a:tailEnd type="none" w="med" len="med"/>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extLst>
                  <a:ext uri="{0D108BD9-81ED-4DB2-BD59-A6C34878D82A}">
                    <a16:rowId xmlns:a16="http://schemas.microsoft.com/office/drawing/2014/main" val="10010"/>
                  </a:ext>
                </a:extLst>
              </a:tr>
              <a:tr h="375138">
                <a:tc>
                  <a:txBody>
                    <a:bodyPr/>
                    <a:lstStyle/>
                    <a:p>
                      <a:pPr algn="l" fontAlgn="b"/>
                      <a:endParaRPr lang="en-US" sz="1400" b="0" i="0" u="none" strike="noStrike">
                        <a:solidFill>
                          <a:srgbClr val="000000"/>
                        </a:solidFill>
                        <a:effectLst/>
                        <a:latin typeface="Calibri"/>
                      </a:endParaRPr>
                    </a:p>
                  </a:txBody>
                  <a:tcPr marL="7815" marR="7815" marT="7815"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400" b="0" i="0" u="none" strike="noStrike">
                          <a:solidFill>
                            <a:srgbClr val="000000"/>
                          </a:solidFill>
                          <a:effectLst/>
                          <a:latin typeface="Calibri"/>
                        </a:rPr>
                        <a:t> </a:t>
                      </a:r>
                    </a:p>
                  </a:txBody>
                  <a:tcPr marL="7815" marR="7815" marT="781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dirty="0">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tc>
                  <a:txBody>
                    <a:bodyPr/>
                    <a:lstStyle/>
                    <a:p>
                      <a:pPr algn="ctr" fontAlgn="ctr"/>
                      <a:endParaRPr lang="en-US" sz="1400" b="0" i="0" u="none" strike="noStrike">
                        <a:solidFill>
                          <a:srgbClr val="000000"/>
                        </a:solidFill>
                        <a:effectLst/>
                        <a:latin typeface="Calibri"/>
                      </a:endParaRPr>
                    </a:p>
                  </a:txBody>
                  <a:tcPr marL="7815" marR="7815" marT="7815" marB="0" anchor="ctr">
                    <a:lnL>
                      <a:noFill/>
                    </a:lnL>
                    <a:lnR>
                      <a:noFill/>
                    </a:lnR>
                    <a:lnT>
                      <a:noFill/>
                    </a:lnT>
                    <a:lnB>
                      <a:noFill/>
                    </a:lnB>
                  </a:tcPr>
                </a:tc>
                <a:extLst>
                  <a:ext uri="{0D108BD9-81ED-4DB2-BD59-A6C34878D82A}">
                    <a16:rowId xmlns:a16="http://schemas.microsoft.com/office/drawing/2014/main" val="10011"/>
                  </a:ext>
                </a:extLst>
              </a:tr>
              <a:tr h="375138">
                <a:tc>
                  <a:txBody>
                    <a:bodyPr/>
                    <a:lstStyle/>
                    <a:p>
                      <a:pPr algn="l" fontAlgn="b"/>
                      <a:endParaRPr lang="en-US" sz="1400" b="0" i="0" u="none" strike="noStrike">
                        <a:solidFill>
                          <a:srgbClr val="000000"/>
                        </a:solidFill>
                        <a:effectLst/>
                        <a:latin typeface="Calibri"/>
                      </a:endParaRPr>
                    </a:p>
                  </a:txBody>
                  <a:tcPr marL="7815" marR="7815" marT="7815" marB="0" anchor="b">
                    <a:lnL>
                      <a:noFill/>
                    </a:lnL>
                    <a:lnR>
                      <a:noFill/>
                    </a:lnR>
                    <a:lnT>
                      <a:noFill/>
                    </a:lnT>
                    <a:lnB>
                      <a:noFill/>
                    </a:lnB>
                  </a:tcPr>
                </a:tc>
                <a:tc>
                  <a:txBody>
                    <a:bodyPr/>
                    <a:lstStyle/>
                    <a:p>
                      <a:pPr algn="l" fontAlgn="b"/>
                      <a:endParaRPr lang="en-US" sz="1400" b="0" i="0" u="none" strike="noStrike" dirty="0">
                        <a:solidFill>
                          <a:srgbClr val="000000"/>
                        </a:solidFill>
                        <a:effectLst/>
                        <a:latin typeface="Calibri"/>
                      </a:endParaRPr>
                    </a:p>
                  </a:txBody>
                  <a:tcPr marL="7815" marR="7815" marT="7815" marB="0" anchor="b">
                    <a:lnL>
                      <a:noFill/>
                    </a:lnL>
                    <a:lnR>
                      <a:noFill/>
                    </a:lnR>
                    <a:lnT>
                      <a:noFill/>
                    </a:lnT>
                    <a:lnB>
                      <a:noFill/>
                    </a:lnB>
                  </a:tcPr>
                </a:tc>
                <a:tc>
                  <a:txBody>
                    <a:bodyPr/>
                    <a:lstStyle/>
                    <a:p>
                      <a:pPr algn="l" fontAlgn="b"/>
                      <a:endParaRPr lang="en-US" sz="1400" b="0" i="0" u="none" strike="noStrike">
                        <a:solidFill>
                          <a:srgbClr val="000000"/>
                        </a:solidFill>
                        <a:effectLst/>
                        <a:latin typeface="Calibri"/>
                      </a:endParaRPr>
                    </a:p>
                  </a:txBody>
                  <a:tcPr marL="7815" marR="7815" marT="7815" marB="0" anchor="b">
                    <a:lnL>
                      <a:noFill/>
                    </a:lnL>
                    <a:lnR>
                      <a:noFill/>
                    </a:lnR>
                    <a:lnT>
                      <a:noFill/>
                    </a:lnT>
                    <a:lnB>
                      <a:noFill/>
                    </a:lnB>
                  </a:tcPr>
                </a:tc>
                <a:tc>
                  <a:txBody>
                    <a:bodyPr/>
                    <a:lstStyle/>
                    <a:p>
                      <a:pPr algn="l" fontAlgn="b"/>
                      <a:endParaRPr lang="en-US" sz="1400" b="0" i="0" u="none" strike="noStrike">
                        <a:solidFill>
                          <a:srgbClr val="000000"/>
                        </a:solidFill>
                        <a:effectLst/>
                        <a:latin typeface="Calibri"/>
                      </a:endParaRPr>
                    </a:p>
                  </a:txBody>
                  <a:tcPr marL="7815" marR="7815" marT="7815" marB="0" anchor="b">
                    <a:lnL>
                      <a:noFill/>
                    </a:lnL>
                    <a:lnR>
                      <a:noFill/>
                    </a:lnR>
                    <a:lnT>
                      <a:noFill/>
                    </a:lnT>
                    <a:lnB>
                      <a:noFill/>
                    </a:lnB>
                  </a:tcPr>
                </a:tc>
                <a:tc>
                  <a:txBody>
                    <a:bodyPr/>
                    <a:lstStyle/>
                    <a:p>
                      <a:pPr algn="l" fontAlgn="b"/>
                      <a:endParaRPr lang="en-US" sz="1400" b="0" i="0" u="none" strike="noStrike">
                        <a:solidFill>
                          <a:srgbClr val="000000"/>
                        </a:solidFill>
                        <a:effectLst/>
                        <a:latin typeface="Calibri"/>
                      </a:endParaRPr>
                    </a:p>
                  </a:txBody>
                  <a:tcPr marL="7815" marR="7815" marT="7815" marB="0" anchor="b">
                    <a:lnL>
                      <a:noFill/>
                    </a:lnL>
                    <a:lnR>
                      <a:noFill/>
                    </a:lnR>
                    <a:lnT>
                      <a:noFill/>
                    </a:lnT>
                    <a:lnB>
                      <a:noFill/>
                    </a:lnB>
                  </a:tcPr>
                </a:tc>
                <a:tc>
                  <a:txBody>
                    <a:bodyPr/>
                    <a:lstStyle/>
                    <a:p>
                      <a:pPr algn="l" fontAlgn="b"/>
                      <a:endParaRPr lang="en-US" sz="1400" b="0" i="0" u="none" strike="noStrike">
                        <a:solidFill>
                          <a:srgbClr val="000000"/>
                        </a:solidFill>
                        <a:effectLst/>
                        <a:latin typeface="Calibri"/>
                      </a:endParaRPr>
                    </a:p>
                  </a:txBody>
                  <a:tcPr marL="7815" marR="7815" marT="7815" marB="0" anchor="b">
                    <a:lnL>
                      <a:noFill/>
                    </a:lnL>
                    <a:lnR>
                      <a:noFill/>
                    </a:lnR>
                    <a:lnT>
                      <a:noFill/>
                    </a:lnT>
                    <a:lnB>
                      <a:noFill/>
                    </a:lnB>
                  </a:tcPr>
                </a:tc>
                <a:tc>
                  <a:txBody>
                    <a:bodyPr/>
                    <a:lstStyle/>
                    <a:p>
                      <a:pPr algn="l" fontAlgn="b"/>
                      <a:endParaRPr lang="en-US" sz="1400" b="0" i="0" u="none" strike="noStrike" dirty="0">
                        <a:solidFill>
                          <a:srgbClr val="000000"/>
                        </a:solidFill>
                        <a:effectLst/>
                        <a:latin typeface="Calibri"/>
                      </a:endParaRPr>
                    </a:p>
                  </a:txBody>
                  <a:tcPr marL="7815" marR="7815" marT="7815" marB="0" anchor="b">
                    <a:lnL>
                      <a:noFill/>
                    </a:lnL>
                    <a:lnR>
                      <a:noFill/>
                    </a:lnR>
                    <a:lnT>
                      <a:noFill/>
                    </a:lnT>
                    <a:lnB>
                      <a:noFill/>
                    </a:lnB>
                  </a:tcPr>
                </a:tc>
                <a:tc>
                  <a:txBody>
                    <a:bodyPr/>
                    <a:lstStyle/>
                    <a:p>
                      <a:pPr algn="l" fontAlgn="b"/>
                      <a:endParaRPr lang="en-US" sz="1400" b="0" i="0" u="none" strike="noStrike">
                        <a:solidFill>
                          <a:srgbClr val="000000"/>
                        </a:solidFill>
                        <a:effectLst/>
                        <a:latin typeface="Calibri"/>
                      </a:endParaRPr>
                    </a:p>
                  </a:txBody>
                  <a:tcPr marL="7815" marR="7815" marT="7815" marB="0" anchor="b">
                    <a:lnL>
                      <a:noFill/>
                    </a:lnL>
                    <a:lnR>
                      <a:noFill/>
                    </a:lnR>
                    <a:lnT>
                      <a:noFill/>
                    </a:lnT>
                    <a:lnB>
                      <a:noFill/>
                    </a:lnB>
                  </a:tcPr>
                </a:tc>
                <a:tc>
                  <a:txBody>
                    <a:bodyPr/>
                    <a:lstStyle/>
                    <a:p>
                      <a:pPr algn="l" fontAlgn="b"/>
                      <a:endParaRPr lang="en-US" sz="1400" b="0" i="0" u="none" strike="noStrike" dirty="0">
                        <a:solidFill>
                          <a:srgbClr val="000000"/>
                        </a:solidFill>
                        <a:effectLst/>
                        <a:latin typeface="Calibri"/>
                      </a:endParaRPr>
                    </a:p>
                  </a:txBody>
                  <a:tcPr marL="7815" marR="7815" marT="7815" marB="0" anchor="b">
                    <a:lnL>
                      <a:noFill/>
                    </a:lnL>
                    <a:lnR>
                      <a:noFill/>
                    </a:lnR>
                    <a:lnT>
                      <a:noFill/>
                    </a:lnT>
                    <a:lnB>
                      <a:noFill/>
                    </a:lnB>
                  </a:tcPr>
                </a:tc>
                <a:extLst>
                  <a:ext uri="{0D108BD9-81ED-4DB2-BD59-A6C34878D82A}">
                    <a16:rowId xmlns:a16="http://schemas.microsoft.com/office/drawing/2014/main" val="10012"/>
                  </a:ext>
                </a:extLst>
              </a:tr>
            </a:tbl>
          </a:graphicData>
        </a:graphic>
      </p:graphicFrame>
      <p:sp>
        <p:nvSpPr>
          <p:cNvPr id="9" name="TextBox 8"/>
          <p:cNvSpPr txBox="1"/>
          <p:nvPr/>
        </p:nvSpPr>
        <p:spPr>
          <a:xfrm>
            <a:off x="115259" y="2654937"/>
            <a:ext cx="2077875" cy="646331"/>
          </a:xfrm>
          <a:prstGeom prst="rect">
            <a:avLst/>
          </a:prstGeom>
          <a:noFill/>
        </p:spPr>
        <p:txBody>
          <a:bodyPr wrap="none" rtlCol="0">
            <a:spAutoFit/>
          </a:bodyPr>
          <a:lstStyle/>
          <a:p>
            <a:r>
              <a:rPr lang="en-US" dirty="0"/>
              <a:t>Process P1 provided</a:t>
            </a:r>
          </a:p>
          <a:p>
            <a:r>
              <a:rPr lang="en-US" dirty="0"/>
              <a:t>4 pages of memory</a:t>
            </a:r>
          </a:p>
        </p:txBody>
      </p:sp>
      <p:sp>
        <p:nvSpPr>
          <p:cNvPr id="10" name="TextBox 9"/>
          <p:cNvSpPr txBox="1"/>
          <p:nvPr/>
        </p:nvSpPr>
        <p:spPr>
          <a:xfrm>
            <a:off x="3829178" y="1761350"/>
            <a:ext cx="1688353" cy="369332"/>
          </a:xfrm>
          <a:prstGeom prst="rect">
            <a:avLst/>
          </a:prstGeom>
          <a:noFill/>
        </p:spPr>
        <p:txBody>
          <a:bodyPr wrap="square" rtlCol="0">
            <a:spAutoFit/>
          </a:bodyPr>
          <a:lstStyle/>
          <a:p>
            <a:pPr algn="ctr"/>
            <a:r>
              <a:rPr lang="en-US" dirty="0"/>
              <a:t>Page Table</a:t>
            </a:r>
          </a:p>
        </p:txBody>
      </p:sp>
    </p:spTree>
    <p:extLst>
      <p:ext uri="{BB962C8B-B14F-4D97-AF65-F5344CB8AC3E}">
        <p14:creationId xmlns:p14="http://schemas.microsoft.com/office/powerpoint/2010/main" val="41855799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Management Unit</a:t>
            </a:r>
          </a:p>
        </p:txBody>
      </p:sp>
      <p:sp>
        <p:nvSpPr>
          <p:cNvPr id="3" name="Slide Number Placeholder 2"/>
          <p:cNvSpPr>
            <a:spLocks noGrp="1"/>
          </p:cNvSpPr>
          <p:nvPr>
            <p:ph type="sldNum" sz="quarter" idx="12"/>
          </p:nvPr>
        </p:nvSpPr>
        <p:spPr/>
        <p:txBody>
          <a:bodyPr/>
          <a:lstStyle/>
          <a:p>
            <a:fld id="{F1E687AB-0FD7-C047-930B-FD009416571E}" type="slidenum">
              <a:rPr lang="en-US" smtClean="0"/>
              <a:t>35</a:t>
            </a:fld>
            <a:endParaRPr lang="en-US" dirty="0"/>
          </a:p>
        </p:txBody>
      </p:sp>
      <p:sp>
        <p:nvSpPr>
          <p:cNvPr id="4" name="Slide Number Placeholder 2"/>
          <p:cNvSpPr txBox="1">
            <a:spLocks/>
          </p:cNvSpPr>
          <p:nvPr/>
        </p:nvSpPr>
        <p:spPr>
          <a:xfrm>
            <a:off x="8411882" y="3347"/>
            <a:ext cx="732118" cy="329184"/>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1E687AB-0FD7-C047-930B-FD009416571E}" type="slidenum">
              <a:rPr lang="en-US" smtClean="0"/>
              <a:pPr/>
              <a:t>35</a:t>
            </a:fld>
            <a:endParaRPr lang="en-US" dirty="0"/>
          </a:p>
        </p:txBody>
      </p:sp>
      <p:sp>
        <p:nvSpPr>
          <p:cNvPr id="5" name="TextBox 4"/>
          <p:cNvSpPr txBox="1"/>
          <p:nvPr/>
        </p:nvSpPr>
        <p:spPr>
          <a:xfrm>
            <a:off x="2297723" y="5907811"/>
            <a:ext cx="2009572" cy="923330"/>
          </a:xfrm>
          <a:prstGeom prst="rect">
            <a:avLst/>
          </a:prstGeom>
          <a:noFill/>
        </p:spPr>
        <p:txBody>
          <a:bodyPr wrap="none" rtlCol="0">
            <a:spAutoFit/>
          </a:bodyPr>
          <a:lstStyle/>
          <a:p>
            <a:pPr algn="ctr"/>
            <a:r>
              <a:rPr lang="en-US" dirty="0"/>
              <a:t>Logical Memory</a:t>
            </a:r>
          </a:p>
          <a:p>
            <a:pPr algn="ctr"/>
            <a:r>
              <a:rPr lang="en-US" dirty="0"/>
              <a:t>Unlimited in theory</a:t>
            </a:r>
          </a:p>
          <a:p>
            <a:endParaRPr lang="en-US" dirty="0"/>
          </a:p>
        </p:txBody>
      </p:sp>
      <p:sp>
        <p:nvSpPr>
          <p:cNvPr id="6" name="TextBox 5"/>
          <p:cNvSpPr txBox="1"/>
          <p:nvPr/>
        </p:nvSpPr>
        <p:spPr>
          <a:xfrm>
            <a:off x="5712849" y="5625405"/>
            <a:ext cx="1852115" cy="923330"/>
          </a:xfrm>
          <a:prstGeom prst="rect">
            <a:avLst/>
          </a:prstGeom>
          <a:noFill/>
        </p:spPr>
        <p:txBody>
          <a:bodyPr wrap="none" rtlCol="0">
            <a:spAutoFit/>
          </a:bodyPr>
          <a:lstStyle/>
          <a:p>
            <a:pPr algn="ctr"/>
            <a:r>
              <a:rPr lang="en-US" dirty="0"/>
              <a:t>Physical Memory</a:t>
            </a:r>
          </a:p>
          <a:p>
            <a:pPr algn="ctr"/>
            <a:r>
              <a:rPr lang="en-US" dirty="0"/>
              <a:t>Fixed</a:t>
            </a:r>
          </a:p>
          <a:p>
            <a:endParaRPr lang="en-US" dirty="0"/>
          </a:p>
        </p:txBody>
      </p:sp>
      <p:sp>
        <p:nvSpPr>
          <p:cNvPr id="8" name="TextBox 7"/>
          <p:cNvSpPr txBox="1"/>
          <p:nvPr/>
        </p:nvSpPr>
        <p:spPr>
          <a:xfrm>
            <a:off x="4024496" y="1565603"/>
            <a:ext cx="1688353" cy="369332"/>
          </a:xfrm>
          <a:prstGeom prst="rect">
            <a:avLst/>
          </a:prstGeom>
          <a:noFill/>
        </p:spPr>
        <p:txBody>
          <a:bodyPr wrap="square" rtlCol="0">
            <a:spAutoFit/>
          </a:bodyPr>
          <a:lstStyle/>
          <a:p>
            <a:pPr algn="ctr"/>
            <a:r>
              <a:rPr lang="en-US" dirty="0"/>
              <a:t>Page Table</a:t>
            </a:r>
          </a:p>
        </p:txBody>
      </p:sp>
      <p:graphicFrame>
        <p:nvGraphicFramePr>
          <p:cNvPr id="9" name="Table 8"/>
          <p:cNvGraphicFramePr>
            <a:graphicFrameLocks noGrp="1"/>
          </p:cNvGraphicFramePr>
          <p:nvPr/>
        </p:nvGraphicFramePr>
        <p:xfrm>
          <a:off x="2087033" y="862868"/>
          <a:ext cx="5477931" cy="4876800"/>
        </p:xfrm>
        <a:graphic>
          <a:graphicData uri="http://schemas.openxmlformats.org/drawingml/2006/table">
            <a:tbl>
              <a:tblPr/>
              <a:tblGrid>
                <a:gridCol w="550333">
                  <a:extLst>
                    <a:ext uri="{9D8B030D-6E8A-4147-A177-3AD203B41FA5}">
                      <a16:colId xmlns:a16="http://schemas.microsoft.com/office/drawing/2014/main" val="20000"/>
                    </a:ext>
                  </a:extLst>
                </a:gridCol>
                <a:gridCol w="728133">
                  <a:extLst>
                    <a:ext uri="{9D8B030D-6E8A-4147-A177-3AD203B41FA5}">
                      <a16:colId xmlns:a16="http://schemas.microsoft.com/office/drawing/2014/main" val="20001"/>
                    </a:ext>
                  </a:extLst>
                </a:gridCol>
                <a:gridCol w="728133">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728133">
                  <a:extLst>
                    <a:ext uri="{9D8B030D-6E8A-4147-A177-3AD203B41FA5}">
                      <a16:colId xmlns:a16="http://schemas.microsoft.com/office/drawing/2014/main" val="20005"/>
                    </a:ext>
                  </a:extLst>
                </a:gridCol>
                <a:gridCol w="728133">
                  <a:extLst>
                    <a:ext uri="{9D8B030D-6E8A-4147-A177-3AD203B41FA5}">
                      <a16:colId xmlns:a16="http://schemas.microsoft.com/office/drawing/2014/main" val="20006"/>
                    </a:ext>
                  </a:extLst>
                </a:gridCol>
                <a:gridCol w="550333">
                  <a:extLst>
                    <a:ext uri="{9D8B030D-6E8A-4147-A177-3AD203B41FA5}">
                      <a16:colId xmlns:a16="http://schemas.microsoft.com/office/drawing/2014/main" val="20007"/>
                    </a:ext>
                  </a:extLst>
                </a:gridCol>
                <a:gridCol w="550333">
                  <a:extLst>
                    <a:ext uri="{9D8B030D-6E8A-4147-A177-3AD203B41FA5}">
                      <a16:colId xmlns:a16="http://schemas.microsoft.com/office/drawing/2014/main" val="20008"/>
                    </a:ext>
                  </a:extLst>
                </a:gridCol>
              </a:tblGrid>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a:noFill/>
                    </a:lnR>
                    <a:lnT>
                      <a:noFill/>
                    </a:lnT>
                    <a:lnB>
                      <a:noFill/>
                    </a:lnB>
                  </a:tcPr>
                </a:tc>
                <a:tc>
                  <a:txBody>
                    <a:bodyPr/>
                    <a:lstStyle/>
                    <a:p>
                      <a:pPr algn="l" fontAlgn="b"/>
                      <a:endParaRPr lang="en-US" sz="1500" b="0" i="0" u="none" strike="noStrike">
                        <a:solidFill>
                          <a:srgbClr val="000000"/>
                        </a:solidFill>
                        <a:effectLst/>
                        <a:latin typeface="Calibri"/>
                      </a:endParaRPr>
                    </a:p>
                  </a:txBody>
                  <a:tcPr marL="8467" marR="8467" marT="8467" marB="0" anchor="b">
                    <a:lnL>
                      <a:noFill/>
                    </a:lnL>
                    <a:lnR>
                      <a:noFill/>
                    </a:lnR>
                    <a:lnT>
                      <a:noFill/>
                    </a:lnT>
                    <a:lnB>
                      <a:noFill/>
                    </a:lnB>
                  </a:tcPr>
                </a:tc>
                <a:tc>
                  <a:txBody>
                    <a:bodyPr/>
                    <a:lstStyle/>
                    <a:p>
                      <a:pPr algn="l" fontAlgn="b"/>
                      <a:endParaRPr lang="en-US" sz="1500" b="0" i="0" u="none" strike="noStrike">
                        <a:solidFill>
                          <a:srgbClr val="000000"/>
                        </a:solidFill>
                        <a:effectLst/>
                        <a:latin typeface="Calibri"/>
                      </a:endParaRPr>
                    </a:p>
                  </a:txBody>
                  <a:tcPr marL="8467" marR="8467" marT="8467" marB="0" anchor="b">
                    <a:lnL>
                      <a:noFill/>
                    </a:lnL>
                    <a:lnR>
                      <a:noFill/>
                    </a:lnR>
                    <a:lnT>
                      <a:noFill/>
                    </a:lnT>
                    <a:lnB>
                      <a:noFill/>
                    </a:lnB>
                  </a:tcPr>
                </a:tc>
                <a:tc>
                  <a:txBody>
                    <a:bodyPr/>
                    <a:lstStyle/>
                    <a:p>
                      <a:pPr algn="l" fontAlgn="b"/>
                      <a:endParaRPr lang="en-US" sz="1500" b="0" i="0" u="none" strike="noStrike">
                        <a:solidFill>
                          <a:srgbClr val="000000"/>
                        </a:solidFill>
                        <a:effectLst/>
                        <a:latin typeface="Calibri"/>
                      </a:endParaRPr>
                    </a:p>
                  </a:txBody>
                  <a:tcPr marL="8467" marR="8467" marT="8467" marB="0" anchor="b">
                    <a:lnL>
                      <a:noFill/>
                    </a:lnL>
                    <a:lnR>
                      <a:noFill/>
                    </a:lnR>
                    <a:lnT>
                      <a:noFill/>
                    </a:lnT>
                    <a:lnB>
                      <a:noFill/>
                    </a:lnB>
                  </a:tcPr>
                </a:tc>
                <a:tc>
                  <a:txBody>
                    <a:bodyPr/>
                    <a:lstStyle/>
                    <a:p>
                      <a:pPr algn="l" fontAlgn="b"/>
                      <a:endParaRPr lang="en-US" sz="1500" b="0" i="0" u="none" strike="noStrike">
                        <a:solidFill>
                          <a:srgbClr val="000000"/>
                        </a:solidFill>
                        <a:effectLst/>
                        <a:latin typeface="Calibri"/>
                      </a:endParaRPr>
                    </a:p>
                  </a:txBody>
                  <a:tcPr marL="8467" marR="8467" marT="8467" marB="0" anchor="b">
                    <a:lnL>
                      <a:noFill/>
                    </a:lnL>
                    <a:lnR>
                      <a:noFill/>
                    </a:lnR>
                    <a:lnT>
                      <a:noFill/>
                    </a:lnT>
                    <a:lnB>
                      <a:noFill/>
                    </a:lnB>
                  </a:tcPr>
                </a:tc>
                <a:tc>
                  <a:txBody>
                    <a:bodyPr/>
                    <a:lstStyle/>
                    <a:p>
                      <a:pPr algn="l" fontAlgn="b"/>
                      <a:endParaRPr lang="en-US" sz="1500" b="0" i="0" u="none" strike="noStrike" dirty="0">
                        <a:solidFill>
                          <a:srgbClr val="000000"/>
                        </a:solidFill>
                        <a:effectLst/>
                        <a:latin typeface="Calibri"/>
                      </a:endParaRPr>
                    </a:p>
                  </a:txBody>
                  <a:tcPr marL="8467" marR="8467" marT="8467" marB="0" anchor="b">
                    <a:lnL>
                      <a:noFill/>
                    </a:lnL>
                    <a:lnR>
                      <a:noFill/>
                    </a:lnR>
                    <a:lnT>
                      <a:noFill/>
                    </a:lnT>
                    <a:lnB>
                      <a:noFill/>
                    </a:lnB>
                  </a:tcPr>
                </a:tc>
                <a:tc>
                  <a:txBody>
                    <a:bodyPr/>
                    <a:lstStyle/>
                    <a:p>
                      <a:pPr algn="l" fontAlgn="b"/>
                      <a:endParaRPr lang="en-US" sz="1500" b="0" i="0" u="none" strike="noStrike">
                        <a:solidFill>
                          <a:srgbClr val="000000"/>
                        </a:solidFill>
                        <a:effectLst/>
                        <a:latin typeface="Calibri"/>
                      </a:endParaRPr>
                    </a:p>
                  </a:txBody>
                  <a:tcPr marL="8467" marR="8467" marT="8467" marB="0" anchor="b">
                    <a:lnL>
                      <a:noFill/>
                    </a:lnL>
                    <a:lnR>
                      <a:noFill/>
                    </a:lnR>
                    <a:lnT>
                      <a:noFill/>
                    </a:lnT>
                    <a:lnB>
                      <a:noFill/>
                    </a:lnB>
                  </a:tcPr>
                </a:tc>
                <a:tc>
                  <a:txBody>
                    <a:bodyPr/>
                    <a:lstStyle/>
                    <a:p>
                      <a:pPr algn="l" fontAlgn="b"/>
                      <a:endParaRPr lang="en-US" sz="1500" b="0" i="0" u="none" strike="noStrike">
                        <a:solidFill>
                          <a:srgbClr val="000000"/>
                        </a:solidFill>
                        <a:effectLst/>
                        <a:latin typeface="Calibri"/>
                      </a:endParaRPr>
                    </a:p>
                  </a:txBody>
                  <a:tcPr marL="8467" marR="8467" marT="8467" marB="0" anchor="b">
                    <a:lnL>
                      <a:noFill/>
                    </a:lnL>
                    <a:lnR>
                      <a:noFill/>
                    </a:lnR>
                    <a:lnT>
                      <a:noFill/>
                    </a:lnT>
                    <a:lnB>
                      <a:noFill/>
                    </a:lnB>
                  </a:tcPr>
                </a:tc>
                <a:tc>
                  <a:txBody>
                    <a:bodyPr/>
                    <a:lstStyle/>
                    <a:p>
                      <a:pPr algn="l" fontAlgn="b"/>
                      <a:endParaRPr lang="en-US" sz="1500" b="0" i="0" u="none" strike="noStrike">
                        <a:solidFill>
                          <a:srgbClr val="000000"/>
                        </a:solidFill>
                        <a:effectLst/>
                        <a:latin typeface="Calibri"/>
                      </a:endParaRPr>
                    </a:p>
                  </a:txBody>
                  <a:tcPr marL="8467" marR="8467" marT="8467" marB="0" anchor="b">
                    <a:lnL>
                      <a:noFill/>
                    </a:lnL>
                    <a:lnR>
                      <a:noFill/>
                    </a:lnR>
                    <a:lnT>
                      <a:noFill/>
                    </a:lnT>
                    <a:lnB>
                      <a:noFill/>
                    </a:lnB>
                  </a:tcPr>
                </a:tc>
                <a:extLst>
                  <a:ext uri="{0D108BD9-81ED-4DB2-BD59-A6C34878D82A}">
                    <a16:rowId xmlns:a16="http://schemas.microsoft.com/office/drawing/2014/main" val="10000"/>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 </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extLst>
                  <a:ext uri="{0D108BD9-81ED-4DB2-BD59-A6C34878D82A}">
                    <a16:rowId xmlns:a16="http://schemas.microsoft.com/office/drawing/2014/main" val="10001"/>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0</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dirty="0">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endParaRPr lang="en-US" sz="1500" b="0" i="0" u="none" strike="noStrike" dirty="0">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dirty="0">
                        <a:solidFill>
                          <a:srgbClr val="000000"/>
                        </a:solidFill>
                        <a:effectLst/>
                        <a:latin typeface="Calibri"/>
                      </a:endParaRPr>
                    </a:p>
                  </a:txBody>
                  <a:tcPr marL="8467" marR="8467" marT="8467"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extLst>
                  <a:ext uri="{0D108BD9-81ED-4DB2-BD59-A6C34878D82A}">
                    <a16:rowId xmlns:a16="http://schemas.microsoft.com/office/drawing/2014/main" val="10002"/>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1</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0</a:t>
                      </a:r>
                    </a:p>
                  </a:txBody>
                  <a:tcPr marL="8467" marR="8467" marT="8467"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1</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0</a:t>
                      </a:r>
                    </a:p>
                  </a:txBody>
                  <a:tcPr marL="8467" marR="8467" marT="8467"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4</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3"/>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dirty="0">
                          <a:solidFill>
                            <a:srgbClr val="000000"/>
                          </a:solidFill>
                          <a:effectLst/>
                          <a:latin typeface="Calibri"/>
                        </a:rPr>
                        <a:t>page 2</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1</a:t>
                      </a:r>
                    </a:p>
                  </a:txBody>
                  <a:tcPr marL="8467" marR="8467" marT="8467"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dirty="0">
                          <a:solidFill>
                            <a:srgbClr val="000000"/>
                          </a:solidFill>
                          <a:effectLst/>
                          <a:latin typeface="Calibri"/>
                        </a:rPr>
                        <a:t>4</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1</a:t>
                      </a:r>
                    </a:p>
                  </a:txBody>
                  <a:tcPr marL="8467" marR="8467" marT="8467"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0</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4"/>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dirty="0">
                          <a:solidFill>
                            <a:srgbClr val="000000"/>
                          </a:solidFill>
                          <a:effectLst/>
                          <a:latin typeface="Calibri"/>
                        </a:rPr>
                        <a:t>page 3</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2</a:t>
                      </a:r>
                    </a:p>
                  </a:txBody>
                  <a:tcPr marL="8467" marR="8467" marT="8467"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3</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2</a:t>
                      </a:r>
                    </a:p>
                  </a:txBody>
                  <a:tcPr marL="8467" marR="8467" marT="8467"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5</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5"/>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4</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3</a:t>
                      </a:r>
                    </a:p>
                  </a:txBody>
                  <a:tcPr marL="8467" marR="8467" marT="8467"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7</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3</a:t>
                      </a:r>
                    </a:p>
                  </a:txBody>
                  <a:tcPr marL="8467" marR="8467" marT="8467"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2</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6"/>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5</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4</a:t>
                      </a:r>
                    </a:p>
                  </a:txBody>
                  <a:tcPr marL="8467" marR="8467" marT="8467"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0</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4</a:t>
                      </a:r>
                    </a:p>
                  </a:txBody>
                  <a:tcPr marL="8467" marR="8467" marT="8467"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1</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7"/>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6</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5</a:t>
                      </a:r>
                    </a:p>
                  </a:txBody>
                  <a:tcPr marL="8467" marR="8467" marT="8467"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2</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5</a:t>
                      </a:r>
                    </a:p>
                  </a:txBody>
                  <a:tcPr marL="8467" marR="8467" marT="8467"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6</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8"/>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 </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6</a:t>
                      </a:r>
                    </a:p>
                  </a:txBody>
                  <a:tcPr marL="8467" marR="8467" marT="8467"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5</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6</a:t>
                      </a:r>
                    </a:p>
                  </a:txBody>
                  <a:tcPr marL="8467" marR="8467" marT="8467"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3</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9"/>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 </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l" fontAlgn="b"/>
                      <a:endParaRPr lang="en-US" sz="1300" b="0" i="0" u="none" strike="noStrike">
                        <a:solidFill>
                          <a:srgbClr val="000000"/>
                        </a:solidFill>
                        <a:effectLst/>
                        <a:latin typeface="Calibri"/>
                      </a:endParaRPr>
                    </a:p>
                  </a:txBody>
                  <a:tcPr marL="8467" marR="8467" marT="8467" marB="0" anchor="b">
                    <a:lnL>
                      <a:noFill/>
                    </a:lnL>
                    <a:lnR>
                      <a:noFill/>
                    </a:lnR>
                    <a:lnT w="19050" cap="flat" cmpd="sng" algn="ctr">
                      <a:solidFill>
                        <a:srgbClr val="000000"/>
                      </a:solidFill>
                      <a:prstDash val="solid"/>
                      <a:round/>
                      <a:headEnd type="none" w="med" len="med"/>
                      <a:tailEnd type="none" w="med" len="med"/>
                    </a:lnT>
                    <a:lnB>
                      <a:noFill/>
                    </a:lnB>
                  </a:tcPr>
                </a:tc>
                <a:tc>
                  <a:txBody>
                    <a:bodyPr/>
                    <a:lstStyle/>
                    <a:p>
                      <a:pPr algn="l" fontAlgn="b"/>
                      <a:endParaRPr lang="en-US" sz="1300" b="0" i="0" u="none" strike="noStrike">
                        <a:solidFill>
                          <a:srgbClr val="000000"/>
                        </a:solidFill>
                        <a:effectLst/>
                        <a:latin typeface="Calibri"/>
                      </a:endParaRPr>
                    </a:p>
                  </a:txBody>
                  <a:tcPr marL="8467" marR="8467" marT="8467" marB="0" anchor="b">
                    <a:lnL>
                      <a:noFill/>
                    </a:lnL>
                    <a:lnR>
                      <a:noFill/>
                    </a:lnR>
                    <a:lnT>
                      <a:noFill/>
                    </a:lnT>
                    <a:lnB>
                      <a:noFill/>
                    </a:lnB>
                  </a:tcPr>
                </a:tc>
                <a:extLst>
                  <a:ext uri="{0D108BD9-81ED-4DB2-BD59-A6C34878D82A}">
                    <a16:rowId xmlns:a16="http://schemas.microsoft.com/office/drawing/2014/main" val="10010"/>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 </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dirty="0">
                        <a:solidFill>
                          <a:srgbClr val="000000"/>
                        </a:solidFill>
                        <a:effectLst/>
                        <a:latin typeface="Calibri"/>
                      </a:endParaRPr>
                    </a:p>
                  </a:txBody>
                  <a:tcPr marL="8467" marR="8467" marT="8467" marB="0" anchor="ctr">
                    <a:lnL>
                      <a:noFill/>
                    </a:lnL>
                    <a:lnR>
                      <a:noFill/>
                    </a:lnR>
                    <a:lnT>
                      <a:noFill/>
                    </a:lnT>
                    <a:lnB>
                      <a:noFill/>
                    </a:lnB>
                  </a:tcPr>
                </a:tc>
                <a:extLst>
                  <a:ext uri="{0D108BD9-81ED-4DB2-BD59-A6C34878D82A}">
                    <a16:rowId xmlns:a16="http://schemas.microsoft.com/office/drawing/2014/main" val="10011"/>
                  </a:ext>
                </a:extLst>
              </a:tr>
            </a:tbl>
          </a:graphicData>
        </a:graphic>
      </p:graphicFrame>
      <p:sp>
        <p:nvSpPr>
          <p:cNvPr id="10" name="Can 9"/>
          <p:cNvSpPr/>
          <p:nvPr/>
        </p:nvSpPr>
        <p:spPr>
          <a:xfrm>
            <a:off x="7988299" y="2819266"/>
            <a:ext cx="847165" cy="964004"/>
          </a:xfrm>
          <a:prstGeom prst="can">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en-US" sz="1100" b="1">
                <a:solidFill>
                  <a:schemeClr val="tx1"/>
                </a:solidFill>
                <a:effectLst/>
                <a:ea typeface="Calibri"/>
                <a:cs typeface="Times New Roman"/>
              </a:rPr>
              <a:t> </a:t>
            </a:r>
            <a:endParaRPr lang="en-US" sz="1100">
              <a:solidFill>
                <a:schemeClr val="tx1"/>
              </a:solidFill>
              <a:effectLst/>
              <a:ea typeface="Calibri"/>
              <a:cs typeface="Times New Roman"/>
            </a:endParaRPr>
          </a:p>
        </p:txBody>
      </p:sp>
      <p:sp>
        <p:nvSpPr>
          <p:cNvPr id="11" name="TextBox 10"/>
          <p:cNvSpPr txBox="1"/>
          <p:nvPr/>
        </p:nvSpPr>
        <p:spPr>
          <a:xfrm>
            <a:off x="115259" y="2654937"/>
            <a:ext cx="2198038" cy="2862323"/>
          </a:xfrm>
          <a:prstGeom prst="rect">
            <a:avLst/>
          </a:prstGeom>
          <a:noFill/>
        </p:spPr>
        <p:txBody>
          <a:bodyPr wrap="none" rtlCol="0">
            <a:spAutoFit/>
          </a:bodyPr>
          <a:lstStyle/>
          <a:p>
            <a:r>
              <a:rPr lang="en-US" dirty="0"/>
              <a:t>Process P1 provided</a:t>
            </a:r>
          </a:p>
          <a:p>
            <a:r>
              <a:rPr lang="en-US" dirty="0"/>
              <a:t>4 pages of memory</a:t>
            </a:r>
          </a:p>
          <a:p>
            <a:endParaRPr lang="en-US" dirty="0"/>
          </a:p>
          <a:p>
            <a:r>
              <a:rPr lang="en-US" dirty="0"/>
              <a:t>Process P2 invoked</a:t>
            </a:r>
          </a:p>
          <a:p>
            <a:r>
              <a:rPr lang="en-US" dirty="0"/>
              <a:t>and provided 3 pages </a:t>
            </a:r>
          </a:p>
          <a:p>
            <a:r>
              <a:rPr lang="en-US" dirty="0"/>
              <a:t>of memory.</a:t>
            </a:r>
          </a:p>
          <a:p>
            <a:endParaRPr lang="en-US" dirty="0"/>
          </a:p>
          <a:p>
            <a:r>
              <a:rPr lang="en-US" dirty="0"/>
              <a:t>Note that physical</a:t>
            </a:r>
          </a:p>
          <a:p>
            <a:r>
              <a:rPr lang="en-US" dirty="0"/>
              <a:t>memory is now full</a:t>
            </a:r>
          </a:p>
          <a:p>
            <a:endParaRPr lang="en-US" dirty="0"/>
          </a:p>
        </p:txBody>
      </p:sp>
    </p:spTree>
    <p:extLst>
      <p:ext uri="{BB962C8B-B14F-4D97-AF65-F5344CB8AC3E}">
        <p14:creationId xmlns:p14="http://schemas.microsoft.com/office/powerpoint/2010/main" val="8243953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Management Unit</a:t>
            </a:r>
          </a:p>
        </p:txBody>
      </p:sp>
      <p:sp>
        <p:nvSpPr>
          <p:cNvPr id="3" name="Slide Number Placeholder 2"/>
          <p:cNvSpPr>
            <a:spLocks noGrp="1"/>
          </p:cNvSpPr>
          <p:nvPr>
            <p:ph type="sldNum" sz="quarter" idx="12"/>
          </p:nvPr>
        </p:nvSpPr>
        <p:spPr/>
        <p:txBody>
          <a:bodyPr/>
          <a:lstStyle/>
          <a:p>
            <a:fld id="{F1E687AB-0FD7-C047-930B-FD009416571E}" type="slidenum">
              <a:rPr lang="en-US" smtClean="0"/>
              <a:t>36</a:t>
            </a:fld>
            <a:endParaRPr lang="en-US" dirty="0"/>
          </a:p>
        </p:txBody>
      </p:sp>
      <p:sp>
        <p:nvSpPr>
          <p:cNvPr id="4" name="TextBox 3"/>
          <p:cNvSpPr txBox="1"/>
          <p:nvPr/>
        </p:nvSpPr>
        <p:spPr>
          <a:xfrm>
            <a:off x="115259" y="1564231"/>
            <a:ext cx="2054431" cy="5078314"/>
          </a:xfrm>
          <a:prstGeom prst="rect">
            <a:avLst/>
          </a:prstGeom>
          <a:noFill/>
        </p:spPr>
        <p:txBody>
          <a:bodyPr wrap="none" rtlCol="0">
            <a:spAutoFit/>
          </a:bodyPr>
          <a:lstStyle/>
          <a:p>
            <a:r>
              <a:rPr lang="en-US" dirty="0"/>
              <a:t>Process P1’s page 2 </a:t>
            </a:r>
          </a:p>
          <a:p>
            <a:r>
              <a:rPr lang="en-US" dirty="0"/>
              <a:t>and page 3 inactive,</a:t>
            </a:r>
          </a:p>
          <a:p>
            <a:r>
              <a:rPr lang="en-US" dirty="0"/>
              <a:t>no recent reads or</a:t>
            </a:r>
          </a:p>
          <a:p>
            <a:r>
              <a:rPr lang="en-US" dirty="0"/>
              <a:t>writes.</a:t>
            </a:r>
          </a:p>
          <a:p>
            <a:endParaRPr lang="en-US" dirty="0"/>
          </a:p>
          <a:p>
            <a:r>
              <a:rPr lang="en-US" dirty="0"/>
              <a:t>Process P2 still</a:t>
            </a:r>
          </a:p>
          <a:p>
            <a:r>
              <a:rPr lang="en-US" dirty="0"/>
              <a:t>executing.</a:t>
            </a:r>
          </a:p>
          <a:p>
            <a:endParaRPr lang="en-US" dirty="0"/>
          </a:p>
          <a:p>
            <a:r>
              <a:rPr lang="en-US" dirty="0"/>
              <a:t>Process 3 invoked</a:t>
            </a:r>
          </a:p>
          <a:p>
            <a:r>
              <a:rPr lang="en-US" dirty="0"/>
              <a:t>requiring 2 pages</a:t>
            </a:r>
          </a:p>
          <a:p>
            <a:r>
              <a:rPr lang="en-US" dirty="0"/>
              <a:t>of memory to run.</a:t>
            </a:r>
          </a:p>
          <a:p>
            <a:endParaRPr lang="en-US" dirty="0"/>
          </a:p>
          <a:p>
            <a:r>
              <a:rPr lang="en-US" dirty="0"/>
              <a:t>MMU writes P1’s</a:t>
            </a:r>
          </a:p>
          <a:p>
            <a:r>
              <a:rPr lang="en-US" dirty="0"/>
              <a:t>page 2 and page 3</a:t>
            </a:r>
          </a:p>
          <a:p>
            <a:r>
              <a:rPr lang="en-US" dirty="0"/>
              <a:t>to disk to free up</a:t>
            </a:r>
          </a:p>
          <a:p>
            <a:r>
              <a:rPr lang="en-US" dirty="0"/>
              <a:t>physical memory</a:t>
            </a:r>
          </a:p>
          <a:p>
            <a:r>
              <a:rPr lang="en-US" dirty="0"/>
              <a:t>to load process 3 </a:t>
            </a:r>
          </a:p>
          <a:p>
            <a:endParaRPr lang="en-US" dirty="0"/>
          </a:p>
        </p:txBody>
      </p:sp>
      <p:sp>
        <p:nvSpPr>
          <p:cNvPr id="5" name="Can 4"/>
          <p:cNvSpPr/>
          <p:nvPr/>
        </p:nvSpPr>
        <p:spPr>
          <a:xfrm>
            <a:off x="7921064" y="2786232"/>
            <a:ext cx="939054" cy="1023768"/>
          </a:xfrm>
          <a:prstGeom prst="can">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en-US" sz="1100" b="1">
                <a:solidFill>
                  <a:schemeClr val="tx1"/>
                </a:solidFill>
                <a:effectLst/>
                <a:ea typeface="Calibri"/>
                <a:cs typeface="Times New Roman"/>
              </a:rPr>
              <a:t> </a:t>
            </a:r>
            <a:endParaRPr lang="en-US" sz="1100">
              <a:solidFill>
                <a:schemeClr val="tx1"/>
              </a:solidFill>
              <a:effectLst/>
              <a:ea typeface="Calibri"/>
              <a:cs typeface="Times New Roman"/>
            </a:endParaRPr>
          </a:p>
        </p:txBody>
      </p:sp>
      <p:graphicFrame>
        <p:nvGraphicFramePr>
          <p:cNvPr id="6" name="Table 5"/>
          <p:cNvGraphicFramePr>
            <a:graphicFrameLocks noGrp="1"/>
          </p:cNvGraphicFramePr>
          <p:nvPr/>
        </p:nvGraphicFramePr>
        <p:xfrm>
          <a:off x="1952563" y="1276686"/>
          <a:ext cx="5477931" cy="4876800"/>
        </p:xfrm>
        <a:graphic>
          <a:graphicData uri="http://schemas.openxmlformats.org/drawingml/2006/table">
            <a:tbl>
              <a:tblPr/>
              <a:tblGrid>
                <a:gridCol w="550333">
                  <a:extLst>
                    <a:ext uri="{9D8B030D-6E8A-4147-A177-3AD203B41FA5}">
                      <a16:colId xmlns:a16="http://schemas.microsoft.com/office/drawing/2014/main" val="20000"/>
                    </a:ext>
                  </a:extLst>
                </a:gridCol>
                <a:gridCol w="728133">
                  <a:extLst>
                    <a:ext uri="{9D8B030D-6E8A-4147-A177-3AD203B41FA5}">
                      <a16:colId xmlns:a16="http://schemas.microsoft.com/office/drawing/2014/main" val="20001"/>
                    </a:ext>
                  </a:extLst>
                </a:gridCol>
                <a:gridCol w="728133">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728133">
                  <a:extLst>
                    <a:ext uri="{9D8B030D-6E8A-4147-A177-3AD203B41FA5}">
                      <a16:colId xmlns:a16="http://schemas.microsoft.com/office/drawing/2014/main" val="20005"/>
                    </a:ext>
                  </a:extLst>
                </a:gridCol>
                <a:gridCol w="728133">
                  <a:extLst>
                    <a:ext uri="{9D8B030D-6E8A-4147-A177-3AD203B41FA5}">
                      <a16:colId xmlns:a16="http://schemas.microsoft.com/office/drawing/2014/main" val="20006"/>
                    </a:ext>
                  </a:extLst>
                </a:gridCol>
                <a:gridCol w="550333">
                  <a:extLst>
                    <a:ext uri="{9D8B030D-6E8A-4147-A177-3AD203B41FA5}">
                      <a16:colId xmlns:a16="http://schemas.microsoft.com/office/drawing/2014/main" val="20007"/>
                    </a:ext>
                  </a:extLst>
                </a:gridCol>
                <a:gridCol w="550333">
                  <a:extLst>
                    <a:ext uri="{9D8B030D-6E8A-4147-A177-3AD203B41FA5}">
                      <a16:colId xmlns:a16="http://schemas.microsoft.com/office/drawing/2014/main" val="20008"/>
                    </a:ext>
                  </a:extLst>
                </a:gridCol>
              </a:tblGrid>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a:noFill/>
                    </a:lnR>
                    <a:lnT>
                      <a:noFill/>
                    </a:lnT>
                    <a:lnB>
                      <a:noFill/>
                    </a:lnB>
                  </a:tcPr>
                </a:tc>
                <a:tc>
                  <a:txBody>
                    <a:bodyPr/>
                    <a:lstStyle/>
                    <a:p>
                      <a:pPr algn="l" fontAlgn="b"/>
                      <a:endParaRPr lang="en-US" sz="1500" b="0" i="0" u="none" strike="noStrike">
                        <a:solidFill>
                          <a:srgbClr val="000000"/>
                        </a:solidFill>
                        <a:effectLst/>
                        <a:latin typeface="Calibri"/>
                      </a:endParaRPr>
                    </a:p>
                  </a:txBody>
                  <a:tcPr marL="8467" marR="8467" marT="8467" marB="0" anchor="b">
                    <a:lnL>
                      <a:noFill/>
                    </a:lnL>
                    <a:lnR>
                      <a:noFill/>
                    </a:lnR>
                    <a:lnT>
                      <a:noFill/>
                    </a:lnT>
                    <a:lnB>
                      <a:noFill/>
                    </a:lnB>
                  </a:tcPr>
                </a:tc>
                <a:tc>
                  <a:txBody>
                    <a:bodyPr/>
                    <a:lstStyle/>
                    <a:p>
                      <a:pPr algn="l" fontAlgn="b"/>
                      <a:endParaRPr lang="en-US" sz="1500" b="0" i="0" u="none" strike="noStrike">
                        <a:solidFill>
                          <a:srgbClr val="000000"/>
                        </a:solidFill>
                        <a:effectLst/>
                        <a:latin typeface="Calibri"/>
                      </a:endParaRPr>
                    </a:p>
                  </a:txBody>
                  <a:tcPr marL="8467" marR="8467" marT="8467" marB="0" anchor="b">
                    <a:lnL>
                      <a:noFill/>
                    </a:lnL>
                    <a:lnR>
                      <a:noFill/>
                    </a:lnR>
                    <a:lnT>
                      <a:noFill/>
                    </a:lnT>
                    <a:lnB>
                      <a:noFill/>
                    </a:lnB>
                  </a:tcPr>
                </a:tc>
                <a:tc>
                  <a:txBody>
                    <a:bodyPr/>
                    <a:lstStyle/>
                    <a:p>
                      <a:pPr algn="l" fontAlgn="b"/>
                      <a:endParaRPr lang="en-US" sz="1500" b="0" i="0" u="none" strike="noStrike">
                        <a:solidFill>
                          <a:srgbClr val="000000"/>
                        </a:solidFill>
                        <a:effectLst/>
                        <a:latin typeface="Calibri"/>
                      </a:endParaRPr>
                    </a:p>
                  </a:txBody>
                  <a:tcPr marL="8467" marR="8467" marT="8467" marB="0" anchor="b">
                    <a:lnL>
                      <a:noFill/>
                    </a:lnL>
                    <a:lnR>
                      <a:noFill/>
                    </a:lnR>
                    <a:lnT>
                      <a:noFill/>
                    </a:lnT>
                    <a:lnB>
                      <a:noFill/>
                    </a:lnB>
                  </a:tcPr>
                </a:tc>
                <a:tc>
                  <a:txBody>
                    <a:bodyPr/>
                    <a:lstStyle/>
                    <a:p>
                      <a:pPr algn="l" fontAlgn="b"/>
                      <a:endParaRPr lang="en-US" sz="1500" b="0" i="0" u="none" strike="noStrike">
                        <a:solidFill>
                          <a:srgbClr val="000000"/>
                        </a:solidFill>
                        <a:effectLst/>
                        <a:latin typeface="Calibri"/>
                      </a:endParaRPr>
                    </a:p>
                  </a:txBody>
                  <a:tcPr marL="8467" marR="8467" marT="8467" marB="0" anchor="b">
                    <a:lnL>
                      <a:noFill/>
                    </a:lnL>
                    <a:lnR>
                      <a:noFill/>
                    </a:lnR>
                    <a:lnT>
                      <a:noFill/>
                    </a:lnT>
                    <a:lnB>
                      <a:noFill/>
                    </a:lnB>
                  </a:tcPr>
                </a:tc>
                <a:tc>
                  <a:txBody>
                    <a:bodyPr/>
                    <a:lstStyle/>
                    <a:p>
                      <a:pPr algn="l" fontAlgn="b"/>
                      <a:endParaRPr lang="en-US" sz="1500" b="0" i="0" u="none" strike="noStrike">
                        <a:solidFill>
                          <a:srgbClr val="000000"/>
                        </a:solidFill>
                        <a:effectLst/>
                        <a:latin typeface="Calibri"/>
                      </a:endParaRPr>
                    </a:p>
                  </a:txBody>
                  <a:tcPr marL="8467" marR="8467" marT="8467" marB="0" anchor="b">
                    <a:lnL>
                      <a:noFill/>
                    </a:lnL>
                    <a:lnR>
                      <a:noFill/>
                    </a:lnR>
                    <a:lnT>
                      <a:noFill/>
                    </a:lnT>
                    <a:lnB>
                      <a:noFill/>
                    </a:lnB>
                  </a:tcPr>
                </a:tc>
                <a:tc>
                  <a:txBody>
                    <a:bodyPr/>
                    <a:lstStyle/>
                    <a:p>
                      <a:pPr algn="l" fontAlgn="b"/>
                      <a:endParaRPr lang="en-US" sz="1500" b="0" i="0" u="none" strike="noStrike">
                        <a:solidFill>
                          <a:srgbClr val="000000"/>
                        </a:solidFill>
                        <a:effectLst/>
                        <a:latin typeface="Calibri"/>
                      </a:endParaRPr>
                    </a:p>
                  </a:txBody>
                  <a:tcPr marL="8467" marR="8467" marT="8467" marB="0" anchor="b">
                    <a:lnL>
                      <a:noFill/>
                    </a:lnL>
                    <a:lnR>
                      <a:noFill/>
                    </a:lnR>
                    <a:lnT>
                      <a:noFill/>
                    </a:lnT>
                    <a:lnB>
                      <a:noFill/>
                    </a:lnB>
                  </a:tcPr>
                </a:tc>
                <a:tc>
                  <a:txBody>
                    <a:bodyPr/>
                    <a:lstStyle/>
                    <a:p>
                      <a:pPr algn="l" fontAlgn="b"/>
                      <a:endParaRPr lang="en-US" sz="1500" b="0" i="0" u="none" strike="noStrike">
                        <a:solidFill>
                          <a:srgbClr val="000000"/>
                        </a:solidFill>
                        <a:effectLst/>
                        <a:latin typeface="Calibri"/>
                      </a:endParaRPr>
                    </a:p>
                  </a:txBody>
                  <a:tcPr marL="8467" marR="8467" marT="8467" marB="0" anchor="b">
                    <a:lnL>
                      <a:noFill/>
                    </a:lnL>
                    <a:lnR>
                      <a:noFill/>
                    </a:lnR>
                    <a:lnT>
                      <a:noFill/>
                    </a:lnT>
                    <a:lnB>
                      <a:noFill/>
                    </a:lnB>
                  </a:tcPr>
                </a:tc>
                <a:tc>
                  <a:txBody>
                    <a:bodyPr/>
                    <a:lstStyle/>
                    <a:p>
                      <a:pPr algn="l" fontAlgn="b"/>
                      <a:endParaRPr lang="en-US" sz="1500" b="0" i="0" u="none" strike="noStrike">
                        <a:solidFill>
                          <a:srgbClr val="000000"/>
                        </a:solidFill>
                        <a:effectLst/>
                        <a:latin typeface="Calibri"/>
                      </a:endParaRPr>
                    </a:p>
                  </a:txBody>
                  <a:tcPr marL="8467" marR="8467" marT="8467" marB="0" anchor="b">
                    <a:lnL>
                      <a:noFill/>
                    </a:lnL>
                    <a:lnR>
                      <a:noFill/>
                    </a:lnR>
                    <a:lnT>
                      <a:noFill/>
                    </a:lnT>
                    <a:lnB>
                      <a:noFill/>
                    </a:lnB>
                  </a:tcPr>
                </a:tc>
                <a:extLst>
                  <a:ext uri="{0D108BD9-81ED-4DB2-BD59-A6C34878D82A}">
                    <a16:rowId xmlns:a16="http://schemas.microsoft.com/office/drawing/2014/main" val="10000"/>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 </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dirty="0">
                        <a:solidFill>
                          <a:srgbClr val="000000"/>
                        </a:solidFill>
                        <a:effectLst/>
                        <a:latin typeface="Calibri"/>
                      </a:endParaRPr>
                    </a:p>
                  </a:txBody>
                  <a:tcPr marL="8467" marR="8467" marT="8467" marB="0" anchor="ctr">
                    <a:lnL>
                      <a:noFill/>
                    </a:lnL>
                    <a:lnR>
                      <a:noFill/>
                    </a:lnR>
                    <a:lnT>
                      <a:noFill/>
                    </a:lnT>
                    <a:lnB>
                      <a:noFill/>
                    </a:lnB>
                  </a:tcPr>
                </a:tc>
                <a:extLst>
                  <a:ext uri="{0D108BD9-81ED-4DB2-BD59-A6C34878D82A}">
                    <a16:rowId xmlns:a16="http://schemas.microsoft.com/office/drawing/2014/main" val="10001"/>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0</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extLst>
                  <a:ext uri="{0D108BD9-81ED-4DB2-BD59-A6C34878D82A}">
                    <a16:rowId xmlns:a16="http://schemas.microsoft.com/office/drawing/2014/main" val="10002"/>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1</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0</a:t>
                      </a:r>
                    </a:p>
                  </a:txBody>
                  <a:tcPr marL="8467" marR="8467" marT="8467"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1</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0</a:t>
                      </a:r>
                    </a:p>
                  </a:txBody>
                  <a:tcPr marL="8467" marR="8467" marT="8467"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4</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dirty="0">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3"/>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dirty="0">
                          <a:solidFill>
                            <a:srgbClr val="000000"/>
                          </a:solidFill>
                          <a:effectLst/>
                          <a:latin typeface="Calibri"/>
                        </a:rPr>
                        <a:t>page 2</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1</a:t>
                      </a:r>
                    </a:p>
                  </a:txBody>
                  <a:tcPr marL="8467" marR="8467" marT="8467"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dirty="0">
                          <a:solidFill>
                            <a:srgbClr val="000000"/>
                          </a:solidFill>
                          <a:effectLst/>
                          <a:latin typeface="Calibri"/>
                        </a:rPr>
                        <a:t>4</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1</a:t>
                      </a:r>
                    </a:p>
                  </a:txBody>
                  <a:tcPr marL="8467" marR="8467" marT="8467"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0</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4"/>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3</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2</a:t>
                      </a:r>
                    </a:p>
                  </a:txBody>
                  <a:tcPr marL="8467" marR="8467" marT="8467"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3</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2</a:t>
                      </a:r>
                    </a:p>
                  </a:txBody>
                  <a:tcPr marL="8467" marR="8467" marT="8467"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dirty="0">
                          <a:solidFill>
                            <a:srgbClr val="000000"/>
                          </a:solidFill>
                          <a:effectLst/>
                          <a:latin typeface="Calibri"/>
                        </a:rPr>
                        <a:t>page 5</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5"/>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4</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3</a:t>
                      </a:r>
                    </a:p>
                  </a:txBody>
                  <a:tcPr marL="8467" marR="8467" marT="8467"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7</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3</a:t>
                      </a:r>
                    </a:p>
                  </a:txBody>
                  <a:tcPr marL="8467" marR="8467" marT="8467"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dirty="0">
                          <a:solidFill>
                            <a:srgbClr val="000000"/>
                          </a:solidFill>
                          <a:effectLst/>
                          <a:latin typeface="Calibri"/>
                        </a:rPr>
                        <a:t>page</a:t>
                      </a:r>
                      <a:r>
                        <a:rPr lang="en-US" sz="1500" b="0" i="0" u="none" strike="noStrike" baseline="0" dirty="0">
                          <a:solidFill>
                            <a:srgbClr val="000000"/>
                          </a:solidFill>
                          <a:effectLst/>
                          <a:latin typeface="Calibri"/>
                        </a:rPr>
                        <a:t> 2</a:t>
                      </a:r>
                      <a:endParaRPr lang="en-US" sz="1500" b="0" i="0" u="none" strike="noStrike" dirty="0">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6"/>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dirty="0">
                          <a:solidFill>
                            <a:srgbClr val="000000"/>
                          </a:solidFill>
                          <a:effectLst/>
                          <a:latin typeface="Calibri"/>
                        </a:rPr>
                        <a:t>page 5</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4</a:t>
                      </a:r>
                    </a:p>
                  </a:txBody>
                  <a:tcPr marL="8467" marR="8467" marT="8467"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0</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4</a:t>
                      </a:r>
                    </a:p>
                  </a:txBody>
                  <a:tcPr marL="8467" marR="8467" marT="8467"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1</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dirty="0">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7"/>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6</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5</a:t>
                      </a:r>
                    </a:p>
                  </a:txBody>
                  <a:tcPr marL="8467" marR="8467" marT="8467"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2</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5</a:t>
                      </a:r>
                    </a:p>
                  </a:txBody>
                  <a:tcPr marL="8467" marR="8467" marT="8467"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6</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8"/>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 </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6</a:t>
                      </a:r>
                    </a:p>
                  </a:txBody>
                  <a:tcPr marL="8467" marR="8467" marT="8467"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5</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sz="1500" b="0" i="0" u="none" strike="noStrike">
                          <a:solidFill>
                            <a:srgbClr val="000000"/>
                          </a:solidFill>
                          <a:effectLst/>
                          <a:latin typeface="Calibri"/>
                        </a:rPr>
                        <a:t>6</a:t>
                      </a:r>
                    </a:p>
                  </a:txBody>
                  <a:tcPr marL="8467" marR="8467" marT="8467"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page 3</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9"/>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 </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l" fontAlgn="b"/>
                      <a:endParaRPr lang="en-US" sz="1300" b="0" i="0" u="none" strike="noStrike">
                        <a:solidFill>
                          <a:srgbClr val="000000"/>
                        </a:solidFill>
                        <a:effectLst/>
                        <a:latin typeface="Calibri"/>
                      </a:endParaRPr>
                    </a:p>
                  </a:txBody>
                  <a:tcPr marL="8467" marR="8467" marT="8467" marB="0" anchor="b">
                    <a:lnL>
                      <a:noFill/>
                    </a:lnL>
                    <a:lnR>
                      <a:noFill/>
                    </a:lnR>
                    <a:lnT w="19050" cap="flat" cmpd="sng" algn="ctr">
                      <a:solidFill>
                        <a:srgbClr val="000000"/>
                      </a:solidFill>
                      <a:prstDash val="solid"/>
                      <a:round/>
                      <a:headEnd type="none" w="med" len="med"/>
                      <a:tailEnd type="none" w="med" len="med"/>
                    </a:lnT>
                    <a:lnB>
                      <a:noFill/>
                    </a:lnB>
                  </a:tcPr>
                </a:tc>
                <a:tc>
                  <a:txBody>
                    <a:bodyPr/>
                    <a:lstStyle/>
                    <a:p>
                      <a:pPr algn="l" fontAlgn="b"/>
                      <a:endParaRPr lang="en-US" sz="1300" b="0" i="0" u="none" strike="noStrike" dirty="0">
                        <a:solidFill>
                          <a:srgbClr val="000000"/>
                        </a:solidFill>
                        <a:effectLst/>
                        <a:latin typeface="Calibri"/>
                      </a:endParaRPr>
                    </a:p>
                  </a:txBody>
                  <a:tcPr marL="8467" marR="8467" marT="8467" marB="0" anchor="b">
                    <a:lnL>
                      <a:noFill/>
                    </a:lnL>
                    <a:lnR>
                      <a:noFill/>
                    </a:lnR>
                    <a:lnT>
                      <a:noFill/>
                    </a:lnT>
                    <a:lnB>
                      <a:noFill/>
                    </a:lnB>
                  </a:tcPr>
                </a:tc>
                <a:extLst>
                  <a:ext uri="{0D108BD9-81ED-4DB2-BD59-A6C34878D82A}">
                    <a16:rowId xmlns:a16="http://schemas.microsoft.com/office/drawing/2014/main" val="10010"/>
                  </a:ext>
                </a:extLst>
              </a:tr>
              <a:tr h="406400">
                <a:tc>
                  <a:txBody>
                    <a:bodyPr/>
                    <a:lstStyle/>
                    <a:p>
                      <a:pPr algn="l" fontAlgn="b"/>
                      <a:endParaRPr lang="en-US" sz="1500" b="0" i="0" u="none" strike="noStrike">
                        <a:solidFill>
                          <a:srgbClr val="000000"/>
                        </a:solidFill>
                        <a:effectLst/>
                        <a:latin typeface="Calibri"/>
                      </a:endParaRPr>
                    </a:p>
                  </a:txBody>
                  <a:tcPr marL="8467" marR="8467" marT="8467" marB="0" anchor="b">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500" b="0" i="0" u="none" strike="noStrike">
                          <a:solidFill>
                            <a:srgbClr val="000000"/>
                          </a:solidFill>
                          <a:effectLst/>
                          <a:latin typeface="Calibri"/>
                        </a:rPr>
                        <a:t> </a:t>
                      </a:r>
                    </a:p>
                  </a:txBody>
                  <a:tcPr marL="8467" marR="8467" marT="8467"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w="190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a:solidFill>
                          <a:srgbClr val="000000"/>
                        </a:solidFill>
                        <a:effectLst/>
                        <a:latin typeface="Calibri"/>
                      </a:endParaRPr>
                    </a:p>
                  </a:txBody>
                  <a:tcPr marL="8467" marR="8467" marT="8467" marB="0" anchor="ctr">
                    <a:lnL>
                      <a:noFill/>
                    </a:lnL>
                    <a:lnR>
                      <a:noFill/>
                    </a:lnR>
                    <a:lnT>
                      <a:noFill/>
                    </a:lnT>
                    <a:lnB>
                      <a:noFill/>
                    </a:lnB>
                  </a:tcPr>
                </a:tc>
                <a:tc>
                  <a:txBody>
                    <a:bodyPr/>
                    <a:lstStyle/>
                    <a:p>
                      <a:pPr algn="ctr" fontAlgn="ctr"/>
                      <a:endParaRPr lang="en-US" sz="1500" b="0" i="0" u="none" strike="noStrike" dirty="0">
                        <a:solidFill>
                          <a:srgbClr val="000000"/>
                        </a:solidFill>
                        <a:effectLst/>
                        <a:latin typeface="Calibri"/>
                      </a:endParaRPr>
                    </a:p>
                  </a:txBody>
                  <a:tcPr marL="8467" marR="8467" marT="8467" marB="0" anchor="ctr">
                    <a:lnL>
                      <a:noFill/>
                    </a:lnL>
                    <a:lnR>
                      <a:noFill/>
                    </a:lnR>
                    <a:lnT>
                      <a:noFill/>
                    </a:lnT>
                    <a:lnB>
                      <a:noFill/>
                    </a:lnB>
                  </a:tcPr>
                </a:tc>
                <a:extLst>
                  <a:ext uri="{0D108BD9-81ED-4DB2-BD59-A6C34878D82A}">
                    <a16:rowId xmlns:a16="http://schemas.microsoft.com/office/drawing/2014/main" val="10011"/>
                  </a:ext>
                </a:extLst>
              </a:tr>
            </a:tbl>
          </a:graphicData>
        </a:graphic>
      </p:graphicFrame>
      <p:cxnSp>
        <p:nvCxnSpPr>
          <p:cNvPr id="10" name="Straight Arrow Connector 9"/>
          <p:cNvCxnSpPr/>
          <p:nvPr/>
        </p:nvCxnSpPr>
        <p:spPr bwMode="auto">
          <a:xfrm flipV="1">
            <a:off x="6858259" y="3152588"/>
            <a:ext cx="1062805" cy="776942"/>
          </a:xfrm>
          <a:prstGeom prst="straightConnector1">
            <a:avLst/>
          </a:prstGeom>
          <a:solidFill>
            <a:schemeClr val="accent1"/>
          </a:solidFill>
          <a:ln w="571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Arrow Connector 12"/>
          <p:cNvCxnSpPr/>
          <p:nvPr/>
        </p:nvCxnSpPr>
        <p:spPr bwMode="auto">
          <a:xfrm flipV="1">
            <a:off x="6899091" y="3675529"/>
            <a:ext cx="1062805" cy="1407008"/>
          </a:xfrm>
          <a:prstGeom prst="straightConnector1">
            <a:avLst/>
          </a:prstGeom>
          <a:solidFill>
            <a:schemeClr val="accent1"/>
          </a:solidFill>
          <a:ln w="571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4623084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Management</a:t>
            </a:r>
          </a:p>
        </p:txBody>
      </p:sp>
      <p:sp>
        <p:nvSpPr>
          <p:cNvPr id="3" name="Slide Number Placeholder 2"/>
          <p:cNvSpPr>
            <a:spLocks noGrp="1"/>
          </p:cNvSpPr>
          <p:nvPr>
            <p:ph type="sldNum" sz="quarter" idx="12"/>
          </p:nvPr>
        </p:nvSpPr>
        <p:spPr/>
        <p:txBody>
          <a:bodyPr/>
          <a:lstStyle/>
          <a:p>
            <a:fld id="{F1E687AB-0FD7-C047-930B-FD009416571E}" type="slidenum">
              <a:rPr lang="en-US" smtClean="0"/>
              <a:t>37</a:t>
            </a:fld>
            <a:endParaRPr lang="en-US" dirty="0"/>
          </a:p>
        </p:txBody>
      </p:sp>
      <p:sp>
        <p:nvSpPr>
          <p:cNvPr id="4" name="Rectangle 3"/>
          <p:cNvSpPr txBox="1">
            <a:spLocks noChangeArrowheads="1"/>
          </p:cNvSpPr>
          <p:nvPr/>
        </p:nvSpPr>
        <p:spPr>
          <a:xfrm>
            <a:off x="457200" y="1371600"/>
            <a:ext cx="8229600" cy="4525963"/>
          </a:xfrm>
          <a:prstGeom prst="rect">
            <a:avLst/>
          </a:prstGeom>
        </p:spPr>
        <p:txBody>
          <a:bodyPr vert="horz" lIns="91440" tIns="45720" rIns="91440" bIns="45720" rtlCol="0">
            <a:normAutofit lnSpcReduction="10000"/>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sz="2800">
                <a:latin typeface="Arial" charset="0"/>
              </a:rPr>
              <a:t>The kernel protects memory usage via swapping, paging, and segmentation</a:t>
            </a:r>
          </a:p>
          <a:p>
            <a:r>
              <a:rPr lang="en-US" sz="2800">
                <a:latin typeface="Arial" charset="0"/>
              </a:rPr>
              <a:t>A page fault occurs </a:t>
            </a:r>
          </a:p>
          <a:p>
            <a:pPr lvl="1"/>
            <a:r>
              <a:rPr lang="en-US">
                <a:latin typeface="Arial" charset="0"/>
              </a:rPr>
              <a:t>when the os has to choose a page to remove from memory to make room for a page to be loaded into memory.</a:t>
            </a:r>
          </a:p>
          <a:p>
            <a:r>
              <a:rPr lang="en-US" sz="2800">
                <a:latin typeface="Arial" charset="0"/>
              </a:rPr>
              <a:t>Swapping is when an entire process is temporarily moved to a backing storage location.</a:t>
            </a:r>
          </a:p>
          <a:p>
            <a:pPr lvl="1"/>
            <a:r>
              <a:rPr lang="en-US">
                <a:latin typeface="Arial" charset="0"/>
              </a:rPr>
              <a:t>Swapping can be invoked by the os when it sees a process that is idle. </a:t>
            </a:r>
          </a:p>
          <a:p>
            <a:endParaRPr lang="en-US" dirty="0">
              <a:latin typeface="Arial" charset="0"/>
            </a:endParaRPr>
          </a:p>
        </p:txBody>
      </p:sp>
    </p:spTree>
    <p:extLst>
      <p:ext uri="{BB962C8B-B14F-4D97-AF65-F5344CB8AC3E}">
        <p14:creationId xmlns:p14="http://schemas.microsoft.com/office/powerpoint/2010/main" val="41118993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Management</a:t>
            </a:r>
          </a:p>
        </p:txBody>
      </p:sp>
      <p:sp>
        <p:nvSpPr>
          <p:cNvPr id="3" name="Slide Number Placeholder 2"/>
          <p:cNvSpPr>
            <a:spLocks noGrp="1"/>
          </p:cNvSpPr>
          <p:nvPr>
            <p:ph type="sldNum" sz="quarter" idx="12"/>
          </p:nvPr>
        </p:nvSpPr>
        <p:spPr/>
        <p:txBody>
          <a:bodyPr/>
          <a:lstStyle/>
          <a:p>
            <a:fld id="{F1E687AB-0FD7-C047-930B-FD009416571E}" type="slidenum">
              <a:rPr lang="en-US" smtClean="0"/>
              <a:t>38</a:t>
            </a:fld>
            <a:endParaRPr lang="en-US" dirty="0"/>
          </a:p>
        </p:txBody>
      </p:sp>
      <p:sp>
        <p:nvSpPr>
          <p:cNvPr id="4" name="TextBox 3"/>
          <p:cNvSpPr txBox="1"/>
          <p:nvPr/>
        </p:nvSpPr>
        <p:spPr>
          <a:xfrm>
            <a:off x="6081059" y="3212353"/>
            <a:ext cx="184666" cy="369332"/>
          </a:xfrm>
          <a:prstGeom prst="rect">
            <a:avLst/>
          </a:prstGeom>
          <a:noFill/>
        </p:spPr>
        <p:txBody>
          <a:bodyPr wrap="none" rtlCol="0">
            <a:spAutoFit/>
          </a:bodyPr>
          <a:lstStyle/>
          <a:p>
            <a:endParaRPr lang="en-US" dirty="0"/>
          </a:p>
        </p:txBody>
      </p:sp>
      <p:sp>
        <p:nvSpPr>
          <p:cNvPr id="5" name="Rectangle 3"/>
          <p:cNvSpPr txBox="1">
            <a:spLocks noChangeArrowheads="1"/>
          </p:cNvSpPr>
          <p:nvPr/>
        </p:nvSpPr>
        <p:spPr>
          <a:xfrm>
            <a:off x="457200" y="1318703"/>
            <a:ext cx="8229600" cy="4525963"/>
          </a:xfrm>
          <a:prstGeom prst="rect">
            <a:avLst/>
          </a:prstGeom>
        </p:spPr>
        <p:txBody>
          <a:bodyPr vert="horz" lIns="91440" tIns="45720" rIns="91440" bIns="45720" rtlCol="0">
            <a:normAutofit fontScale="85000" lnSpcReduction="10000"/>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Page file</a:t>
            </a:r>
          </a:p>
          <a:p>
            <a:pPr lvl="1"/>
            <a:r>
              <a:rPr lang="en-US" sz="2600" dirty="0"/>
              <a:t>Used by Windows</a:t>
            </a:r>
          </a:p>
          <a:p>
            <a:r>
              <a:rPr lang="en-US" dirty="0"/>
              <a:t>Swap file</a:t>
            </a:r>
          </a:p>
          <a:p>
            <a:pPr lvl="1"/>
            <a:r>
              <a:rPr lang="en-US" sz="2600" dirty="0"/>
              <a:t>Used by Linux</a:t>
            </a:r>
          </a:p>
          <a:p>
            <a:r>
              <a:rPr lang="en-US" dirty="0"/>
              <a:t>Both are backing stores to store memory on disk</a:t>
            </a:r>
          </a:p>
          <a:p>
            <a:r>
              <a:rPr lang="en-US" dirty="0"/>
              <a:t>Pages may be read from original executable</a:t>
            </a:r>
          </a:p>
          <a:p>
            <a:r>
              <a:rPr lang="en-US" dirty="0"/>
              <a:t>Thrashing </a:t>
            </a:r>
          </a:p>
          <a:p>
            <a:pPr lvl="1"/>
            <a:r>
              <a:rPr lang="en-US" sz="2600" dirty="0">
                <a:latin typeface="Calibri" charset="0"/>
              </a:rPr>
              <a:t>When  a process does not have </a:t>
            </a:r>
            <a:r>
              <a:rPr lang="ja-JP" altLang="en-US" sz="2600" dirty="0">
                <a:latin typeface="Calibri" charset="0"/>
              </a:rPr>
              <a:t>“</a:t>
            </a:r>
            <a:r>
              <a:rPr lang="en-US" sz="2600" dirty="0">
                <a:latin typeface="Calibri" charset="0"/>
              </a:rPr>
              <a:t>enough</a:t>
            </a:r>
            <a:r>
              <a:rPr lang="ja-JP" altLang="en-US" sz="2600" dirty="0">
                <a:latin typeface="Calibri" charset="0"/>
              </a:rPr>
              <a:t>”</a:t>
            </a:r>
            <a:r>
              <a:rPr lang="en-US" sz="2600" dirty="0">
                <a:latin typeface="Calibri" charset="0"/>
              </a:rPr>
              <a:t> pages, the page-fault rate is very high.  This leads to: low CPU utilization and the </a:t>
            </a:r>
            <a:r>
              <a:rPr lang="en-US" sz="2600" dirty="0" err="1">
                <a:latin typeface="Calibri" charset="0"/>
              </a:rPr>
              <a:t>os</a:t>
            </a:r>
            <a:r>
              <a:rPr lang="en-US" sz="2600" dirty="0">
                <a:latin typeface="Calibri" charset="0"/>
              </a:rPr>
              <a:t> spending too much time swapping pages in and out of RAM</a:t>
            </a:r>
          </a:p>
          <a:p>
            <a:pPr lvl="1"/>
            <a:r>
              <a:rPr lang="en-US" sz="2600" dirty="0">
                <a:latin typeface="Calibri" charset="0"/>
              </a:rPr>
              <a:t>Leads to very poor performance</a:t>
            </a:r>
          </a:p>
          <a:p>
            <a:endParaRPr lang="en-US" dirty="0"/>
          </a:p>
          <a:p>
            <a:endParaRPr lang="en-US" dirty="0"/>
          </a:p>
        </p:txBody>
      </p:sp>
    </p:spTree>
    <p:extLst>
      <p:ext uri="{BB962C8B-B14F-4D97-AF65-F5344CB8AC3E}">
        <p14:creationId xmlns:p14="http://schemas.microsoft.com/office/powerpoint/2010/main" val="32805385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Management - Terms</a:t>
            </a:r>
          </a:p>
        </p:txBody>
      </p:sp>
      <p:sp>
        <p:nvSpPr>
          <p:cNvPr id="3" name="Slide Number Placeholder 2"/>
          <p:cNvSpPr>
            <a:spLocks noGrp="1"/>
          </p:cNvSpPr>
          <p:nvPr>
            <p:ph type="sldNum" sz="quarter" idx="12"/>
          </p:nvPr>
        </p:nvSpPr>
        <p:spPr/>
        <p:txBody>
          <a:bodyPr/>
          <a:lstStyle/>
          <a:p>
            <a:fld id="{F1E687AB-0FD7-C047-930B-FD009416571E}" type="slidenum">
              <a:rPr lang="en-US" smtClean="0"/>
              <a:t>39</a:t>
            </a:fld>
            <a:endParaRPr lang="en-US" dirty="0"/>
          </a:p>
        </p:txBody>
      </p:sp>
      <p:sp>
        <p:nvSpPr>
          <p:cNvPr id="4" name="Rectangle 3"/>
          <p:cNvSpPr txBox="1">
            <a:spLocks noChangeArrowheads="1"/>
          </p:cNvSpPr>
          <p:nvPr/>
        </p:nvSpPr>
        <p:spPr>
          <a:xfrm>
            <a:off x="457200" y="1295400"/>
            <a:ext cx="8229600" cy="4525963"/>
          </a:xfrm>
          <a:prstGeom prst="rect">
            <a:avLst/>
          </a:prstGeom>
        </p:spPr>
        <p:txBody>
          <a:bodyPr vert="horz" lIns="91440" tIns="45720" rIns="91440" bIns="45720" rtlCol="0">
            <a:normAutofit lnSpcReduction="10000"/>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sz="2800" dirty="0"/>
              <a:t>Sharing</a:t>
            </a:r>
          </a:p>
          <a:p>
            <a:pPr lvl="1"/>
            <a:r>
              <a:rPr lang="en-US" sz="2400" dirty="0"/>
              <a:t>Share code and data among different processes</a:t>
            </a:r>
          </a:p>
          <a:p>
            <a:r>
              <a:rPr lang="en-US" sz="2800" dirty="0"/>
              <a:t>Relocation via compaction</a:t>
            </a:r>
          </a:p>
          <a:p>
            <a:r>
              <a:rPr lang="en-US" sz="2800" dirty="0"/>
              <a:t>Memory Fragmentation </a:t>
            </a:r>
          </a:p>
          <a:p>
            <a:pPr lvl="1"/>
            <a:r>
              <a:rPr lang="en-US" sz="2400" dirty="0"/>
              <a:t>external associated with variable sized allocation units</a:t>
            </a:r>
          </a:p>
          <a:p>
            <a:r>
              <a:rPr lang="en-US" sz="2800" dirty="0"/>
              <a:t>Internal </a:t>
            </a:r>
            <a:r>
              <a:rPr lang="en-US" sz="2400" dirty="0"/>
              <a:t>associated with fixed sized allocation units</a:t>
            </a:r>
          </a:p>
          <a:p>
            <a:r>
              <a:rPr lang="en-US" sz="2800" dirty="0"/>
              <a:t>Performance of MMU</a:t>
            </a:r>
            <a:r>
              <a:rPr lang="en-US" sz="2400" dirty="0"/>
              <a:t> trade offs</a:t>
            </a:r>
          </a:p>
          <a:p>
            <a:pPr lvl="1"/>
            <a:r>
              <a:rPr lang="en-US" sz="2400" dirty="0"/>
              <a:t>Complexity of memory management algorithms</a:t>
            </a:r>
          </a:p>
          <a:p>
            <a:pPr lvl="1"/>
            <a:r>
              <a:rPr lang="en-US" sz="2400" dirty="0"/>
              <a:t>Mapping table use registers, cached tables or just tables in memory</a:t>
            </a:r>
          </a:p>
        </p:txBody>
      </p:sp>
    </p:spTree>
    <p:extLst>
      <p:ext uri="{BB962C8B-B14F-4D97-AF65-F5344CB8AC3E}">
        <p14:creationId xmlns:p14="http://schemas.microsoft.com/office/powerpoint/2010/main" val="3304478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64 bit operating system and Memory Management</a:t>
            </a:r>
          </a:p>
        </p:txBody>
      </p:sp>
      <p:sp>
        <p:nvSpPr>
          <p:cNvPr id="3" name="Slide Number Placeholder 2"/>
          <p:cNvSpPr>
            <a:spLocks noGrp="1"/>
          </p:cNvSpPr>
          <p:nvPr>
            <p:ph type="sldNum" sz="quarter" idx="12"/>
          </p:nvPr>
        </p:nvSpPr>
        <p:spPr/>
        <p:txBody>
          <a:bodyPr/>
          <a:lstStyle/>
          <a:p>
            <a:fld id="{F1E687AB-0FD7-C047-930B-FD009416571E}" type="slidenum">
              <a:rPr lang="en-US" smtClean="0"/>
              <a:t>40</a:t>
            </a:fld>
            <a:endParaRPr lang="en-US" dirty="0"/>
          </a:p>
        </p:txBody>
      </p:sp>
      <p:sp>
        <p:nvSpPr>
          <p:cNvPr id="4" name="Rectangle 3"/>
          <p:cNvSpPr txBox="1">
            <a:spLocks noChangeArrowheads="1"/>
          </p:cNvSpPr>
          <p:nvPr/>
        </p:nvSpPr>
        <p:spPr>
          <a:xfrm>
            <a:off x="457200" y="1295400"/>
            <a:ext cx="8229600" cy="4525963"/>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What are the advantages of a 64 bit </a:t>
            </a:r>
            <a:r>
              <a:rPr lang="en-US" dirty="0" err="1"/>
              <a:t>os</a:t>
            </a:r>
            <a:r>
              <a:rPr lang="en-US" dirty="0"/>
              <a:t> verses a 32 bit </a:t>
            </a:r>
            <a:r>
              <a:rPr lang="en-US" dirty="0" err="1"/>
              <a:t>os</a:t>
            </a:r>
            <a:r>
              <a:rPr lang="en-US" dirty="0"/>
              <a:t>?</a:t>
            </a:r>
          </a:p>
          <a:p>
            <a:pPr lvl="1"/>
            <a:r>
              <a:rPr lang="en-US" dirty="0"/>
              <a:t>Memory addresses are stored using 64 bit integers as opposed to 32 bit integers  </a:t>
            </a:r>
          </a:p>
          <a:p>
            <a:pPr lvl="2"/>
            <a:r>
              <a:rPr lang="en-US" dirty="0"/>
              <a:t>A 64 bit </a:t>
            </a:r>
            <a:r>
              <a:rPr lang="en-US" dirty="0" err="1"/>
              <a:t>os</a:t>
            </a:r>
            <a:r>
              <a:rPr lang="en-US" dirty="0"/>
              <a:t> has much more addressable memory</a:t>
            </a:r>
          </a:p>
          <a:p>
            <a:pPr lvl="2"/>
            <a:r>
              <a:rPr lang="en-US" dirty="0"/>
              <a:t>2</a:t>
            </a:r>
            <a:r>
              <a:rPr lang="en-US" baseline="30000" dirty="0"/>
              <a:t>64 </a:t>
            </a:r>
            <a:r>
              <a:rPr lang="en-US" dirty="0"/>
              <a:t>bytes</a:t>
            </a:r>
            <a:r>
              <a:rPr lang="en-US" baseline="30000" dirty="0"/>
              <a:t> </a:t>
            </a:r>
            <a:r>
              <a:rPr lang="en-US" dirty="0"/>
              <a:t>equivalent to 16 </a:t>
            </a:r>
            <a:r>
              <a:rPr lang="en-US" dirty="0" err="1"/>
              <a:t>Exbibytes</a:t>
            </a:r>
            <a:r>
              <a:rPr lang="en-US" dirty="0"/>
              <a:t>!</a:t>
            </a:r>
          </a:p>
          <a:p>
            <a:pPr lvl="2"/>
            <a:r>
              <a:rPr lang="en-US" dirty="0"/>
              <a:t>2</a:t>
            </a:r>
            <a:r>
              <a:rPr lang="en-US" baseline="30000" dirty="0"/>
              <a:t>32</a:t>
            </a:r>
            <a:r>
              <a:rPr lang="en-US" dirty="0"/>
              <a:t> bytes equivalent to only 4 </a:t>
            </a:r>
            <a:r>
              <a:rPr lang="en-US" dirty="0" err="1"/>
              <a:t>Gibibytes</a:t>
            </a:r>
            <a:endParaRPr lang="en-US" dirty="0"/>
          </a:p>
          <a:p>
            <a:pPr lvl="1"/>
            <a:r>
              <a:rPr lang="en-US" dirty="0"/>
              <a:t>64 bit instruction set</a:t>
            </a:r>
          </a:p>
          <a:p>
            <a:pPr lvl="2"/>
            <a:r>
              <a:rPr lang="en-US" dirty="0"/>
              <a:t>Larger registers</a:t>
            </a:r>
          </a:p>
        </p:txBody>
      </p:sp>
    </p:spTree>
    <p:extLst>
      <p:ext uri="{BB962C8B-B14F-4D97-AF65-F5344CB8AC3E}">
        <p14:creationId xmlns:p14="http://schemas.microsoft.com/office/powerpoint/2010/main" val="3398916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Storage Management</a:t>
            </a:r>
          </a:p>
        </p:txBody>
      </p:sp>
      <p:sp>
        <p:nvSpPr>
          <p:cNvPr id="3" name="Slide Number Placeholder 2"/>
          <p:cNvSpPr>
            <a:spLocks noGrp="1"/>
          </p:cNvSpPr>
          <p:nvPr>
            <p:ph type="sldNum" sz="quarter" idx="12"/>
          </p:nvPr>
        </p:nvSpPr>
        <p:spPr/>
        <p:txBody>
          <a:bodyPr/>
          <a:lstStyle/>
          <a:p>
            <a:fld id="{F1E687AB-0FD7-C047-930B-FD009416571E}" type="slidenum">
              <a:rPr lang="en-US" smtClean="0"/>
              <a:t>41</a:t>
            </a:fld>
            <a:endParaRPr lang="en-US" dirty="0"/>
          </a:p>
        </p:txBody>
      </p:sp>
      <p:sp>
        <p:nvSpPr>
          <p:cNvPr id="4" name="Rectangle 3"/>
          <p:cNvSpPr txBox="1">
            <a:spLocks noChangeArrowheads="1"/>
          </p:cNvSpPr>
          <p:nvPr/>
        </p:nvSpPr>
        <p:spPr>
          <a:xfrm>
            <a:off x="457200" y="1600200"/>
            <a:ext cx="8229600" cy="4525963"/>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All OS</a:t>
            </a:r>
            <a:r>
              <a:rPr lang="ja-JP" altLang="en-US" dirty="0"/>
              <a:t>’</a:t>
            </a:r>
            <a:r>
              <a:rPr lang="en-US" altLang="ja-JP" dirty="0"/>
              <a:t>s need a way to access stored data</a:t>
            </a:r>
          </a:p>
          <a:p>
            <a:r>
              <a:rPr lang="en-US" dirty="0"/>
              <a:t>Data is stored on devices using files and directories</a:t>
            </a:r>
          </a:p>
          <a:p>
            <a:r>
              <a:rPr lang="en-US" dirty="0"/>
              <a:t>Files are structured to allow fast access, improve reliability, and make efficient use of space</a:t>
            </a:r>
          </a:p>
          <a:p>
            <a:r>
              <a:rPr lang="en-US" dirty="0"/>
              <a:t>A file system is a method for storing and </a:t>
            </a:r>
            <a:br>
              <a:rPr lang="en-US" dirty="0"/>
            </a:br>
            <a:r>
              <a:rPr lang="en-US" dirty="0"/>
              <a:t>   organizing data</a:t>
            </a:r>
          </a:p>
        </p:txBody>
      </p:sp>
    </p:spTree>
    <p:extLst>
      <p:ext uri="{BB962C8B-B14F-4D97-AF65-F5344CB8AC3E}">
        <p14:creationId xmlns:p14="http://schemas.microsoft.com/office/powerpoint/2010/main" val="38121150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Storage Management</a:t>
            </a:r>
          </a:p>
        </p:txBody>
      </p:sp>
      <p:sp>
        <p:nvSpPr>
          <p:cNvPr id="3" name="Slide Number Placeholder 2"/>
          <p:cNvSpPr>
            <a:spLocks noGrp="1"/>
          </p:cNvSpPr>
          <p:nvPr>
            <p:ph type="sldNum" sz="quarter" idx="12"/>
          </p:nvPr>
        </p:nvSpPr>
        <p:spPr/>
        <p:txBody>
          <a:bodyPr/>
          <a:lstStyle/>
          <a:p>
            <a:fld id="{F1E687AB-0FD7-C047-930B-FD009416571E}" type="slidenum">
              <a:rPr lang="en-US" smtClean="0"/>
              <a:t>42</a:t>
            </a:fld>
            <a:endParaRPr lang="en-US" dirty="0"/>
          </a:p>
        </p:txBody>
      </p:sp>
      <p:sp>
        <p:nvSpPr>
          <p:cNvPr id="4" name="Rectangle 3"/>
          <p:cNvSpPr txBox="1">
            <a:spLocks noChangeArrowheads="1"/>
          </p:cNvSpPr>
          <p:nvPr/>
        </p:nvSpPr>
        <p:spPr>
          <a:xfrm>
            <a:off x="457200" y="1447800"/>
            <a:ext cx="8229600" cy="4525963"/>
          </a:xfrm>
          <a:prstGeom prst="rect">
            <a:avLst/>
          </a:prstGeom>
        </p:spPr>
        <p:txBody>
          <a:bodyPr vert="horz" lIns="91440" tIns="45720" rIns="91440" bIns="45720" rtlCol="0">
            <a:normAutofit fontScale="92500"/>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OS activities include</a:t>
            </a:r>
          </a:p>
          <a:p>
            <a:pPr lvl="1"/>
            <a:r>
              <a:rPr lang="en-US" dirty="0"/>
              <a:t>Create and delete files and directories</a:t>
            </a:r>
          </a:p>
          <a:p>
            <a:pPr lvl="1"/>
            <a:r>
              <a:rPr lang="en-US" dirty="0"/>
              <a:t>Manipulate files and directories</a:t>
            </a:r>
          </a:p>
          <a:p>
            <a:pPr lvl="1"/>
            <a:r>
              <a:rPr lang="en-US" dirty="0"/>
              <a:t>Back up files onto storage media</a:t>
            </a:r>
          </a:p>
          <a:p>
            <a:pPr lvl="1"/>
            <a:r>
              <a:rPr lang="en-US" dirty="0"/>
              <a:t>Performed by the file system used by an </a:t>
            </a:r>
            <a:r>
              <a:rPr lang="en-US" dirty="0" err="1"/>
              <a:t>os</a:t>
            </a:r>
            <a:r>
              <a:rPr lang="en-US" dirty="0"/>
              <a:t>.</a:t>
            </a:r>
          </a:p>
          <a:p>
            <a:pPr lvl="1"/>
            <a:r>
              <a:rPr lang="en-US" dirty="0"/>
              <a:t> An </a:t>
            </a:r>
            <a:r>
              <a:rPr lang="en-US" dirty="0" err="1"/>
              <a:t>os</a:t>
            </a:r>
            <a:r>
              <a:rPr lang="en-US" dirty="0"/>
              <a:t> can support more than one file system.</a:t>
            </a:r>
          </a:p>
          <a:p>
            <a:r>
              <a:rPr lang="en-US" dirty="0"/>
              <a:t>A </a:t>
            </a:r>
            <a:r>
              <a:rPr lang="en-US" dirty="0" err="1"/>
              <a:t>filesystem</a:t>
            </a:r>
            <a:r>
              <a:rPr lang="en-US" dirty="0"/>
              <a:t> is the method and data structures that an operating system uses to keep track of files and directories/folders on disk storage devices.</a:t>
            </a:r>
          </a:p>
          <a:p>
            <a:endParaRPr lang="en-US" dirty="0">
              <a:latin typeface="Arial" charset="0"/>
            </a:endParaRPr>
          </a:p>
          <a:p>
            <a:pPr lvl="1"/>
            <a:endParaRPr lang="en-US" dirty="0">
              <a:latin typeface="Arial" charset="0"/>
            </a:endParaRPr>
          </a:p>
        </p:txBody>
      </p:sp>
    </p:spTree>
    <p:extLst>
      <p:ext uri="{BB962C8B-B14F-4D97-AF65-F5344CB8AC3E}">
        <p14:creationId xmlns:p14="http://schemas.microsoft.com/office/powerpoint/2010/main" val="12399662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Networking</a:t>
            </a:r>
          </a:p>
        </p:txBody>
      </p:sp>
      <p:sp>
        <p:nvSpPr>
          <p:cNvPr id="3" name="Slide Number Placeholder 2"/>
          <p:cNvSpPr>
            <a:spLocks noGrp="1"/>
          </p:cNvSpPr>
          <p:nvPr>
            <p:ph type="sldNum" sz="quarter" idx="12"/>
          </p:nvPr>
        </p:nvSpPr>
        <p:spPr/>
        <p:txBody>
          <a:bodyPr/>
          <a:lstStyle/>
          <a:p>
            <a:fld id="{F1E687AB-0FD7-C047-930B-FD009416571E}" type="slidenum">
              <a:rPr lang="en-US" smtClean="0"/>
              <a:t>43</a:t>
            </a:fld>
            <a:endParaRPr lang="en-US" dirty="0"/>
          </a:p>
        </p:txBody>
      </p:sp>
      <p:sp>
        <p:nvSpPr>
          <p:cNvPr id="4" name="Rectangle 3"/>
          <p:cNvSpPr txBox="1">
            <a:spLocks noChangeArrowheads="1"/>
          </p:cNvSpPr>
          <p:nvPr/>
        </p:nvSpPr>
        <p:spPr>
          <a:xfrm>
            <a:off x="457200" y="1600200"/>
            <a:ext cx="8229600" cy="4525963"/>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Most OS</a:t>
            </a:r>
            <a:r>
              <a:rPr lang="ja-JP" altLang="en-US" dirty="0"/>
              <a:t>’</a:t>
            </a:r>
            <a:r>
              <a:rPr lang="en-US" altLang="ja-JP" dirty="0"/>
              <a:t>s support various networking protocols, both open source and proprietary formats</a:t>
            </a:r>
          </a:p>
          <a:p>
            <a:pPr lvl="1"/>
            <a:r>
              <a:rPr lang="en-US" dirty="0"/>
              <a:t>What networking protocols might you expect to be supported?</a:t>
            </a:r>
          </a:p>
          <a:p>
            <a:r>
              <a:rPr lang="en-US" dirty="0"/>
              <a:t>Various network architectures are also supported</a:t>
            </a:r>
          </a:p>
          <a:p>
            <a:pPr lvl="1"/>
            <a:r>
              <a:rPr lang="en-US" dirty="0"/>
              <a:t>Client/server, peer to peer, hybrid</a:t>
            </a:r>
          </a:p>
        </p:txBody>
      </p:sp>
    </p:spTree>
    <p:extLst>
      <p:ext uri="{BB962C8B-B14F-4D97-AF65-F5344CB8AC3E}">
        <p14:creationId xmlns:p14="http://schemas.microsoft.com/office/powerpoint/2010/main" val="6300578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a:t>
            </a:r>
          </a:p>
        </p:txBody>
      </p:sp>
      <p:sp>
        <p:nvSpPr>
          <p:cNvPr id="3" name="Slide Number Placeholder 2"/>
          <p:cNvSpPr>
            <a:spLocks noGrp="1"/>
          </p:cNvSpPr>
          <p:nvPr>
            <p:ph type="sldNum" sz="quarter" idx="12"/>
          </p:nvPr>
        </p:nvSpPr>
        <p:spPr/>
        <p:txBody>
          <a:bodyPr/>
          <a:lstStyle/>
          <a:p>
            <a:fld id="{F1E687AB-0FD7-C047-930B-FD009416571E}" type="slidenum">
              <a:rPr lang="en-US" smtClean="0"/>
              <a:t>44</a:t>
            </a:fld>
            <a:endParaRPr lang="en-US" dirty="0"/>
          </a:p>
        </p:txBody>
      </p:sp>
      <p:sp>
        <p:nvSpPr>
          <p:cNvPr id="4" name="Rectangle 3"/>
          <p:cNvSpPr txBox="1">
            <a:spLocks noChangeArrowheads="1"/>
          </p:cNvSpPr>
          <p:nvPr/>
        </p:nvSpPr>
        <p:spPr>
          <a:xfrm>
            <a:off x="457200" y="1600200"/>
            <a:ext cx="8229600" cy="4525963"/>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32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2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0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a:t>Within a network, the server OS is a critical security component</a:t>
            </a:r>
          </a:p>
          <a:p>
            <a:pPr lvl="1"/>
            <a:r>
              <a:rPr lang="en-US" dirty="0"/>
              <a:t>Controls access to processes, and data</a:t>
            </a:r>
          </a:p>
          <a:p>
            <a:r>
              <a:rPr lang="en-US" dirty="0"/>
              <a:t>Networking aspect also affects external security threats</a:t>
            </a:r>
          </a:p>
          <a:p>
            <a:pPr lvl="1"/>
            <a:r>
              <a:rPr lang="en-US" dirty="0"/>
              <a:t>Denial of service, worms, Trojan horses, etc.</a:t>
            </a:r>
          </a:p>
          <a:p>
            <a:pPr lvl="1"/>
            <a:r>
              <a:rPr lang="en-US" dirty="0"/>
              <a:t>Most operating systems now come with firewall software</a:t>
            </a:r>
          </a:p>
          <a:p>
            <a:endParaRPr lang="en-US" dirty="0"/>
          </a:p>
        </p:txBody>
      </p:sp>
    </p:spTree>
    <p:extLst>
      <p:ext uri="{BB962C8B-B14F-4D97-AF65-F5344CB8AC3E}">
        <p14:creationId xmlns:p14="http://schemas.microsoft.com/office/powerpoint/2010/main" val="9830668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1D6F0-4C40-0275-86D1-F01C35CCE2DD}"/>
              </a:ext>
            </a:extLst>
          </p:cNvPr>
          <p:cNvSpPr>
            <a:spLocks noGrp="1"/>
          </p:cNvSpPr>
          <p:nvPr>
            <p:ph type="title"/>
          </p:nvPr>
        </p:nvSpPr>
        <p:spPr/>
        <p:txBody>
          <a:bodyPr/>
          <a:lstStyle/>
          <a:p>
            <a:r>
              <a:rPr lang="en-US" dirty="0"/>
              <a:t>Lab Environments</a:t>
            </a:r>
          </a:p>
        </p:txBody>
      </p:sp>
      <p:sp>
        <p:nvSpPr>
          <p:cNvPr id="3" name="Content Placeholder 2">
            <a:extLst>
              <a:ext uri="{FF2B5EF4-FFF2-40B4-BE49-F238E27FC236}">
                <a16:creationId xmlns:a16="http://schemas.microsoft.com/office/drawing/2014/main" id="{A91A176A-921E-F3DC-D571-DE032B4E02D6}"/>
              </a:ext>
            </a:extLst>
          </p:cNvPr>
          <p:cNvSpPr>
            <a:spLocks noGrp="1"/>
          </p:cNvSpPr>
          <p:nvPr>
            <p:ph idx="1"/>
          </p:nvPr>
        </p:nvSpPr>
        <p:spPr/>
        <p:txBody>
          <a:bodyPr/>
          <a:lstStyle/>
          <a:p>
            <a:r>
              <a:rPr lang="en-US" dirty="0"/>
              <a:t>Virtual lab environments used in CT210</a:t>
            </a:r>
          </a:p>
          <a:p>
            <a:pPr lvl="1"/>
            <a:r>
              <a:rPr lang="en-US" dirty="0" err="1"/>
              <a:t>vcenter.cci.drexel.edu</a:t>
            </a:r>
            <a:endParaRPr lang="en-US" dirty="0"/>
          </a:p>
          <a:p>
            <a:pPr lvl="1"/>
            <a:r>
              <a:rPr lang="en-US" dirty="0" err="1"/>
              <a:t>VCL.cci.drexel.edu</a:t>
            </a:r>
            <a:endParaRPr lang="en-US" dirty="0"/>
          </a:p>
          <a:p>
            <a:r>
              <a:rPr lang="en-US" dirty="0"/>
              <a:t>Lab 1 will use </a:t>
            </a:r>
            <a:r>
              <a:rPr lang="en-US" dirty="0" err="1"/>
              <a:t>vcenter</a:t>
            </a:r>
            <a:endParaRPr lang="en-US" dirty="0"/>
          </a:p>
          <a:p>
            <a:r>
              <a:rPr lang="en-US" dirty="0"/>
              <a:t>All other labs will use VCL</a:t>
            </a:r>
          </a:p>
        </p:txBody>
      </p:sp>
      <p:sp>
        <p:nvSpPr>
          <p:cNvPr id="4" name="Slide Number Placeholder 3">
            <a:extLst>
              <a:ext uri="{FF2B5EF4-FFF2-40B4-BE49-F238E27FC236}">
                <a16:creationId xmlns:a16="http://schemas.microsoft.com/office/drawing/2014/main" id="{9FE11CF2-A54D-E542-8E46-E7B01C89479A}"/>
              </a:ext>
            </a:extLst>
          </p:cNvPr>
          <p:cNvSpPr>
            <a:spLocks noGrp="1"/>
          </p:cNvSpPr>
          <p:nvPr>
            <p:ph type="sldNum" sz="quarter" idx="12"/>
          </p:nvPr>
        </p:nvSpPr>
        <p:spPr/>
        <p:txBody>
          <a:bodyPr/>
          <a:lstStyle/>
          <a:p>
            <a:fld id="{F1E687AB-0FD7-C047-930B-FD009416571E}" type="slidenum">
              <a:rPr lang="en-US" smtClean="0"/>
              <a:t>45</a:t>
            </a:fld>
            <a:endParaRPr lang="en-US" dirty="0"/>
          </a:p>
        </p:txBody>
      </p:sp>
    </p:spTree>
    <p:extLst>
      <p:ext uri="{BB962C8B-B14F-4D97-AF65-F5344CB8AC3E}">
        <p14:creationId xmlns:p14="http://schemas.microsoft.com/office/powerpoint/2010/main" val="6321831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457200" y="1356360"/>
            <a:ext cx="8229600" cy="4876800"/>
          </a:xfrm>
        </p:spPr>
        <p:txBody>
          <a:bodyPr>
            <a:normAutofit/>
          </a:bodyPr>
          <a:lstStyle/>
          <a:p>
            <a:r>
              <a:rPr lang="en-US" sz="2400" dirty="0">
                <a:ea typeface="ＭＳ Ｐゴシック" pitchFamily="34" charset="-128"/>
              </a:rPr>
              <a:t>The Art of Unix Programming by Eric S. Raymond, Addison-</a:t>
            </a:r>
            <a:r>
              <a:rPr lang="en-US" sz="2400" dirty="0" err="1">
                <a:ea typeface="ＭＳ Ｐゴシック" pitchFamily="34" charset="-128"/>
              </a:rPr>
              <a:t>Weley</a:t>
            </a:r>
            <a:r>
              <a:rPr lang="en-US" sz="2400" dirty="0">
                <a:ea typeface="ＭＳ Ｐゴシック" pitchFamily="34" charset="-128"/>
              </a:rPr>
              <a:t>, 2003</a:t>
            </a:r>
          </a:p>
          <a:p>
            <a:pPr>
              <a:defRPr/>
            </a:pPr>
            <a:r>
              <a:rPr lang="en-US" sz="2400" dirty="0">
                <a:ea typeface="ＭＳ Ｐゴシック" pitchFamily="34" charset="-128"/>
              </a:rPr>
              <a:t>Index of Ubuntu reference documentation</a:t>
            </a:r>
          </a:p>
          <a:p>
            <a:pPr marL="0" indent="0">
              <a:buFontTx/>
              <a:buNone/>
              <a:defRPr/>
            </a:pPr>
            <a:r>
              <a:rPr lang="en-US" sz="2400" dirty="0">
                <a:ea typeface="ＭＳ Ｐゴシック" pitchFamily="34" charset="-128"/>
              </a:rPr>
              <a:t>    https://</a:t>
            </a:r>
            <a:r>
              <a:rPr lang="en-US" sz="2400" dirty="0" err="1">
                <a:ea typeface="ＭＳ Ｐゴシック" pitchFamily="34" charset="-128"/>
              </a:rPr>
              <a:t>help.ubuntu.com</a:t>
            </a:r>
            <a:endParaRPr lang="en-US" sz="2400" dirty="0">
              <a:ea typeface="ＭＳ Ｐゴシック" pitchFamily="34" charset="-128"/>
            </a:endParaRPr>
          </a:p>
          <a:p>
            <a:pPr>
              <a:defRPr/>
            </a:pPr>
            <a:r>
              <a:rPr lang="en-US" sz="2400" dirty="0"/>
              <a:t>https://</a:t>
            </a:r>
            <a:r>
              <a:rPr lang="en-US" sz="2400" dirty="0" err="1"/>
              <a:t>help.ubuntu.com</a:t>
            </a:r>
            <a:r>
              <a:rPr lang="en-US" sz="2400" dirty="0"/>
              <a:t>/community/HowToSHA256SUM</a:t>
            </a:r>
          </a:p>
          <a:p>
            <a:pPr>
              <a:defRPr/>
            </a:pPr>
            <a:r>
              <a:rPr lang="en-US" sz="2400" dirty="0">
                <a:effectLst/>
                <a:ea typeface="Times New Roman" panose="02020603050405020304" pitchFamily="18" charset="0"/>
              </a:rPr>
              <a:t>Mastering Ubuntu Server, Fourth Edition by Jay LaCroix, </a:t>
            </a:r>
            <a:r>
              <a:rPr lang="en-US" sz="2400" dirty="0" err="1">
                <a:effectLst/>
                <a:ea typeface="Times New Roman" panose="02020603050405020304" pitchFamily="18" charset="0"/>
              </a:rPr>
              <a:t>Packt</a:t>
            </a:r>
            <a:r>
              <a:rPr lang="en-US" sz="2400" dirty="0">
                <a:effectLst/>
                <a:ea typeface="Times New Roman" panose="02020603050405020304" pitchFamily="18" charset="0"/>
              </a:rPr>
              <a:t> Publishing, 2022 </a:t>
            </a:r>
          </a:p>
          <a:p>
            <a:pPr>
              <a:defRPr/>
            </a:pPr>
            <a:endParaRPr lang="en-US" sz="2400" dirty="0">
              <a:ea typeface="ＭＳ Ｐゴシック" pitchFamily="34" charset="-128"/>
            </a:endParaRPr>
          </a:p>
          <a:p>
            <a:pPr marL="274320" lvl="1" indent="0">
              <a:buNone/>
            </a:pPr>
            <a:endParaRPr lang="en-US" sz="2400" dirty="0"/>
          </a:p>
          <a:p>
            <a:pPr marL="0" indent="0">
              <a:buNone/>
            </a:pPr>
            <a:endParaRPr lang="en-US" sz="2400" dirty="0"/>
          </a:p>
        </p:txBody>
      </p:sp>
      <p:sp>
        <p:nvSpPr>
          <p:cNvPr id="5" name="Slide Number Placeholder 4"/>
          <p:cNvSpPr>
            <a:spLocks noGrp="1"/>
          </p:cNvSpPr>
          <p:nvPr>
            <p:ph type="sldNum" sz="quarter" idx="12"/>
          </p:nvPr>
        </p:nvSpPr>
        <p:spPr/>
        <p:txBody>
          <a:bodyPr/>
          <a:lstStyle/>
          <a:p>
            <a:fld id="{F1E687AB-0FD7-C047-930B-FD009416571E}" type="slidenum">
              <a:rPr lang="en-US" smtClean="0"/>
              <a:t>46</a:t>
            </a:fld>
            <a:endParaRPr lang="en-US" dirty="0"/>
          </a:p>
        </p:txBody>
      </p:sp>
    </p:spTree>
    <p:extLst>
      <p:ext uri="{BB962C8B-B14F-4D97-AF65-F5344CB8AC3E}">
        <p14:creationId xmlns:p14="http://schemas.microsoft.com/office/powerpoint/2010/main" val="16793734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Expo">
      <a:dk1>
        <a:sysClr val="windowText" lastClr="000000"/>
      </a:dk1>
      <a:lt1>
        <a:sysClr val="window" lastClr="FFFFFF"/>
      </a:lt1>
      <a:dk2>
        <a:srgbClr val="263B86"/>
      </a:dk2>
      <a:lt2>
        <a:srgbClr val="76B6F2"/>
      </a:lt2>
      <a:accent1>
        <a:srgbClr val="FBC01E"/>
      </a:accent1>
      <a:accent2>
        <a:srgbClr val="EFE1A2"/>
      </a:accent2>
      <a:accent3>
        <a:srgbClr val="FA8716"/>
      </a:accent3>
      <a:accent4>
        <a:srgbClr val="BE0204"/>
      </a:accent4>
      <a:accent5>
        <a:srgbClr val="640F10"/>
      </a:accent5>
      <a:accent6>
        <a:srgbClr val="7E13E3"/>
      </a:accent6>
      <a:hlink>
        <a:srgbClr val="D2D200"/>
      </a:hlink>
      <a:folHlink>
        <a:srgbClr val="D0B9F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Clarity.thmx</Template>
  <TotalTime>2354</TotalTime>
  <Words>2885</Words>
  <Application>Microsoft Macintosh PowerPoint</Application>
  <PresentationFormat>On-screen Show (4:3)</PresentationFormat>
  <Paragraphs>530</Paragraphs>
  <Slides>46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ＭＳ Ｐゴシック</vt:lpstr>
      <vt:lpstr>Arial</vt:lpstr>
      <vt:lpstr>Calibri</vt:lpstr>
      <vt:lpstr>Menlo</vt:lpstr>
      <vt:lpstr>Times New Roman</vt:lpstr>
      <vt:lpstr>Clarity</vt:lpstr>
      <vt:lpstr>CT210 Open Server I</vt:lpstr>
      <vt:lpstr>Review of Server Concepts</vt:lpstr>
      <vt:lpstr>Welcome to Linux</vt:lpstr>
      <vt:lpstr>Pre-Unix OS’s</vt:lpstr>
      <vt:lpstr>Pre-Unix OS’s</vt:lpstr>
      <vt:lpstr>Lessons Learned</vt:lpstr>
      <vt:lpstr>Unix</vt:lpstr>
      <vt:lpstr>1968-1969</vt:lpstr>
      <vt:lpstr>UNIX and Portability</vt:lpstr>
      <vt:lpstr>UNIX</vt:lpstr>
      <vt:lpstr>1983-1985</vt:lpstr>
      <vt:lpstr>Linux</vt:lpstr>
      <vt:lpstr>What is so Good About Linux?</vt:lpstr>
      <vt:lpstr>What is so Good About Linux?</vt:lpstr>
      <vt:lpstr>How do companies make money with Linux?</vt:lpstr>
      <vt:lpstr>How do companies make money with Linux?</vt:lpstr>
      <vt:lpstr>How do companies make money with Linux?</vt:lpstr>
      <vt:lpstr>Linux and Android</vt:lpstr>
      <vt:lpstr>Overview of Linux</vt:lpstr>
      <vt:lpstr>PowerPoint Presentation</vt:lpstr>
      <vt:lpstr>Overview of Linux</vt:lpstr>
      <vt:lpstr>Overview of Linux</vt:lpstr>
      <vt:lpstr>Choosing an Operating System</vt:lpstr>
      <vt:lpstr>Installing Ubuntu Linux</vt:lpstr>
      <vt:lpstr>Technical Requirements</vt:lpstr>
      <vt:lpstr>64 bit operating system and Memory</vt:lpstr>
      <vt:lpstr>Choosing an Operating System</vt:lpstr>
      <vt:lpstr>Choosing A Device for a Server </vt:lpstr>
      <vt:lpstr>Determining your server’s role</vt:lpstr>
      <vt:lpstr>Ubuntu Linux – Installation Media</vt:lpstr>
      <vt:lpstr>Planning Disk Partitions </vt:lpstr>
      <vt:lpstr>Memory Management</vt:lpstr>
      <vt:lpstr>Memory Management</vt:lpstr>
      <vt:lpstr>Memory Management Unit</vt:lpstr>
      <vt:lpstr>Memory Management Unit</vt:lpstr>
      <vt:lpstr>Memory Management Unit</vt:lpstr>
      <vt:lpstr>Memory Management</vt:lpstr>
      <vt:lpstr>Memory Management</vt:lpstr>
      <vt:lpstr>Memory Management - Terms</vt:lpstr>
      <vt:lpstr>64 bit operating system and Memory Management</vt:lpstr>
      <vt:lpstr>Storage Management</vt:lpstr>
      <vt:lpstr>Storage Management</vt:lpstr>
      <vt:lpstr>Networking</vt:lpstr>
      <vt:lpstr>Security</vt:lpstr>
      <vt:lpstr>Lab Environments</vt:lpstr>
      <vt:lpstr>References</vt:lpstr>
    </vt:vector>
  </TitlesOfParts>
  <Company>DrexelU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CCarroll</dc:creator>
  <cp:lastModifiedBy>Carroll,Christopher</cp:lastModifiedBy>
  <cp:revision>111</cp:revision>
  <dcterms:created xsi:type="dcterms:W3CDTF">2016-09-19T18:23:10Z</dcterms:created>
  <dcterms:modified xsi:type="dcterms:W3CDTF">2024-04-11T18:39:34Z</dcterms:modified>
</cp:coreProperties>
</file>