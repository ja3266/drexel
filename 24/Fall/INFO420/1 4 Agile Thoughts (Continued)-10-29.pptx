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13" r:id="rId2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5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7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A42AF1-F2DA-438E-97D3-91F97A6B3D3E}" v="1" dt="2024-10-31T15:54:11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0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anari,Ram" userId="02856744-c91b-43e7-bdf8-9a8e0a3aefd7" providerId="ADAL" clId="{E4A42AF1-F2DA-438E-97D3-91F97A6B3D3E}"/>
    <pc:docChg chg="addSld modSld">
      <pc:chgData name="Arthanari,Ram" userId="02856744-c91b-43e7-bdf8-9a8e0a3aefd7" providerId="ADAL" clId="{E4A42AF1-F2DA-438E-97D3-91F97A6B3D3E}" dt="2024-10-31T15:45:19.467" v="182" actId="680"/>
      <pc:docMkLst>
        <pc:docMk/>
      </pc:docMkLst>
      <pc:sldChg chg="addSp delSp modSp new mod">
        <pc:chgData name="Arthanari,Ram" userId="02856744-c91b-43e7-bdf8-9a8e0a3aefd7" providerId="ADAL" clId="{E4A42AF1-F2DA-438E-97D3-91F97A6B3D3E}" dt="2024-10-29T15:13:04.335" v="53" actId="14100"/>
        <pc:sldMkLst>
          <pc:docMk/>
          <pc:sldMk cId="1001509886" sldId="266"/>
        </pc:sldMkLst>
        <pc:spChg chg="mod">
          <ac:chgData name="Arthanari,Ram" userId="02856744-c91b-43e7-bdf8-9a8e0a3aefd7" providerId="ADAL" clId="{E4A42AF1-F2DA-438E-97D3-91F97A6B3D3E}" dt="2024-10-29T15:12:29.463" v="48" actId="20577"/>
          <ac:spMkLst>
            <pc:docMk/>
            <pc:sldMk cId="1001509886" sldId="266"/>
            <ac:spMk id="2" creationId="{9BF1A8C6-735F-7D31-44B4-A42A8B526820}"/>
          </ac:spMkLst>
        </pc:spChg>
        <pc:spChg chg="del">
          <ac:chgData name="Arthanari,Ram" userId="02856744-c91b-43e7-bdf8-9a8e0a3aefd7" providerId="ADAL" clId="{E4A42AF1-F2DA-438E-97D3-91F97A6B3D3E}" dt="2024-10-29T15:12:33.478" v="49" actId="22"/>
          <ac:spMkLst>
            <pc:docMk/>
            <pc:sldMk cId="1001509886" sldId="266"/>
            <ac:spMk id="3" creationId="{A77D51D9-CAC3-62FE-B0BF-49263EB0B8CD}"/>
          </ac:spMkLst>
        </pc:spChg>
        <pc:picChg chg="add mod ord">
          <ac:chgData name="Arthanari,Ram" userId="02856744-c91b-43e7-bdf8-9a8e0a3aefd7" providerId="ADAL" clId="{E4A42AF1-F2DA-438E-97D3-91F97A6B3D3E}" dt="2024-10-29T15:13:04.335" v="53" actId="14100"/>
          <ac:picMkLst>
            <pc:docMk/>
            <pc:sldMk cId="1001509886" sldId="266"/>
            <ac:picMk id="5" creationId="{BB7C5CE9-91B6-1E72-E96A-11606A4AA8B4}"/>
          </ac:picMkLst>
        </pc:picChg>
      </pc:sldChg>
      <pc:sldChg chg="addSp delSp modSp new mod">
        <pc:chgData name="Arthanari,Ram" userId="02856744-c91b-43e7-bdf8-9a8e0a3aefd7" providerId="ADAL" clId="{E4A42AF1-F2DA-438E-97D3-91F97A6B3D3E}" dt="2024-10-29T15:16:10.569" v="110" actId="14100"/>
        <pc:sldMkLst>
          <pc:docMk/>
          <pc:sldMk cId="2112140883" sldId="267"/>
        </pc:sldMkLst>
        <pc:spChg chg="mod">
          <ac:chgData name="Arthanari,Ram" userId="02856744-c91b-43e7-bdf8-9a8e0a3aefd7" providerId="ADAL" clId="{E4A42AF1-F2DA-438E-97D3-91F97A6B3D3E}" dt="2024-10-29T15:15:59.999" v="107" actId="20577"/>
          <ac:spMkLst>
            <pc:docMk/>
            <pc:sldMk cId="2112140883" sldId="267"/>
            <ac:spMk id="2" creationId="{1C09D245-C2FD-AF55-E67E-0672F1BD4496}"/>
          </ac:spMkLst>
        </pc:spChg>
        <pc:spChg chg="del">
          <ac:chgData name="Arthanari,Ram" userId="02856744-c91b-43e7-bdf8-9a8e0a3aefd7" providerId="ADAL" clId="{E4A42AF1-F2DA-438E-97D3-91F97A6B3D3E}" dt="2024-10-29T15:16:03.062" v="108" actId="22"/>
          <ac:spMkLst>
            <pc:docMk/>
            <pc:sldMk cId="2112140883" sldId="267"/>
            <ac:spMk id="3" creationId="{E4354E6D-5041-4725-A7C7-33E0A0B22300}"/>
          </ac:spMkLst>
        </pc:spChg>
        <pc:picChg chg="add mod ord">
          <ac:chgData name="Arthanari,Ram" userId="02856744-c91b-43e7-bdf8-9a8e0a3aefd7" providerId="ADAL" clId="{E4A42AF1-F2DA-438E-97D3-91F97A6B3D3E}" dt="2024-10-29T15:16:10.569" v="110" actId="14100"/>
          <ac:picMkLst>
            <pc:docMk/>
            <pc:sldMk cId="2112140883" sldId="267"/>
            <ac:picMk id="5" creationId="{D47F2ECC-5B5B-97EE-45A7-F2077BCFBD87}"/>
          </ac:picMkLst>
        </pc:picChg>
      </pc:sldChg>
      <pc:sldChg chg="addSp delSp modSp new mod">
        <pc:chgData name="Arthanari,Ram" userId="02856744-c91b-43e7-bdf8-9a8e0a3aefd7" providerId="ADAL" clId="{E4A42AF1-F2DA-438E-97D3-91F97A6B3D3E}" dt="2024-10-29T15:18:06.893" v="142" actId="14100"/>
        <pc:sldMkLst>
          <pc:docMk/>
          <pc:sldMk cId="3266904825" sldId="268"/>
        </pc:sldMkLst>
        <pc:spChg chg="mod">
          <ac:chgData name="Arthanari,Ram" userId="02856744-c91b-43e7-bdf8-9a8e0a3aefd7" providerId="ADAL" clId="{E4A42AF1-F2DA-438E-97D3-91F97A6B3D3E}" dt="2024-10-29T15:17:44.204" v="136" actId="20577"/>
          <ac:spMkLst>
            <pc:docMk/>
            <pc:sldMk cId="3266904825" sldId="268"/>
            <ac:spMk id="2" creationId="{F994DED1-27DE-0AC7-EEF8-384FC3F1FFFE}"/>
          </ac:spMkLst>
        </pc:spChg>
        <pc:spChg chg="del">
          <ac:chgData name="Arthanari,Ram" userId="02856744-c91b-43e7-bdf8-9a8e0a3aefd7" providerId="ADAL" clId="{E4A42AF1-F2DA-438E-97D3-91F97A6B3D3E}" dt="2024-10-29T15:17:50.341" v="137" actId="22"/>
          <ac:spMkLst>
            <pc:docMk/>
            <pc:sldMk cId="3266904825" sldId="268"/>
            <ac:spMk id="3" creationId="{5841D59D-D706-23B3-7F03-49A38A0ACA35}"/>
          </ac:spMkLst>
        </pc:spChg>
        <pc:picChg chg="add mod ord">
          <ac:chgData name="Arthanari,Ram" userId="02856744-c91b-43e7-bdf8-9a8e0a3aefd7" providerId="ADAL" clId="{E4A42AF1-F2DA-438E-97D3-91F97A6B3D3E}" dt="2024-10-29T15:18:06.893" v="142" actId="14100"/>
          <ac:picMkLst>
            <pc:docMk/>
            <pc:sldMk cId="3266904825" sldId="268"/>
            <ac:picMk id="5" creationId="{9A6BB043-B22F-CEE3-4987-4BB8C9698189}"/>
          </ac:picMkLst>
        </pc:picChg>
      </pc:sldChg>
      <pc:sldChg chg="addSp delSp modSp new mod">
        <pc:chgData name="Arthanari,Ram" userId="02856744-c91b-43e7-bdf8-9a8e0a3aefd7" providerId="ADAL" clId="{E4A42AF1-F2DA-438E-97D3-91F97A6B3D3E}" dt="2024-10-29T15:20:04.688" v="181" actId="14100"/>
        <pc:sldMkLst>
          <pc:docMk/>
          <pc:sldMk cId="3389747785" sldId="269"/>
        </pc:sldMkLst>
        <pc:spChg chg="mod">
          <ac:chgData name="Arthanari,Ram" userId="02856744-c91b-43e7-bdf8-9a8e0a3aefd7" providerId="ADAL" clId="{E4A42AF1-F2DA-438E-97D3-91F97A6B3D3E}" dt="2024-10-29T15:19:35.879" v="178" actId="20577"/>
          <ac:spMkLst>
            <pc:docMk/>
            <pc:sldMk cId="3389747785" sldId="269"/>
            <ac:spMk id="2" creationId="{07C24C2F-C66B-1525-79A5-FF648CD77C4C}"/>
          </ac:spMkLst>
        </pc:spChg>
        <pc:spChg chg="del">
          <ac:chgData name="Arthanari,Ram" userId="02856744-c91b-43e7-bdf8-9a8e0a3aefd7" providerId="ADAL" clId="{E4A42AF1-F2DA-438E-97D3-91F97A6B3D3E}" dt="2024-10-29T15:19:58.544" v="179" actId="22"/>
          <ac:spMkLst>
            <pc:docMk/>
            <pc:sldMk cId="3389747785" sldId="269"/>
            <ac:spMk id="3" creationId="{6A0CFAF1-F45C-227F-1D81-04FCE0C4E5ED}"/>
          </ac:spMkLst>
        </pc:spChg>
        <pc:picChg chg="add mod ord">
          <ac:chgData name="Arthanari,Ram" userId="02856744-c91b-43e7-bdf8-9a8e0a3aefd7" providerId="ADAL" clId="{E4A42AF1-F2DA-438E-97D3-91F97A6B3D3E}" dt="2024-10-29T15:20:04.688" v="181" actId="14100"/>
          <ac:picMkLst>
            <pc:docMk/>
            <pc:sldMk cId="3389747785" sldId="269"/>
            <ac:picMk id="5" creationId="{401DB5A3-9284-D881-B013-1C63053C81FA}"/>
          </ac:picMkLst>
        </pc:picChg>
      </pc:sldChg>
      <pc:sldChg chg="new">
        <pc:chgData name="Arthanari,Ram" userId="02856744-c91b-43e7-bdf8-9a8e0a3aefd7" providerId="ADAL" clId="{E4A42AF1-F2DA-438E-97D3-91F97A6B3D3E}" dt="2024-10-31T15:45:19.467" v="182" actId="680"/>
        <pc:sldMkLst>
          <pc:docMk/>
          <pc:sldMk cId="2424045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058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410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0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3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0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8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61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8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94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11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47980">
              <a:lnSpc>
                <a:spcPts val="955"/>
              </a:lnSpc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Susan</a:t>
            </a:r>
            <a:r>
              <a:rPr spc="-15" dirty="0"/>
              <a:t> </a:t>
            </a:r>
            <a:r>
              <a:rPr dirty="0"/>
              <a:t>Gasson</a:t>
            </a:r>
            <a:r>
              <a:rPr spc="-25" dirty="0"/>
              <a:t> </a:t>
            </a:r>
            <a:r>
              <a:rPr dirty="0"/>
              <a:t>2022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533499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999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47980">
              <a:lnSpc>
                <a:spcPts val="955"/>
              </a:lnSpc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Susan</a:t>
            </a:r>
            <a:r>
              <a:rPr spc="-15" dirty="0"/>
              <a:t> </a:t>
            </a:r>
            <a:r>
              <a:rPr dirty="0"/>
              <a:t>Gasson</a:t>
            </a:r>
            <a:r>
              <a:rPr spc="-25" dirty="0"/>
              <a:t> </a:t>
            </a:r>
            <a:r>
              <a:rPr dirty="0"/>
              <a:t>2022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857685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999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47980">
              <a:lnSpc>
                <a:spcPts val="955"/>
              </a:lnSpc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Susan</a:t>
            </a:r>
            <a:r>
              <a:rPr spc="-15" dirty="0"/>
              <a:t> </a:t>
            </a:r>
            <a:r>
              <a:rPr dirty="0"/>
              <a:t>Gasson</a:t>
            </a:r>
            <a:r>
              <a:rPr spc="-25" dirty="0"/>
              <a:t> </a:t>
            </a:r>
            <a:r>
              <a:rPr dirty="0"/>
              <a:t>2022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53686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999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47980">
              <a:lnSpc>
                <a:spcPts val="955"/>
              </a:lnSpc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Susan</a:t>
            </a:r>
            <a:r>
              <a:rPr spc="-15" dirty="0"/>
              <a:t> </a:t>
            </a:r>
            <a:r>
              <a:rPr dirty="0"/>
              <a:t>Gasson</a:t>
            </a:r>
            <a:r>
              <a:rPr spc="-25" dirty="0"/>
              <a:t> </a:t>
            </a:r>
            <a:r>
              <a:rPr dirty="0"/>
              <a:t>2022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635014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47980">
              <a:lnSpc>
                <a:spcPts val="955"/>
              </a:lnSpc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Susan</a:t>
            </a:r>
            <a:r>
              <a:rPr spc="-15" dirty="0"/>
              <a:t> </a:t>
            </a:r>
            <a:r>
              <a:rPr dirty="0"/>
              <a:t>Gasson</a:t>
            </a:r>
            <a:r>
              <a:rPr spc="-25" dirty="0"/>
              <a:t> </a:t>
            </a:r>
            <a:r>
              <a:rPr dirty="0"/>
              <a:t>2022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88420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10/31/2024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6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1588" y="769620"/>
            <a:ext cx="11125199" cy="190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688" y="33406"/>
            <a:ext cx="11232515" cy="9029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999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5687" y="2079908"/>
            <a:ext cx="5487670" cy="2630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12630" y="6579634"/>
            <a:ext cx="1673225" cy="2829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47980">
              <a:lnSpc>
                <a:spcPts val="955"/>
              </a:lnSpc>
            </a:pPr>
            <a:r>
              <a:rPr dirty="0"/>
              <a:t>©</a:t>
            </a:r>
            <a:r>
              <a:rPr spc="-30" dirty="0"/>
              <a:t> </a:t>
            </a:r>
            <a:r>
              <a:rPr dirty="0"/>
              <a:t>Susan</a:t>
            </a:r>
            <a:r>
              <a:rPr spc="-15" dirty="0"/>
              <a:t> </a:t>
            </a:r>
            <a:r>
              <a:rPr dirty="0"/>
              <a:t>Gasson</a:t>
            </a:r>
            <a:r>
              <a:rPr spc="-25" dirty="0"/>
              <a:t> </a:t>
            </a:r>
            <a:r>
              <a:rPr dirty="0"/>
              <a:t>2022</a:t>
            </a:r>
            <a:r>
              <a:rPr spc="-3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4978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s://blog.bydrec.com/a-comprehensive-comparison-between-the-agile-scrum-and-waterfall-methodology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umar-solutions.com/white-papers/agile-automated-whitepaper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disciplined-agile/inception-goals/explore-initial-scope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blog.bydrec.com/a-comprehensive-comparison-between-the-agile-scrum-and-waterfall-methodology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slideLayout" Target="../slideLayouts/slideLayout16.xml"/><Relationship Id="rId1" Type="http://schemas.openxmlformats.org/officeDocument/2006/relationships/video" Target="https://www.youtube.com/embed/SWDhGSZNF9M?feature=oembed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hyperlink" Target="https://resources.scrumalliance.org/Article/how-scrum-scrum-teams-work" TargetMode="External"/><Relationship Id="rId7" Type="http://schemas.openxmlformats.org/officeDocument/2006/relationships/image" Target="../media/image43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jp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dev.to/lanars_inc/what-an-agile-software-development-team-structure-looks-like-5h8i" TargetMode="External"/><Relationship Id="rId4" Type="http://schemas.openxmlformats.org/officeDocument/2006/relationships/image" Target="../media/image60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agile/project-management/program" TargetMode="Externa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7mMQtDbfzCw?feature=oembed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sbH-ZpDQ18Q?feature=oembed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www.agilemodeling.com/essays/changeManagement.htm" TargetMode="External"/><Relationship Id="rId4" Type="http://schemas.openxmlformats.org/officeDocument/2006/relationships/hyperlink" Target="http://www.dyve.com/dv/methodology.htm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rike.com/agile-guide/agile-epics-guide/" TargetMode="Externa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" Type="http://schemas.openxmlformats.org/officeDocument/2006/relationships/image" Target="../media/image75.png"/><Relationship Id="rId21" Type="http://schemas.openxmlformats.org/officeDocument/2006/relationships/image" Target="../media/image93.png"/><Relationship Id="rId34" Type="http://schemas.openxmlformats.org/officeDocument/2006/relationships/image" Target="../media/image10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33" Type="http://schemas.openxmlformats.org/officeDocument/2006/relationships/image" Target="../media/image105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24" Type="http://schemas.openxmlformats.org/officeDocument/2006/relationships/image" Target="../media/image96.png"/><Relationship Id="rId32" Type="http://schemas.openxmlformats.org/officeDocument/2006/relationships/image" Target="../media/image104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36" Type="http://schemas.openxmlformats.org/officeDocument/2006/relationships/image" Target="../media/image108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31" Type="http://schemas.openxmlformats.org/officeDocument/2006/relationships/image" Target="../media/image103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Relationship Id="rId35" Type="http://schemas.openxmlformats.org/officeDocument/2006/relationships/image" Target="../media/image107.png"/><Relationship Id="rId8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2.png"/><Relationship Id="rId4" Type="http://schemas.openxmlformats.org/officeDocument/2006/relationships/image" Target="../media/image111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9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26" Type="http://schemas.openxmlformats.org/officeDocument/2006/relationships/image" Target="../media/image147.png"/><Relationship Id="rId3" Type="http://schemas.openxmlformats.org/officeDocument/2006/relationships/image" Target="../media/image124.png"/><Relationship Id="rId21" Type="http://schemas.openxmlformats.org/officeDocument/2006/relationships/image" Target="../media/image142.png"/><Relationship Id="rId34" Type="http://schemas.openxmlformats.org/officeDocument/2006/relationships/image" Target="../media/image155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5" Type="http://schemas.openxmlformats.org/officeDocument/2006/relationships/image" Target="../media/image146.png"/><Relationship Id="rId33" Type="http://schemas.openxmlformats.org/officeDocument/2006/relationships/image" Target="../media/image154.png"/><Relationship Id="rId2" Type="http://schemas.openxmlformats.org/officeDocument/2006/relationships/image" Target="../media/image123.png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29" Type="http://schemas.openxmlformats.org/officeDocument/2006/relationships/image" Target="../media/image1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24" Type="http://schemas.openxmlformats.org/officeDocument/2006/relationships/image" Target="../media/image145.png"/><Relationship Id="rId32" Type="http://schemas.openxmlformats.org/officeDocument/2006/relationships/image" Target="../media/image153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28" Type="http://schemas.openxmlformats.org/officeDocument/2006/relationships/image" Target="../media/image149.png"/><Relationship Id="rId10" Type="http://schemas.openxmlformats.org/officeDocument/2006/relationships/image" Target="../media/image131.png"/><Relationship Id="rId19" Type="http://schemas.openxmlformats.org/officeDocument/2006/relationships/image" Target="../media/image140.png"/><Relationship Id="rId31" Type="http://schemas.openxmlformats.org/officeDocument/2006/relationships/image" Target="../media/image152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Relationship Id="rId27" Type="http://schemas.openxmlformats.org/officeDocument/2006/relationships/image" Target="../media/image148.png"/><Relationship Id="rId30" Type="http://schemas.openxmlformats.org/officeDocument/2006/relationships/image" Target="../media/image151.png"/><Relationship Id="rId8" Type="http://schemas.openxmlformats.org/officeDocument/2006/relationships/image" Target="../media/image12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itsadeliverything.com/bucket-planning-helpful-metaphor-for-agile-release-planning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itsadeliverything.com/bucket-planning-helpful-metaphor-for-agile-release-planning" TargetMode="External"/><Relationship Id="rId4" Type="http://schemas.openxmlformats.org/officeDocument/2006/relationships/image" Target="../media/image16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F176A-9349-4CD7-8042-59C0200C8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0904" y="-4078"/>
            <a:ext cx="4641096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63CE1-FEB4-69AC-E3C0-F54E72029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" r="-2" b="-2"/>
          <a:stretch/>
        </p:blipFill>
        <p:spPr>
          <a:xfrm>
            <a:off x="20" y="1074544"/>
            <a:ext cx="7573364" cy="506986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9A171F-91A7-42F8-B25C-E38B244E7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5467" y="1095508"/>
            <a:ext cx="4606533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C0399-0FF4-F44C-1E43-6886171B0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503" y="1709530"/>
            <a:ext cx="3754671" cy="2528515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Agile Thoughts (Continued)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1FEDC-5977-E29E-C790-229724965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6915" y="4238046"/>
            <a:ext cx="3751260" cy="1741404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Dr. Ram Arthanari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851D67-7085-40E2-B146-F91433A28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405"/>
            <a:ext cx="7534656" cy="73455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969C2C-E7E3-4052-87D4-61E733EC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1459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4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2F176A-9349-4CD7-8042-59C0200C8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0904" y="-4078"/>
            <a:ext cx="4641096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Hands holding each other's wrists and interlinked to form a circle">
            <a:extLst>
              <a:ext uri="{FF2B5EF4-FFF2-40B4-BE49-F238E27FC236}">
                <a16:creationId xmlns:a16="http://schemas.microsoft.com/office/drawing/2014/main" id="{6200A0E6-CDD2-7A5C-A7F5-779F615525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" r="-1" b="-1"/>
          <a:stretch/>
        </p:blipFill>
        <p:spPr>
          <a:xfrm>
            <a:off x="20" y="1074544"/>
            <a:ext cx="7573364" cy="506986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E9A171F-91A7-42F8-B25C-E38B244E7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5467" y="1095508"/>
            <a:ext cx="4606533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DC286-9FF0-4ED5-8F3F-342F1C6F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503" y="1709530"/>
            <a:ext cx="3754671" cy="2528515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5000"/>
              </a:lnSpc>
            </a:pPr>
            <a:r>
              <a:rPr lang="en-US" b="0" cap="all" dirty="0">
                <a:solidFill>
                  <a:schemeClr val="bg1"/>
                </a:solidFill>
              </a:rPr>
              <a:t>The Agile Manifesto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851D67-7085-40E2-B146-F91433A28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405"/>
            <a:ext cx="7534656" cy="73455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969C2C-E7E3-4052-87D4-61E733EC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1459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93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5508"/>
            <a:ext cx="4668819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BA38E-4974-4523-C9A1-7790047C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5" y="1709530"/>
            <a:ext cx="3754671" cy="2528515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3300" b="0" cap="all" dirty="0">
                <a:solidFill>
                  <a:schemeClr val="bg1"/>
                </a:solidFill>
              </a:rPr>
              <a:t>2001 – Snowbird, Utah 17 People Met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D49B71-B686-4DFD-93AD-40CB19B62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066" y="0"/>
            <a:ext cx="751993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age of a software development&#10;&#10;Description automatically generated">
            <a:extLst>
              <a:ext uri="{FF2B5EF4-FFF2-40B4-BE49-F238E27FC236}">
                <a16:creationId xmlns:a16="http://schemas.microsoft.com/office/drawing/2014/main" id="{F0828142-32E3-0E68-50EE-E5EEFDB01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6190" y="120952"/>
            <a:ext cx="5409810" cy="6364484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653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4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4D994-6C78-0179-C82C-2D7CEBB61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6EA989C-BECA-0299-3DD7-40BB1E1A6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57">
            <a:extLst>
              <a:ext uri="{FF2B5EF4-FFF2-40B4-BE49-F238E27FC236}">
                <a16:creationId xmlns:a16="http://schemas.microsoft.com/office/drawing/2014/main" id="{2CE3813B-A531-E516-0BB0-D6AD3D4D2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E0A312-2ABE-68CB-8A9D-B6A9C1505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7D36EBB-BA09-1E04-F2CE-852AE7799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30C83E-19C2-3B71-2372-B30758579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5508"/>
            <a:ext cx="4668819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FAE30-6CC2-0C1D-DA8A-7E73C242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5" y="1709530"/>
            <a:ext cx="3754671" cy="2528515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3300" b="0" cap="all" dirty="0">
                <a:solidFill>
                  <a:schemeClr val="bg1"/>
                </a:solidFill>
              </a:rPr>
              <a:t>12 Agile Principles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7E7D92-375A-C28E-A9A1-9FCDBB9F4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066" y="0"/>
            <a:ext cx="751993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73DF21-B920-3C8C-F886-18AFD90BE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653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269DF0-2E66-9099-3A12-C278DA287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6896" y="27781"/>
            <a:ext cx="4861076" cy="6830219"/>
          </a:xfrm>
        </p:spPr>
      </p:pic>
    </p:spTree>
    <p:extLst>
      <p:ext uri="{BB962C8B-B14F-4D97-AF65-F5344CB8AC3E}">
        <p14:creationId xmlns:p14="http://schemas.microsoft.com/office/powerpoint/2010/main" val="223461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8435-5B23-7CB5-DDC9-4C925A00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Projects</a:t>
            </a:r>
            <a:br>
              <a:rPr lang="en-US" dirty="0"/>
            </a:br>
            <a:r>
              <a:rPr lang="en-US" dirty="0"/>
              <a:t>(Atlassian)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D8803F-FEEC-9FB0-82B4-7396FE215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4521" y="1899557"/>
            <a:ext cx="6831498" cy="2852057"/>
          </a:xfrm>
        </p:spPr>
      </p:pic>
    </p:spTree>
    <p:extLst>
      <p:ext uri="{BB962C8B-B14F-4D97-AF65-F5344CB8AC3E}">
        <p14:creationId xmlns:p14="http://schemas.microsoft.com/office/powerpoint/2010/main" val="16292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96E2-E9B2-DF81-4812-8A7EB7D15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Resilient to Change (Atlassian)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B30CDC-ECBB-21E9-73F7-E67835470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918" y="1349828"/>
            <a:ext cx="6857311" cy="2928257"/>
          </a:xfrm>
        </p:spPr>
      </p:pic>
    </p:spTree>
    <p:extLst>
      <p:ext uri="{BB962C8B-B14F-4D97-AF65-F5344CB8AC3E}">
        <p14:creationId xmlns:p14="http://schemas.microsoft.com/office/powerpoint/2010/main" val="18716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D7DF-5778-7DEC-587B-C96910463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Roadmap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9F515-9456-C6AB-BBD7-AB2F37419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5657" y="1406039"/>
            <a:ext cx="7091630" cy="2790403"/>
          </a:xfrm>
        </p:spPr>
      </p:pic>
    </p:spTree>
    <p:extLst>
      <p:ext uri="{BB962C8B-B14F-4D97-AF65-F5344CB8AC3E}">
        <p14:creationId xmlns:p14="http://schemas.microsoft.com/office/powerpoint/2010/main" val="1220578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CB2B-B231-0184-69E6-4F7F1B5D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Initiatives, Epics, User Stories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993B4-9216-B930-2936-2CBB969A9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0265" y="48986"/>
            <a:ext cx="5848350" cy="30002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6EC17A-3E0D-A3D3-D7BA-D39E7B5BB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65" y="3226207"/>
            <a:ext cx="5848350" cy="302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0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DBAD-9002-BB8E-DDFC-1D3BCD13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User Story (Atlassian)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94B5B-89ED-5C59-FAC1-888C0BF12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5591" y="1132114"/>
            <a:ext cx="7279903" cy="27051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AFB84C-332A-3F16-73D3-E2A02C2C2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26" y="4087552"/>
            <a:ext cx="7174917" cy="169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A8C6-735F-7D31-44B4-A42A8B52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880096" cy="5197498"/>
          </a:xfrm>
        </p:spPr>
        <p:txBody>
          <a:bodyPr/>
          <a:lstStyle/>
          <a:p>
            <a:r>
              <a:rPr lang="en-US" dirty="0"/>
              <a:t>Typical Agile Rituals/</a:t>
            </a:r>
            <a:br>
              <a:rPr lang="en-US" dirty="0"/>
            </a:br>
            <a:r>
              <a:rPr lang="en-US" dirty="0"/>
              <a:t>Activities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7C5CE9-91B6-1E72-E96A-11606A4AA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7814" y="879025"/>
            <a:ext cx="7177137" cy="4786989"/>
          </a:xfrm>
        </p:spPr>
      </p:pic>
    </p:spTree>
    <p:extLst>
      <p:ext uri="{BB962C8B-B14F-4D97-AF65-F5344CB8AC3E}">
        <p14:creationId xmlns:p14="http://schemas.microsoft.com/office/powerpoint/2010/main" val="100150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D245-C2FD-AF55-E67E-0672F1BD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Agile Estimation Principles (</a:t>
            </a:r>
            <a:r>
              <a:rPr lang="en-US" dirty="0" err="1"/>
              <a:t>ZenHub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F2ECC-5B5B-97EE-45A7-F2077BCFB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8686" y="52874"/>
            <a:ext cx="6438900" cy="6552661"/>
          </a:xfrm>
        </p:spPr>
      </p:pic>
    </p:spTree>
    <p:extLst>
      <p:ext uri="{BB962C8B-B14F-4D97-AF65-F5344CB8AC3E}">
        <p14:creationId xmlns:p14="http://schemas.microsoft.com/office/powerpoint/2010/main" val="2112140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4C2F-C66B-1525-79A5-FF648CD7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Agile Estimation Techniques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1DB5A3-9284-D881-B013-1C63053C8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1700" y="277344"/>
            <a:ext cx="4599214" cy="5609377"/>
          </a:xfrm>
        </p:spPr>
      </p:pic>
    </p:spTree>
    <p:extLst>
      <p:ext uri="{BB962C8B-B14F-4D97-AF65-F5344CB8AC3E}">
        <p14:creationId xmlns:p14="http://schemas.microsoft.com/office/powerpoint/2010/main" val="3389747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DED1-27DE-0AC7-EEF8-384FC3F1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Bucket Theory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6BB043-B22F-CEE3-4987-4BB8C9698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8571" y="616530"/>
            <a:ext cx="7195458" cy="4799113"/>
          </a:xfrm>
        </p:spPr>
      </p:pic>
    </p:spTree>
    <p:extLst>
      <p:ext uri="{BB962C8B-B14F-4D97-AF65-F5344CB8AC3E}">
        <p14:creationId xmlns:p14="http://schemas.microsoft.com/office/powerpoint/2010/main" val="326690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9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Continuum</a:t>
            </a:r>
            <a:r>
              <a:rPr spc="-9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dirty="0"/>
              <a:t>Life</a:t>
            </a:r>
            <a:r>
              <a:rPr spc="-55" dirty="0"/>
              <a:t> </a:t>
            </a:r>
            <a:r>
              <a:rPr spc="-10" dirty="0"/>
              <a:t>Cycles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864" y="1432560"/>
            <a:ext cx="7734287" cy="4114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85400" y="5811790"/>
            <a:ext cx="7999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Source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Institute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(2017)</a:t>
            </a:r>
            <a:r>
              <a:rPr kumimoji="0" sz="1200" b="0" i="0" u="none" strike="noStrike" kern="0" cap="none" spc="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Guide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Body</a:t>
            </a:r>
            <a:r>
              <a:rPr kumimoji="0" sz="12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Knowledge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(PMBoK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Guide)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6</a:t>
            </a:r>
            <a:r>
              <a:rPr kumimoji="0" sz="1200" b="0" i="1" u="none" strike="noStrike" kern="0" cap="none" spc="0" normalizeH="0" baseline="24305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</a:t>
            </a:r>
            <a:r>
              <a:rPr kumimoji="0" sz="1200" b="0" i="1" u="none" strike="noStrike" kern="0" cap="none" spc="120" normalizeH="0" baseline="24305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Edition,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Appendix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X3: Agile,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Iterative,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Adaptive,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Hybrid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Environments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10468" y="6683375"/>
            <a:ext cx="117538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9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Waterfall</a:t>
            </a:r>
            <a:r>
              <a:rPr spc="-170" dirty="0"/>
              <a:t> </a:t>
            </a:r>
            <a:r>
              <a:rPr dirty="0"/>
              <a:t>Vs.</a:t>
            </a:r>
            <a:r>
              <a:rPr spc="-175" dirty="0"/>
              <a:t> </a:t>
            </a:r>
            <a:r>
              <a:rPr spc="-10" dirty="0"/>
              <a:t>Agile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106" y="4405710"/>
            <a:ext cx="11261090" cy="237236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82245" marR="1016000" lvl="0" indent="-170180" defTabSz="914400" eaLnBrk="1" fontAlgn="auto" latinLnBrk="0" hangingPunct="1">
              <a:lnSpc>
                <a:spcPct val="70000"/>
              </a:lnSpc>
              <a:spcBef>
                <a:spcPts val="785"/>
              </a:spcBef>
              <a:spcAft>
                <a:spcPts val="0"/>
              </a:spcAft>
              <a:buClr>
                <a:srgbClr val="007373"/>
              </a:buClr>
              <a:buSzPct val="76315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9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waterfall</a:t>
            </a:r>
            <a:r>
              <a:rPr kumimoji="0" sz="19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development,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sz="19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decisions</a:t>
            </a:r>
            <a:r>
              <a:rPr kumimoji="0" sz="19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during</a:t>
            </a:r>
            <a:r>
              <a:rPr kumimoji="0" sz="19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9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definition,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design,</a:t>
            </a:r>
            <a:r>
              <a:rPr kumimoji="0" sz="19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implementation,</a:t>
            </a:r>
            <a:r>
              <a:rPr kumimoji="0" sz="19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testing</a:t>
            </a:r>
            <a:r>
              <a:rPr kumimoji="0" sz="19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later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prove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wrong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choice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0" lvl="1" indent="-170815" defTabSz="914400" eaLnBrk="1" fontAlgn="auto" latinLnBrk="0" hangingPunct="1">
              <a:lnSpc>
                <a:spcPts val="1805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process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formal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0" lvl="1" indent="-170815" defTabSz="91440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still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spend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≈70%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budget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maintenance,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fixing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things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694055" lvl="0" indent="-170180" defTabSz="914400" eaLnBrk="1" fontAlgn="auto" latinLnBrk="0" hangingPunct="1">
              <a:lnSpc>
                <a:spcPct val="70000"/>
              </a:lnSpc>
              <a:spcBef>
                <a:spcPts val="1195"/>
              </a:spcBef>
              <a:spcAft>
                <a:spcPts val="0"/>
              </a:spcAft>
              <a:buClr>
                <a:srgbClr val="007373"/>
              </a:buClr>
              <a:buSzPct val="76315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9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9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development,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confronted</a:t>
            </a:r>
            <a:r>
              <a:rPr kumimoji="0" sz="19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consequences</a:t>
            </a:r>
            <a:r>
              <a:rPr kumimoji="0" sz="19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9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decisions</a:t>
            </a:r>
            <a:r>
              <a:rPr kumimoji="0" sz="19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9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additional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9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9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evolve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9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fit</a:t>
            </a:r>
            <a:r>
              <a:rPr kumimoji="0" sz="19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19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now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0" lvl="1" indent="-170815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fix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things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don’t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better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(fewer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$$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maintenance)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0" lvl="1" indent="-170815" defTabSz="914400" eaLnBrk="1" fontAlgn="auto" latinLnBrk="0" hangingPunct="1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frequent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interactions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stakeholders,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understand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misinterpreted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requirements!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400" b="0" i="0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https://blog.bydrec.com/a-comprehensive-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comparison-between-the-agile-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scrum-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and-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waterfall-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methodology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520" y="881633"/>
            <a:ext cx="5434571" cy="34769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81634"/>
            <a:ext cx="5522224" cy="34776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48525" y="6706234"/>
            <a:ext cx="117538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932" y="97445"/>
            <a:ext cx="757300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Traditional</a:t>
            </a:r>
            <a:r>
              <a:rPr spc="-125" dirty="0"/>
              <a:t> </a:t>
            </a:r>
            <a:r>
              <a:rPr dirty="0"/>
              <a:t>Vs.</a:t>
            </a:r>
            <a:r>
              <a:rPr spc="-140" dirty="0"/>
              <a:t> </a:t>
            </a:r>
            <a:r>
              <a:rPr dirty="0"/>
              <a:t>Agile</a:t>
            </a:r>
            <a:r>
              <a:rPr spc="-120" dirty="0"/>
              <a:t> </a:t>
            </a:r>
            <a:r>
              <a:rPr dirty="0"/>
              <a:t>Project</a:t>
            </a:r>
            <a:r>
              <a:rPr spc="-130" dirty="0"/>
              <a:t> </a:t>
            </a:r>
            <a:r>
              <a:rPr spc="-10" dirty="0"/>
              <a:t>Emphasis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2715" y="763672"/>
          <a:ext cx="11213465" cy="5938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9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Waterfall/Traditional</a:t>
                      </a:r>
                      <a:r>
                        <a:rPr sz="1600" b="1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Agile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8580">
                        <a:lnSpc>
                          <a:spcPts val="182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devt.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divided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into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distinct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sequential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phases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broken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down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rapid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(two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four-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week)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cycles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68580">
                        <a:lnSpc>
                          <a:spcPts val="182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Predictive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used,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work-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8580" marR="17970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breakdown</a:t>
                      </a:r>
                      <a:r>
                        <a:rPr sz="1600" spc="-6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structure</a:t>
                      </a:r>
                      <a:r>
                        <a:rPr sz="16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defined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around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components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functional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requirements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20"/>
                        </a:lnSpc>
                      </a:pP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Progressive</a:t>
                      </a:r>
                      <a:r>
                        <a:rPr sz="1600" spc="-3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elaboration</a:t>
                      </a:r>
                      <a:r>
                        <a:rPr sz="1600" spc="-3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employed,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feature-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215" marR="1568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breakdown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structure.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allows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fill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emerge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(see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rolling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wave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planning,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below)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9215">
                        <a:lnSpc>
                          <a:spcPts val="182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scope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defined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advance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Scope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allowed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development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69215">
                        <a:lnSpc>
                          <a:spcPts val="182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usually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limited,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managed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215" marR="6680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formal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management process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82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integrated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backlog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items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are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215" marR="2108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(re)prioritized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cycle.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means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items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completed,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present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time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69850">
                        <a:lnSpc>
                          <a:spcPts val="182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involvement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clients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milestones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deliverables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acceptance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client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participation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throughout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–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 marR="34480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client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busy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sponsor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does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agree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managers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prioritization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Features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prioritized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a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 marR="1593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means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WBS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decomposition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dependencies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Features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prioritized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Scope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stage,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defining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 marR="42989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Epics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Themes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implemented,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what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deliver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value).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 marR="14097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decomposed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feature-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decomposition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approach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work-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breakdown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structure,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sprint,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prioritized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according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client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needs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Focus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mindset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2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mindset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focus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delivering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scope,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time,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budget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sz="1600" spc="-4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mindset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focus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delivering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value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the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customer,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whatever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turns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mean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assurance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testing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follows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devt.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14"/>
                        </a:lnSpc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Testing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performed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parallel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development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70485">
                        <a:lnSpc>
                          <a:spcPts val="1814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Risks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Price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quote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Materials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bid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1425" y="2879408"/>
            <a:ext cx="9022968" cy="37687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An</a:t>
            </a:r>
            <a:r>
              <a:rPr sz="3600" spc="-70" dirty="0"/>
              <a:t> </a:t>
            </a:r>
            <a:r>
              <a:rPr sz="3600" dirty="0"/>
              <a:t>Agile</a:t>
            </a:r>
            <a:r>
              <a:rPr sz="3600" spc="-40" dirty="0"/>
              <a:t> </a:t>
            </a:r>
            <a:r>
              <a:rPr sz="3600" dirty="0"/>
              <a:t>PMLC</a:t>
            </a:r>
            <a:r>
              <a:rPr sz="3600" spc="-55" dirty="0"/>
              <a:t> </a:t>
            </a:r>
            <a:r>
              <a:rPr sz="3600" dirty="0"/>
              <a:t>Develops</a:t>
            </a:r>
            <a:r>
              <a:rPr sz="3600" spc="-45" dirty="0"/>
              <a:t> </a:t>
            </a:r>
            <a:r>
              <a:rPr sz="3600" dirty="0"/>
              <a:t>Systems</a:t>
            </a:r>
            <a:r>
              <a:rPr sz="3600" spc="-75" dirty="0"/>
              <a:t> </a:t>
            </a:r>
            <a:r>
              <a:rPr sz="3600" dirty="0"/>
              <a:t>in</a:t>
            </a:r>
            <a:r>
              <a:rPr sz="3600" spc="-35" dirty="0"/>
              <a:t> </a:t>
            </a:r>
            <a:r>
              <a:rPr sz="3600" dirty="0"/>
              <a:t>Rapid</a:t>
            </a:r>
            <a:r>
              <a:rPr sz="3600" spc="-30" dirty="0"/>
              <a:t> </a:t>
            </a:r>
            <a:r>
              <a:rPr sz="3600" spc="-10" dirty="0"/>
              <a:t>Increments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83514" y="6600387"/>
            <a:ext cx="118338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Diagram</a:t>
            </a:r>
            <a:r>
              <a:rPr kumimoji="0" sz="14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adapted from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Jumar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Solutions</a:t>
            </a:r>
            <a:r>
              <a:rPr kumimoji="0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Limited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(2010),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Automated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Whitepaper,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sng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http://www.jumar-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solutions.com/white-papers/agile-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automated-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whitepaper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107" y="974807"/>
            <a:ext cx="11075670" cy="202818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836294" lvl="0" indent="0" defTabSz="914400" eaLnBrk="1" fontAlgn="auto" latinLnBrk="0" hangingPunct="1">
              <a:lnSpc>
                <a:spcPts val="1939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approaches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initial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problem-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analysis,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solution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scoping, and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project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planning/budget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 (just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 traditional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7815" marR="309880" lvl="0" indent="-285750" defTabSz="914400" eaLnBrk="1" fontAlgn="auto" latinLnBrk="0" hangingPunct="1">
              <a:lnSpc>
                <a:spcPts val="1939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0" cap="none" spc="0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Wingdings 3"/>
                <a:cs typeface="Wingdings 3"/>
              </a:rPr>
              <a:t>⯈</a:t>
            </a:r>
            <a:r>
              <a:rPr kumimoji="0" sz="1450" b="0" i="0" u="none" strike="noStrike" kern="0" cap="none" spc="70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generates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(requirements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cases)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agreed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client,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then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stored,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priority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order,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8450" marR="5080" lvl="0" indent="-285750" defTabSz="914400" eaLnBrk="1" fontAlgn="auto" latinLnBrk="0" hangingPunct="1">
              <a:lnSpc>
                <a:spcPts val="1939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0" cap="none" spc="0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Wingdings 3"/>
                <a:cs typeface="Wingdings 3"/>
              </a:rPr>
              <a:t>⯈</a:t>
            </a:r>
            <a:r>
              <a:rPr kumimoji="0" sz="1450" b="0" i="0" u="none" strike="noStrike" kern="0" cap="none" spc="80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task-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testing,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evaluation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(here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Sprint)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highest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priority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integrates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prototype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7815" marR="371475" lvl="0" indent="-285750" defTabSz="914400" eaLnBrk="1" fontAlgn="auto" latinLnBrk="0" hangingPunct="1">
              <a:lnSpc>
                <a:spcPts val="1939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0" cap="none" spc="0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Wingdings 3"/>
                <a:cs typeface="Wingdings 3"/>
              </a:rPr>
              <a:t>⯈</a:t>
            </a:r>
            <a:r>
              <a:rPr kumimoji="0" sz="1450" b="0" i="0" u="none" strike="noStrike" kern="0" cap="none" spc="75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developed,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type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implementation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traditional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6020" y="6061529"/>
            <a:ext cx="706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a.k.a.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Scope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Bank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54480" y="5424678"/>
            <a:ext cx="525780" cy="530860"/>
            <a:chOff x="1554480" y="5424678"/>
            <a:chExt cx="525780" cy="5308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4480" y="5424678"/>
              <a:ext cx="525779" cy="5303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6870" y="5551932"/>
              <a:ext cx="380999" cy="27584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81920" y="5939182"/>
            <a:ext cx="41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571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System scoping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3842" y="5939182"/>
            <a:ext cx="488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5080" lvl="0" indent="-2032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Business Analysis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8200" y="5391911"/>
            <a:ext cx="4648200" cy="596265"/>
            <a:chOff x="838200" y="5391911"/>
            <a:chExt cx="4648200" cy="59626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0" y="5391911"/>
              <a:ext cx="718565" cy="59588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74235" y="5484875"/>
              <a:ext cx="1312545" cy="342900"/>
            </a:xfrm>
            <a:custGeom>
              <a:avLst/>
              <a:gdLst/>
              <a:ahLst/>
              <a:cxnLst/>
              <a:rect l="l" t="t" r="r" b="b"/>
              <a:pathLst>
                <a:path w="1312545" h="342900">
                  <a:moveTo>
                    <a:pt x="1140714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140714" y="342900"/>
                  </a:lnTo>
                  <a:lnTo>
                    <a:pt x="1312164" y="171450"/>
                  </a:lnTo>
                  <a:lnTo>
                    <a:pt x="1140714" y="0"/>
                  </a:lnTo>
                  <a:close/>
                </a:path>
              </a:pathLst>
            </a:custGeom>
            <a:solidFill>
              <a:srgbClr val="5E700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92451" y="5955029"/>
            <a:ext cx="638810" cy="2768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" rIns="0" bIns="0" rtlCol="0">
            <a:spAutoFit/>
          </a:bodyPr>
          <a:lstStyle/>
          <a:p>
            <a:pPr marL="205104" marR="118110" lvl="0" indent="-79375" defTabSz="914400" eaLnBrk="1" fontAlgn="auto" latinLnBrk="0" hangingPunct="1">
              <a:lnSpc>
                <a:spcPts val="108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Version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Plan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06846" y="3507485"/>
            <a:ext cx="1000760" cy="24637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Build</a:t>
            </a:r>
            <a:r>
              <a:rPr kumimoji="0" sz="10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Cycle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Timebox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07351" y="5487480"/>
            <a:ext cx="1164590" cy="3003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Features</a:t>
            </a:r>
            <a:r>
              <a:rPr kumimoji="0" sz="1000" b="0" i="1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1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be </a:t>
            </a: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developed</a:t>
            </a:r>
            <a:r>
              <a:rPr kumimoji="0" sz="1000" b="0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1000" b="0" i="1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1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cycle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70214" y="3064764"/>
            <a:ext cx="1000125" cy="12382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 marR="0" lvl="0" indent="0" defTabSz="914400" eaLnBrk="1" fontAlgn="auto" latinLnBrk="0" hangingPunct="1">
              <a:lnSpc>
                <a:spcPts val="9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Version</a:t>
            </a:r>
            <a:r>
              <a:rPr kumimoji="0" sz="10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Timebox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85053" y="4866132"/>
            <a:ext cx="481965" cy="368935"/>
          </a:xfrm>
          <a:custGeom>
            <a:avLst/>
            <a:gdLst/>
            <a:ahLst/>
            <a:cxnLst/>
            <a:rect l="l" t="t" r="r" b="b"/>
            <a:pathLst>
              <a:path w="481964" h="368935">
                <a:moveTo>
                  <a:pt x="481584" y="0"/>
                </a:moveTo>
                <a:lnTo>
                  <a:pt x="0" y="0"/>
                </a:lnTo>
                <a:lnTo>
                  <a:pt x="0" y="368808"/>
                </a:lnTo>
                <a:lnTo>
                  <a:pt x="481584" y="368808"/>
                </a:lnTo>
                <a:lnTo>
                  <a:pt x="481584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5053" y="4866132"/>
            <a:ext cx="481965" cy="109855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0" rIns="0" bIns="0" rtlCol="0">
            <a:spAutoFit/>
          </a:bodyPr>
          <a:lstStyle/>
          <a:p>
            <a:pPr marL="7620" marR="0" lvl="0" indent="0" defTabSz="914400" eaLnBrk="1" fontAlgn="auto" latinLnBrk="0" hangingPunct="1">
              <a:lnSpc>
                <a:spcPts val="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weeks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5053" y="4975593"/>
            <a:ext cx="481965" cy="121920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0" rIns="0" bIns="0" rtlCol="0">
            <a:spAutoFit/>
          </a:bodyPr>
          <a:lstStyle/>
          <a:p>
            <a:pPr marL="11430" marR="0" lvl="0" indent="0" defTabSz="91440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average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85053" y="5097503"/>
            <a:ext cx="481965" cy="137795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0" rIns="0" bIns="0" rtlCol="0">
            <a:spAutoFit/>
          </a:bodyPr>
          <a:lstStyle/>
          <a:p>
            <a:pPr marL="6223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cycles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2834" y="0"/>
            <a:ext cx="5278373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8679" y="44371"/>
            <a:ext cx="32518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Exploring</a:t>
            </a:r>
            <a:r>
              <a:rPr spc="-4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0734" y="848201"/>
            <a:ext cx="5666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several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reasons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why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explore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initial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detail: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735" y="1156811"/>
            <a:ext cx="10223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🞂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Wingdings 3"/>
              <a:cs typeface="Wingdings 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735" y="2454497"/>
            <a:ext cx="10223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🞂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Wingdings 3"/>
              <a:cs typeface="Wingdings 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735" y="3135725"/>
            <a:ext cx="10223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🞂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Wingdings 3"/>
              <a:cs typeface="Wingdings 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660" y="1124045"/>
            <a:ext cx="5941695" cy="28505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92710" lvl="0" indent="0" defTabSz="914400" eaLnBrk="1" fontAlgn="auto" latinLnBrk="0" hangingPunct="1">
              <a:lnSpc>
                <a:spcPts val="162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1" i="0" u="none" strike="noStrike" kern="0" cap="none" spc="-5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answer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common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stakeholder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questions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Before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providing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funding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rest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effort,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likely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ask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us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fundamental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questions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as: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going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deliver?</a:t>
            </a:r>
            <a:r>
              <a:rPr kumimoji="0" sz="1500" b="0" i="0" u="none" strike="noStrike" kern="0" cap="none" spc="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much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cost?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will you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deliver</a:t>
            </a:r>
            <a:r>
              <a:rPr kumimoji="0" sz="1500" b="0" i="0" u="none" strike="noStrike" kern="0" cap="none" spc="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it?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7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answer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questions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will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believe the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initial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release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500" b="0" i="0" u="none" strike="noStrike" kern="0" cap="none" spc="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be.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64465" lvl="0" indent="0" defTabSz="914400" eaLnBrk="1" fontAlgn="auto" latinLnBrk="0" hangingPunct="1">
              <a:lnSpc>
                <a:spcPts val="162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1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1500" b="1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initially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enough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elicitation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understand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confidently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begin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Construction.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162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1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1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reasonable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expectations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1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1500" b="1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deliver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Both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stakeholders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come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agreement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reasonable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current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being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funded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you’re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all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towards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vision.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734" y="4046315"/>
            <a:ext cx="8191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500" b="0" i="0" u="none" strike="noStrike" kern="0" cap="none" spc="-55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735" y="4354925"/>
            <a:ext cx="10223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🞂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Wingdings 3"/>
              <a:cs typeface="Wingdings 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0735" y="4829651"/>
            <a:ext cx="10223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🞂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Wingdings 3"/>
              <a:cs typeface="Wingdings 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735" y="5208365"/>
            <a:ext cx="102235" cy="5651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🞂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Wingdings 3"/>
              <a:cs typeface="Wingdings 3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🞂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Wingdings 3"/>
              <a:cs typeface="Wingdings 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660" y="4322159"/>
            <a:ext cx="5902325" cy="167893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62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enough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requirements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exploration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understand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we’re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trying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achieve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team.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8575" lvl="0" indent="0" defTabSz="914400" eaLnBrk="1" fontAlgn="auto" latinLnBrk="0" hangingPunct="1">
              <a:lnSpc>
                <a:spcPts val="162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epics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supplemented with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models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explore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domain,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experience,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process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concerns.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strategy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agree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upon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quality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requirements.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06045" lvl="0" indent="0" defTabSz="914400" eaLnBrk="1" fontAlgn="auto" latinLnBrk="0" hangingPunct="1">
              <a:lnSpc>
                <a:spcPts val="1620"/>
              </a:lnSpc>
              <a:spcBef>
                <a:spcPts val="5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Consider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techniques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prioritize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manage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work.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734" y="6604113"/>
            <a:ext cx="5225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595958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200" b="0" i="0" u="none" strike="noStrike" kern="0" cap="none" spc="340" normalizeH="0" baseline="0" noProof="0" dirty="0">
                <a:ln>
                  <a:noFill/>
                </a:ln>
                <a:solidFill>
                  <a:srgbClr val="59595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595958"/>
                </a:solidFill>
                <a:effectLst/>
                <a:uLnTx/>
                <a:uFillTx/>
                <a:latin typeface="Calibri"/>
                <a:cs typeface="Calibri"/>
              </a:rPr>
              <a:t>&lt;</a:t>
            </a:r>
            <a:r>
              <a:rPr kumimoji="0" sz="12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https://www.pmi.org/disciplined-agile/inception-goals/explore-initial-scope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595958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86889" y="6656276"/>
            <a:ext cx="11753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1453" y="303965"/>
            <a:ext cx="36918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7373"/>
                </a:solidFill>
              </a:rPr>
              <a:t>Adaptive</a:t>
            </a:r>
            <a:r>
              <a:rPr spc="-85" dirty="0">
                <a:solidFill>
                  <a:srgbClr val="007373"/>
                </a:solidFill>
              </a:rPr>
              <a:t> </a:t>
            </a:r>
            <a:r>
              <a:rPr spc="-10" dirty="0">
                <a:solidFill>
                  <a:srgbClr val="007373"/>
                </a:solidFill>
              </a:rPr>
              <a:t>Planning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5968" y="-5968"/>
            <a:ext cx="692150" cy="6870700"/>
            <a:chOff x="-5968" y="-5968"/>
            <a:chExt cx="692150" cy="6870700"/>
          </a:xfrm>
        </p:grpSpPr>
        <p:sp>
          <p:nvSpPr>
            <p:cNvPr id="4" name="object 4"/>
            <p:cNvSpPr/>
            <p:nvPr/>
          </p:nvSpPr>
          <p:spPr>
            <a:xfrm>
              <a:off x="381" y="381"/>
              <a:ext cx="679450" cy="6858000"/>
            </a:xfrm>
            <a:custGeom>
              <a:avLst/>
              <a:gdLst/>
              <a:ahLst/>
              <a:cxnLst/>
              <a:rect l="l" t="t" r="r" b="b"/>
              <a:pathLst>
                <a:path w="679450" h="6858000">
                  <a:moveTo>
                    <a:pt x="678942" y="0"/>
                  </a:moveTo>
                  <a:lnTo>
                    <a:pt x="0" y="0"/>
                  </a:lnTo>
                  <a:lnTo>
                    <a:pt x="0" y="6857619"/>
                  </a:lnTo>
                  <a:lnTo>
                    <a:pt x="678942" y="6857619"/>
                  </a:lnTo>
                  <a:lnTo>
                    <a:pt x="678942" y="0"/>
                  </a:lnTo>
                  <a:close/>
                </a:path>
              </a:pathLst>
            </a:custGeom>
            <a:solidFill>
              <a:srgbClr val="00737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81" y="381"/>
              <a:ext cx="679450" cy="6858000"/>
            </a:xfrm>
            <a:custGeom>
              <a:avLst/>
              <a:gdLst/>
              <a:ahLst/>
              <a:cxnLst/>
              <a:rect l="l" t="t" r="r" b="b"/>
              <a:pathLst>
                <a:path w="679450" h="6858000">
                  <a:moveTo>
                    <a:pt x="0" y="0"/>
                  </a:moveTo>
                  <a:lnTo>
                    <a:pt x="678942" y="0"/>
                  </a:lnTo>
                  <a:lnTo>
                    <a:pt x="67894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35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899502" y="6673428"/>
            <a:ext cx="112458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8595" y="1185819"/>
            <a:ext cx="7452829" cy="56721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1453" y="866386"/>
            <a:ext cx="5131435" cy="536067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Adaptive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schedule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incremental</a:t>
            </a:r>
            <a:r>
              <a:rPr kumimoji="0" sz="1800" b="0" i="1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765" marR="2007870" lvl="0" indent="0" defTabSz="914400" eaLnBrk="1" fontAlgn="auto" latinLnBrk="0" hangingPunct="1">
              <a:lnSpc>
                <a:spcPts val="1939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typical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scheduling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estimation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approach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shown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2-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17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98120" marR="2013585" lvl="0" indent="-173990" defTabSz="914400" eaLnBrk="1" fontAlgn="auto" latinLnBrk="0" hangingPunct="1">
              <a:lnSpc>
                <a:spcPts val="1939"/>
              </a:lnSpc>
              <a:spcBef>
                <a:spcPts val="61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9875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high-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 plan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indicates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basic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functionality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included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 each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98120" marR="1895475" lvl="0" indent="-173990" defTabSz="914400" eaLnBrk="1" fontAlgn="auto" latinLnBrk="0" hangingPunct="1">
              <a:lnSpc>
                <a:spcPts val="1939"/>
              </a:lnSpc>
              <a:spcBef>
                <a:spcPts val="615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9875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Within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iterations.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iteration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adds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and/or stakeholder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value.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may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include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risk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reduction,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experimentation,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ways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delivering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protecting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98120" marR="1913255" lvl="0" indent="-173990" defTabSz="914400" eaLnBrk="1" fontAlgn="auto" latinLnBrk="0" hangingPunct="1">
              <a:lnSpc>
                <a:spcPts val="1939"/>
              </a:lnSpc>
              <a:spcBef>
                <a:spcPts val="63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9875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50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future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kept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high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does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engage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could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based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50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feedback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earlier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releases.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48525" y="6677659"/>
            <a:ext cx="11753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9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8303" y="6449155"/>
            <a:ext cx="4243705" cy="3549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 marR="30480" lvl="0" indent="0" defTabSz="914400" eaLnBrk="1" fontAlgn="auto" latinLnBrk="0" hangingPunct="1">
              <a:lnSpc>
                <a:spcPct val="8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Source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Institute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(2017)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Guide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Project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Body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Knowledge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(PMBoK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Guide)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1200" b="0" i="1" u="none" strike="noStrike" kern="0" cap="none" spc="0" normalizeH="0" baseline="24305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</a:t>
            </a:r>
            <a:r>
              <a:rPr kumimoji="0" sz="1200" b="0" i="1" u="none" strike="noStrike" kern="0" cap="none" spc="120" normalizeH="0" baseline="24305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Edition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683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007373"/>
                </a:solidFill>
              </a:rPr>
              <a:t>Defining</a:t>
            </a:r>
            <a:r>
              <a:rPr sz="3200" spc="-75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Scope</a:t>
            </a:r>
            <a:r>
              <a:rPr sz="3200" spc="-75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With</a:t>
            </a:r>
            <a:r>
              <a:rPr sz="3200" spc="-75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an</a:t>
            </a:r>
            <a:r>
              <a:rPr sz="3200" spc="-80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Agile</a:t>
            </a:r>
            <a:r>
              <a:rPr sz="3200" spc="-70" dirty="0">
                <a:solidFill>
                  <a:srgbClr val="007373"/>
                </a:solidFill>
              </a:rPr>
              <a:t> </a:t>
            </a:r>
            <a:r>
              <a:rPr sz="3200" spc="-10" dirty="0">
                <a:solidFill>
                  <a:srgbClr val="007373"/>
                </a:solidFill>
              </a:rPr>
              <a:t>Project</a:t>
            </a:r>
            <a:r>
              <a:rPr sz="3200" spc="-85" dirty="0">
                <a:solidFill>
                  <a:srgbClr val="007373"/>
                </a:solidFill>
              </a:rPr>
              <a:t> </a:t>
            </a:r>
            <a:r>
              <a:rPr sz="3200" spc="-10" dirty="0">
                <a:solidFill>
                  <a:srgbClr val="007373"/>
                </a:solidFill>
              </a:rPr>
              <a:t>Management</a:t>
            </a:r>
            <a:r>
              <a:rPr sz="3200" spc="-65" dirty="0">
                <a:solidFill>
                  <a:srgbClr val="007373"/>
                </a:solidFill>
              </a:rPr>
              <a:t> </a:t>
            </a:r>
            <a:r>
              <a:rPr sz="3200" spc="-45" dirty="0">
                <a:solidFill>
                  <a:srgbClr val="007373"/>
                </a:solidFill>
              </a:rPr>
              <a:t>Life-</a:t>
            </a:r>
            <a:r>
              <a:rPr sz="3200" spc="-10" dirty="0">
                <a:solidFill>
                  <a:srgbClr val="007373"/>
                </a:solidFill>
              </a:rPr>
              <a:t>Cycle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360798" y="2769107"/>
            <a:ext cx="1448435" cy="658495"/>
            <a:chOff x="4360798" y="2769107"/>
            <a:chExt cx="1448435" cy="658495"/>
          </a:xfrm>
        </p:grpSpPr>
        <p:sp>
          <p:nvSpPr>
            <p:cNvPr id="4" name="object 4"/>
            <p:cNvSpPr/>
            <p:nvPr/>
          </p:nvSpPr>
          <p:spPr>
            <a:xfrm>
              <a:off x="5122925" y="2769107"/>
              <a:ext cx="475615" cy="381000"/>
            </a:xfrm>
            <a:custGeom>
              <a:avLst/>
              <a:gdLst/>
              <a:ahLst/>
              <a:cxnLst/>
              <a:rect l="l" t="t" r="r" b="b"/>
              <a:pathLst>
                <a:path w="475614" h="381000">
                  <a:moveTo>
                    <a:pt x="427863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32613" y="95250"/>
                  </a:lnTo>
                  <a:lnTo>
                    <a:pt x="332613" y="285750"/>
                  </a:lnTo>
                  <a:lnTo>
                    <a:pt x="284988" y="285750"/>
                  </a:lnTo>
                  <a:lnTo>
                    <a:pt x="380238" y="381000"/>
                  </a:lnTo>
                  <a:lnTo>
                    <a:pt x="475488" y="285750"/>
                  </a:lnTo>
                  <a:lnTo>
                    <a:pt x="427863" y="285750"/>
                  </a:lnTo>
                  <a:lnTo>
                    <a:pt x="427863" y="0"/>
                  </a:lnTo>
                  <a:close/>
                </a:path>
              </a:pathLst>
            </a:custGeom>
            <a:solidFill>
              <a:srgbClr val="BCDAD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3973" y="3155441"/>
              <a:ext cx="1441703" cy="2689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63973" y="3155441"/>
              <a:ext cx="1442085" cy="269240"/>
            </a:xfrm>
            <a:custGeom>
              <a:avLst/>
              <a:gdLst/>
              <a:ahLst/>
              <a:cxnLst/>
              <a:rect l="l" t="t" r="r" b="b"/>
              <a:pathLst>
                <a:path w="1442085" h="269239">
                  <a:moveTo>
                    <a:pt x="0" y="0"/>
                  </a:moveTo>
                  <a:lnTo>
                    <a:pt x="1441703" y="0"/>
                  </a:lnTo>
                  <a:lnTo>
                    <a:pt x="1441703" y="268986"/>
                  </a:lnTo>
                  <a:lnTo>
                    <a:pt x="0" y="268986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86388" y="3139253"/>
            <a:ext cx="11982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34984" y="4063619"/>
            <a:ext cx="842644" cy="447675"/>
            <a:chOff x="8134984" y="4063619"/>
            <a:chExt cx="842644" cy="4476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159" y="4066794"/>
              <a:ext cx="835913" cy="44119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38159" y="4066794"/>
              <a:ext cx="836294" cy="441325"/>
            </a:xfrm>
            <a:custGeom>
              <a:avLst/>
              <a:gdLst/>
              <a:ahLst/>
              <a:cxnLst/>
              <a:rect l="l" t="t" r="r" b="b"/>
              <a:pathLst>
                <a:path w="836295" h="441325">
                  <a:moveTo>
                    <a:pt x="0" y="0"/>
                  </a:moveTo>
                  <a:lnTo>
                    <a:pt x="835913" y="0"/>
                  </a:lnTo>
                  <a:lnTo>
                    <a:pt x="835913" y="441197"/>
                  </a:lnTo>
                  <a:lnTo>
                    <a:pt x="0" y="44119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19244" y="4052206"/>
            <a:ext cx="672465" cy="409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Test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67101" y="1997075"/>
            <a:ext cx="1533525" cy="448309"/>
            <a:chOff x="2967101" y="1997075"/>
            <a:chExt cx="1533525" cy="448309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0276" y="2000250"/>
              <a:ext cx="1527047" cy="4419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70276" y="2000250"/>
              <a:ext cx="1527175" cy="441959"/>
            </a:xfrm>
            <a:custGeom>
              <a:avLst/>
              <a:gdLst/>
              <a:ahLst/>
              <a:cxnLst/>
              <a:rect l="l" t="t" r="r" b="b"/>
              <a:pathLst>
                <a:path w="1527175" h="441960">
                  <a:moveTo>
                    <a:pt x="0" y="0"/>
                  </a:moveTo>
                  <a:lnTo>
                    <a:pt x="1527048" y="0"/>
                  </a:lnTo>
                  <a:lnTo>
                    <a:pt x="1527048" y="441960"/>
                  </a:lnTo>
                  <a:lnTo>
                    <a:pt x="0" y="44196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06612" y="1986208"/>
            <a:ext cx="1454150" cy="409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0979" marR="5080" lvl="0" indent="-208915" defTabSz="914400" eaLnBrk="1" fontAlgn="auto" latinLnBrk="0" hangingPunct="1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(Solution)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Reqs.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Analysis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593453" y="5095366"/>
            <a:ext cx="1512570" cy="447675"/>
            <a:chOff x="9593453" y="5095366"/>
            <a:chExt cx="1512570" cy="44767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6628" y="5098541"/>
              <a:ext cx="1505710" cy="4411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596628" y="5098541"/>
              <a:ext cx="1506220" cy="441325"/>
            </a:xfrm>
            <a:custGeom>
              <a:avLst/>
              <a:gdLst/>
              <a:ahLst/>
              <a:cxnLst/>
              <a:rect l="l" t="t" r="r" b="b"/>
              <a:pathLst>
                <a:path w="1506220" h="441325">
                  <a:moveTo>
                    <a:pt x="0" y="0"/>
                  </a:moveTo>
                  <a:lnTo>
                    <a:pt x="1505712" y="0"/>
                  </a:lnTo>
                  <a:lnTo>
                    <a:pt x="1505712" y="441197"/>
                  </a:lnTo>
                  <a:lnTo>
                    <a:pt x="0" y="441197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83936" y="5084344"/>
            <a:ext cx="1330960" cy="409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lvl="0" indent="188595" defTabSz="914400" eaLnBrk="1" fontAlgn="auto" latinLnBrk="0" hangingPunct="1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(User/Client) System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86095" y="3577463"/>
            <a:ext cx="2192020" cy="447675"/>
            <a:chOff x="5586095" y="3577463"/>
            <a:chExt cx="2192020" cy="44767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9270" y="3580638"/>
              <a:ext cx="2185415" cy="44119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89270" y="3580638"/>
              <a:ext cx="2185670" cy="441325"/>
            </a:xfrm>
            <a:custGeom>
              <a:avLst/>
              <a:gdLst/>
              <a:ahLst/>
              <a:cxnLst/>
              <a:rect l="l" t="t" r="r" b="b"/>
              <a:pathLst>
                <a:path w="2185670" h="441325">
                  <a:moveTo>
                    <a:pt x="0" y="0"/>
                  </a:moveTo>
                  <a:lnTo>
                    <a:pt x="2185416" y="0"/>
                  </a:lnTo>
                  <a:lnTo>
                    <a:pt x="2185416" y="441198"/>
                  </a:lnTo>
                  <a:lnTo>
                    <a:pt x="0" y="441198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693978" y="3564209"/>
            <a:ext cx="1974850" cy="409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09220" marR="5080" lvl="0" indent="-97155" defTabSz="914400" eaLnBrk="1" fontAlgn="auto" latinLnBrk="0" hangingPunct="1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Component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Test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(Implementation)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764396" y="4594733"/>
            <a:ext cx="1002030" cy="416559"/>
            <a:chOff x="8764396" y="4594733"/>
            <a:chExt cx="1002030" cy="416559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7571" y="4597908"/>
              <a:ext cx="995171" cy="40995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767571" y="4597908"/>
              <a:ext cx="995680" cy="410209"/>
            </a:xfrm>
            <a:custGeom>
              <a:avLst/>
              <a:gdLst/>
              <a:ahLst/>
              <a:cxnLst/>
              <a:rect l="l" t="t" r="r" b="b"/>
              <a:pathLst>
                <a:path w="995679" h="410210">
                  <a:moveTo>
                    <a:pt x="0" y="0"/>
                  </a:moveTo>
                  <a:lnTo>
                    <a:pt x="995172" y="0"/>
                  </a:lnTo>
                  <a:lnTo>
                    <a:pt x="995172" y="409956"/>
                  </a:lnTo>
                  <a:lnTo>
                    <a:pt x="0" y="409956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854409" y="4581597"/>
            <a:ext cx="821690" cy="409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0" marR="5080" lvl="0" indent="-146685" defTabSz="914400" eaLnBrk="1" fontAlgn="auto" latinLnBrk="0" hangingPunct="1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Integration Testing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85310" y="2565526"/>
            <a:ext cx="1247775" cy="448309"/>
            <a:chOff x="3885310" y="2565526"/>
            <a:chExt cx="1247775" cy="448309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88485" y="2568702"/>
              <a:ext cx="1241297" cy="44195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888485" y="2568701"/>
              <a:ext cx="1241425" cy="441959"/>
            </a:xfrm>
            <a:custGeom>
              <a:avLst/>
              <a:gdLst/>
              <a:ahLst/>
              <a:cxnLst/>
              <a:rect l="l" t="t" r="r" b="b"/>
              <a:pathLst>
                <a:path w="1241425" h="441960">
                  <a:moveTo>
                    <a:pt x="0" y="0"/>
                  </a:moveTo>
                  <a:lnTo>
                    <a:pt x="1241298" y="0"/>
                  </a:lnTo>
                  <a:lnTo>
                    <a:pt x="1241298" y="441960"/>
                  </a:lnTo>
                  <a:lnTo>
                    <a:pt x="0" y="44196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991264" y="2554676"/>
            <a:ext cx="1035685" cy="409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lvl="0" indent="180975" defTabSz="914400" eaLnBrk="1" fontAlgn="auto" latinLnBrk="0" hangingPunct="1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Reqs.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Analysis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77211" y="1406652"/>
            <a:ext cx="7942580" cy="3755390"/>
            <a:chOff x="2077211" y="1406652"/>
            <a:chExt cx="7942580" cy="3755390"/>
          </a:xfrm>
        </p:grpSpPr>
        <p:sp>
          <p:nvSpPr>
            <p:cNvPr id="33" name="object 33"/>
            <p:cNvSpPr/>
            <p:nvPr/>
          </p:nvSpPr>
          <p:spPr>
            <a:xfrm>
              <a:off x="4495038" y="2232659"/>
              <a:ext cx="5524500" cy="2929255"/>
            </a:xfrm>
            <a:custGeom>
              <a:avLst/>
              <a:gdLst/>
              <a:ahLst/>
              <a:cxnLst/>
              <a:rect l="l" t="t" r="r" b="b"/>
              <a:pathLst>
                <a:path w="5524500" h="2929254">
                  <a:moveTo>
                    <a:pt x="372618" y="258889"/>
                  </a:moveTo>
                  <a:lnTo>
                    <a:pt x="329476" y="258889"/>
                  </a:lnTo>
                  <a:lnTo>
                    <a:pt x="329476" y="0"/>
                  </a:lnTo>
                  <a:lnTo>
                    <a:pt x="0" y="0"/>
                  </a:lnTo>
                  <a:lnTo>
                    <a:pt x="0" y="86296"/>
                  </a:lnTo>
                  <a:lnTo>
                    <a:pt x="243166" y="86296"/>
                  </a:lnTo>
                  <a:lnTo>
                    <a:pt x="243166" y="258889"/>
                  </a:lnTo>
                  <a:lnTo>
                    <a:pt x="200025" y="258889"/>
                  </a:lnTo>
                  <a:lnTo>
                    <a:pt x="286321" y="345186"/>
                  </a:lnTo>
                  <a:lnTo>
                    <a:pt x="372618" y="258889"/>
                  </a:lnTo>
                  <a:close/>
                </a:path>
                <a:path w="5524500" h="2929254">
                  <a:moveTo>
                    <a:pt x="1786128" y="1299400"/>
                  </a:moveTo>
                  <a:lnTo>
                    <a:pt x="1746986" y="1299400"/>
                  </a:lnTo>
                  <a:lnTo>
                    <a:pt x="1746986" y="1064514"/>
                  </a:lnTo>
                  <a:lnTo>
                    <a:pt x="1310640" y="1064514"/>
                  </a:lnTo>
                  <a:lnTo>
                    <a:pt x="1310640" y="1142809"/>
                  </a:lnTo>
                  <a:lnTo>
                    <a:pt x="1668691" y="1142809"/>
                  </a:lnTo>
                  <a:lnTo>
                    <a:pt x="1668691" y="1299400"/>
                  </a:lnTo>
                  <a:lnTo>
                    <a:pt x="1629537" y="1299400"/>
                  </a:lnTo>
                  <a:lnTo>
                    <a:pt x="1707832" y="1377696"/>
                  </a:lnTo>
                  <a:lnTo>
                    <a:pt x="1786128" y="1299400"/>
                  </a:lnTo>
                  <a:close/>
                </a:path>
                <a:path w="5524500" h="2929254">
                  <a:moveTo>
                    <a:pt x="4182618" y="1763649"/>
                  </a:moveTo>
                  <a:lnTo>
                    <a:pt x="4123105" y="1763649"/>
                  </a:lnTo>
                  <a:lnTo>
                    <a:pt x="4123105" y="1543050"/>
                  </a:lnTo>
                  <a:lnTo>
                    <a:pt x="3278886" y="1543050"/>
                  </a:lnTo>
                  <a:lnTo>
                    <a:pt x="3278886" y="1643875"/>
                  </a:lnTo>
                  <a:lnTo>
                    <a:pt x="4022293" y="1643875"/>
                  </a:lnTo>
                  <a:lnTo>
                    <a:pt x="4022293" y="1763649"/>
                  </a:lnTo>
                  <a:lnTo>
                    <a:pt x="3962781" y="1763649"/>
                  </a:lnTo>
                  <a:lnTo>
                    <a:pt x="4072699" y="1837182"/>
                  </a:lnTo>
                  <a:lnTo>
                    <a:pt x="4182618" y="1763649"/>
                  </a:lnTo>
                  <a:close/>
                </a:path>
                <a:path w="5524500" h="2929254">
                  <a:moveTo>
                    <a:pt x="4887468" y="2315527"/>
                  </a:moveTo>
                  <a:lnTo>
                    <a:pt x="4843945" y="2315527"/>
                  </a:lnTo>
                  <a:lnTo>
                    <a:pt x="4843945" y="2054352"/>
                  </a:lnTo>
                  <a:lnTo>
                    <a:pt x="4466082" y="2054352"/>
                  </a:lnTo>
                  <a:lnTo>
                    <a:pt x="4466082" y="2141410"/>
                  </a:lnTo>
                  <a:lnTo>
                    <a:pt x="4756886" y="2141410"/>
                  </a:lnTo>
                  <a:lnTo>
                    <a:pt x="4756886" y="2315527"/>
                  </a:lnTo>
                  <a:lnTo>
                    <a:pt x="4713351" y="2315527"/>
                  </a:lnTo>
                  <a:lnTo>
                    <a:pt x="4800409" y="2402586"/>
                  </a:lnTo>
                  <a:lnTo>
                    <a:pt x="4887468" y="2315527"/>
                  </a:lnTo>
                  <a:close/>
                </a:path>
                <a:path w="5524500" h="2929254">
                  <a:moveTo>
                    <a:pt x="5524500" y="2856738"/>
                  </a:moveTo>
                  <a:lnTo>
                    <a:pt x="5488305" y="2856738"/>
                  </a:lnTo>
                  <a:lnTo>
                    <a:pt x="5488305" y="2602230"/>
                  </a:lnTo>
                  <a:lnTo>
                    <a:pt x="5234940" y="2602230"/>
                  </a:lnTo>
                  <a:lnTo>
                    <a:pt x="5234940" y="2674620"/>
                  </a:lnTo>
                  <a:lnTo>
                    <a:pt x="5415915" y="2674620"/>
                  </a:lnTo>
                  <a:lnTo>
                    <a:pt x="5415915" y="2856738"/>
                  </a:lnTo>
                  <a:lnTo>
                    <a:pt x="5379720" y="2856738"/>
                  </a:lnTo>
                  <a:lnTo>
                    <a:pt x="5452110" y="2929128"/>
                  </a:lnTo>
                  <a:lnTo>
                    <a:pt x="5524500" y="2856738"/>
                  </a:lnTo>
                  <a:close/>
                </a:path>
              </a:pathLst>
            </a:custGeom>
            <a:solidFill>
              <a:srgbClr val="BCDAD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7211" y="1406652"/>
              <a:ext cx="1737359" cy="44195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077211" y="1406652"/>
            <a:ext cx="1737360" cy="441959"/>
          </a:xfrm>
          <a:prstGeom prst="rect">
            <a:avLst/>
          </a:prstGeom>
          <a:ln w="6350">
            <a:solidFill>
              <a:srgbClr val="007373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2069" marR="45085" lvl="0" indent="126364" defTabSz="914400" eaLnBrk="1" fontAlgn="auto" latinLnBrk="0" hangingPunct="1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(Problem) Requirements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Analysis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09504" y="5779008"/>
            <a:ext cx="1385314" cy="268985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0509504" y="5779008"/>
            <a:ext cx="1385570" cy="269240"/>
          </a:xfrm>
          <a:prstGeom prst="rect">
            <a:avLst/>
          </a:prstGeom>
          <a:ln w="6350">
            <a:solidFill>
              <a:srgbClr val="00737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790" marR="0" lvl="0" indent="0" defTabSz="914400" eaLnBrk="1" fontAlgn="auto" latinLnBrk="0" hangingPunct="1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Release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Delivery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816096" y="1684019"/>
            <a:ext cx="7691755" cy="4042410"/>
          </a:xfrm>
          <a:custGeom>
            <a:avLst/>
            <a:gdLst/>
            <a:ahLst/>
            <a:cxnLst/>
            <a:rect l="l" t="t" r="r" b="b"/>
            <a:pathLst>
              <a:path w="7691755" h="4042410">
                <a:moveTo>
                  <a:pt x="352806" y="254317"/>
                </a:moveTo>
                <a:lnTo>
                  <a:pt x="310426" y="254317"/>
                </a:lnTo>
                <a:lnTo>
                  <a:pt x="310426" y="0"/>
                </a:lnTo>
                <a:lnTo>
                  <a:pt x="0" y="0"/>
                </a:lnTo>
                <a:lnTo>
                  <a:pt x="0" y="84772"/>
                </a:lnTo>
                <a:lnTo>
                  <a:pt x="225653" y="84772"/>
                </a:lnTo>
                <a:lnTo>
                  <a:pt x="225653" y="254317"/>
                </a:lnTo>
                <a:lnTo>
                  <a:pt x="183261" y="254317"/>
                </a:lnTo>
                <a:lnTo>
                  <a:pt x="268033" y="339090"/>
                </a:lnTo>
                <a:lnTo>
                  <a:pt x="352806" y="254317"/>
                </a:lnTo>
                <a:close/>
              </a:path>
              <a:path w="7691755" h="4042410">
                <a:moveTo>
                  <a:pt x="4959096" y="3131985"/>
                </a:moveTo>
                <a:lnTo>
                  <a:pt x="410362" y="3131985"/>
                </a:lnTo>
                <a:lnTo>
                  <a:pt x="410362" y="1476375"/>
                </a:lnTo>
                <a:lnTo>
                  <a:pt x="473405" y="1476375"/>
                </a:lnTo>
                <a:lnTo>
                  <a:pt x="365861" y="1320558"/>
                </a:lnTo>
                <a:lnTo>
                  <a:pt x="258318" y="1476375"/>
                </a:lnTo>
                <a:lnTo>
                  <a:pt x="321360" y="1476375"/>
                </a:lnTo>
                <a:lnTo>
                  <a:pt x="321360" y="3220986"/>
                </a:lnTo>
                <a:lnTo>
                  <a:pt x="4959096" y="3220986"/>
                </a:lnTo>
                <a:lnTo>
                  <a:pt x="4959096" y="3131985"/>
                </a:lnTo>
                <a:close/>
              </a:path>
              <a:path w="7691755" h="4042410">
                <a:moveTo>
                  <a:pt x="7691628" y="3946207"/>
                </a:moveTo>
                <a:lnTo>
                  <a:pt x="7643533" y="3946207"/>
                </a:lnTo>
                <a:lnTo>
                  <a:pt x="7643533" y="3637026"/>
                </a:lnTo>
                <a:lnTo>
                  <a:pt x="7306818" y="3637026"/>
                </a:lnTo>
                <a:lnTo>
                  <a:pt x="7306818" y="3733228"/>
                </a:lnTo>
                <a:lnTo>
                  <a:pt x="7547318" y="3733228"/>
                </a:lnTo>
                <a:lnTo>
                  <a:pt x="7547318" y="3946207"/>
                </a:lnTo>
                <a:lnTo>
                  <a:pt x="7499223" y="3946207"/>
                </a:lnTo>
                <a:lnTo>
                  <a:pt x="7595425" y="4042410"/>
                </a:lnTo>
                <a:lnTo>
                  <a:pt x="7691628" y="3946207"/>
                </a:lnTo>
                <a:close/>
              </a:path>
            </a:pathLst>
          </a:custGeom>
          <a:solidFill>
            <a:srgbClr val="BCDAD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79884" y="4157718"/>
            <a:ext cx="3746500" cy="6477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201295" lvl="0" indent="0" defTabSz="914400" eaLnBrk="1" fontAlgn="auto" latinLnBrk="0" hangingPunct="1">
              <a:lnSpc>
                <a:spcPts val="115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(Increment)</a:t>
            </a:r>
            <a:r>
              <a:rPr kumimoji="0" sz="1200" b="0" i="1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cycles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iterate</a:t>
            </a:r>
            <a:r>
              <a:rPr kumimoji="0" sz="12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design,</a:t>
            </a:r>
            <a:r>
              <a:rPr kumimoji="0" sz="12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implementation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integration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meet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User-Story/Feature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requirements.</a:t>
            </a:r>
            <a:r>
              <a:rPr kumimoji="0" sz="1200" b="0" i="1" u="none" strike="noStrike" kern="0" cap="none" spc="-4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Addresses</a:t>
            </a:r>
            <a:r>
              <a:rPr kumimoji="0" sz="12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question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“How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200" b="0" i="1" u="none" strike="noStrike" kern="0" cap="none" spc="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implement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12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features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meet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expected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value?”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4573" y="1022600"/>
            <a:ext cx="11817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Release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4573" y="1217712"/>
            <a:ext cx="1501140" cy="65976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54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Goals</a:t>
            </a:r>
            <a:r>
              <a:rPr kumimoji="0" sz="1600" b="0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Plan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Roadmap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(Cycle</a:t>
            </a:r>
            <a:r>
              <a:rPr kumimoji="0" sz="16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Plan)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4684" y="5688410"/>
            <a:ext cx="13417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Deliver</a:t>
            </a:r>
            <a:r>
              <a:rPr kumimoji="0" sz="1600" b="0" i="1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To</a:t>
            </a:r>
            <a:r>
              <a:rPr kumimoji="0" sz="16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970276" y="2452116"/>
            <a:ext cx="6648450" cy="2962910"/>
          </a:xfrm>
          <a:custGeom>
            <a:avLst/>
            <a:gdLst/>
            <a:ahLst/>
            <a:cxnLst/>
            <a:rect l="l" t="t" r="r" b="b"/>
            <a:pathLst>
              <a:path w="6648450" h="2962910">
                <a:moveTo>
                  <a:pt x="114096" y="0"/>
                </a:moveTo>
                <a:lnTo>
                  <a:pt x="0" y="176987"/>
                </a:lnTo>
                <a:lnTo>
                  <a:pt x="75857" y="176987"/>
                </a:lnTo>
                <a:lnTo>
                  <a:pt x="75857" y="2962655"/>
                </a:lnTo>
                <a:lnTo>
                  <a:pt x="6648450" y="2962655"/>
                </a:lnTo>
                <a:lnTo>
                  <a:pt x="6648450" y="2886189"/>
                </a:lnTo>
                <a:lnTo>
                  <a:pt x="152323" y="2886189"/>
                </a:lnTo>
                <a:lnTo>
                  <a:pt x="152323" y="176987"/>
                </a:lnTo>
                <a:lnTo>
                  <a:pt x="228180" y="176987"/>
                </a:lnTo>
                <a:lnTo>
                  <a:pt x="114096" y="0"/>
                </a:lnTo>
                <a:close/>
              </a:path>
            </a:pathLst>
          </a:custGeom>
          <a:solidFill>
            <a:srgbClr val="BCDAD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60429" y="4996158"/>
            <a:ext cx="6369050" cy="35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9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(Sprint)</a:t>
            </a:r>
            <a:r>
              <a:rPr kumimoji="0" sz="12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Cycles: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iterate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requirements,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ask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“what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200" b="0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implement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next?”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12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revisits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solution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definition</a:t>
            </a:r>
            <a:r>
              <a:rPr kumimoji="0" sz="1200" b="1" i="0" u="none" strike="noStrike" kern="0" cap="none" spc="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(user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features/stories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value)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plus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backlog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priorities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573273" y="1833369"/>
            <a:ext cx="7936230" cy="4173854"/>
          </a:xfrm>
          <a:custGeom>
            <a:avLst/>
            <a:gdLst/>
            <a:ahLst/>
            <a:cxnLst/>
            <a:rect l="l" t="t" r="r" b="b"/>
            <a:pathLst>
              <a:path w="7936230" h="4173854">
                <a:moveTo>
                  <a:pt x="160718" y="0"/>
                </a:moveTo>
                <a:lnTo>
                  <a:pt x="0" y="249326"/>
                </a:lnTo>
                <a:lnTo>
                  <a:pt x="106794" y="249326"/>
                </a:lnTo>
                <a:lnTo>
                  <a:pt x="106794" y="4173474"/>
                </a:lnTo>
                <a:lnTo>
                  <a:pt x="7936230" y="4173474"/>
                </a:lnTo>
                <a:lnTo>
                  <a:pt x="7936230" y="4065638"/>
                </a:lnTo>
                <a:lnTo>
                  <a:pt x="214642" y="4065638"/>
                </a:lnTo>
                <a:lnTo>
                  <a:pt x="214642" y="249326"/>
                </a:lnTo>
                <a:lnTo>
                  <a:pt x="321436" y="249326"/>
                </a:lnTo>
                <a:lnTo>
                  <a:pt x="160718" y="0"/>
                </a:lnTo>
                <a:close/>
              </a:path>
            </a:pathLst>
          </a:custGeom>
          <a:solidFill>
            <a:srgbClr val="BCDAD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46739" y="5539051"/>
            <a:ext cx="7417434" cy="3549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15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(Release</a:t>
            </a:r>
            <a:r>
              <a:rPr kumimoji="0" sz="1200" b="0" i="1" u="none" strike="noStrike" kern="0" cap="none" spc="-4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cycles)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iterate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1200" b="0" i="1" u="none" strike="noStrike" kern="0" cap="none" spc="-4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problem definition</a:t>
            </a:r>
            <a:r>
              <a:rPr kumimoji="0" sz="1200" b="1" i="0" u="none" strike="noStrike" kern="0" cap="none" spc="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requirements,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ask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“what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now?”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explore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200" b="1" i="0" u="none" strike="noStrike" kern="0" cap="none" spc="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stakeholder</a:t>
            </a:r>
            <a:r>
              <a:rPr kumimoji="0" sz="1200" b="1" i="1" u="none" strike="noStrike" kern="0" cap="none" spc="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needs</a:t>
            </a:r>
            <a:r>
              <a:rPr kumimoji="0" sz="1200" b="1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&amp; business</a:t>
            </a:r>
            <a:r>
              <a:rPr kumimoji="0" sz="1200" b="1" i="1" u="none" strike="noStrike" kern="0" cap="none" spc="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value delivery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(re)define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system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vision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(version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deliverables).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6600" rIns="0" bIns="0" rtlCol="0">
            <a:spAutoFit/>
          </a:bodyPr>
          <a:lstStyle/>
          <a:p>
            <a:pPr marL="347980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47980" marR="0" lvl="0" indent="0" defTabSz="914400" eaLnBrk="1" fontAlgn="auto" latinLnBrk="0" hangingPunct="1">
                <a:lnSpc>
                  <a:spcPts val="9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5621" y="1957286"/>
            <a:ext cx="1953895" cy="3602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 marR="0" lvl="0" indent="0" defTabSz="914400" eaLnBrk="1" fontAlgn="auto" latinLnBrk="0" hangingPunct="1">
              <a:lnSpc>
                <a:spcPts val="170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Explore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needs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1590" marR="0" lvl="0" indent="0" defTabSz="914400" eaLnBrk="1" fontAlgn="auto" latinLnBrk="0" hangingPunct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0" cap="none" spc="-24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Wingdings 3"/>
                <a:cs typeface="Wingdings 3"/>
              </a:rPr>
              <a:t>⭢</a:t>
            </a:r>
            <a:r>
              <a:rPr kumimoji="0" sz="1650" b="0" i="0" u="none" strike="noStrike" kern="0" cap="none" spc="-5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develop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925" marR="5080" lvl="0" indent="0" defTabSz="914400" eaLnBrk="1" fontAlgn="auto" latinLnBrk="0" hangingPunct="1">
              <a:lnSpc>
                <a:spcPts val="154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Decompose</a:t>
            </a:r>
            <a:r>
              <a:rPr kumimoji="0" sz="1600" b="0" i="1" u="none" strike="noStrike" kern="0" cap="none" spc="-6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600" b="0" i="1" u="none" strike="noStrike" kern="0" cap="none" spc="-5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into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1435" marR="62230" lvl="0" indent="0" defTabSz="914400" eaLnBrk="1" fontAlgn="auto" latinLnBrk="0" hangingPunct="1">
              <a:lnSpc>
                <a:spcPts val="154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Explore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dependencies;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item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0005" marR="768985" lvl="0" indent="0" defTabSz="914400" eaLnBrk="1" fontAlgn="auto" latinLnBrk="0" hangingPunct="1">
              <a:lnSpc>
                <a:spcPts val="1540"/>
              </a:lnSpc>
              <a:spcBef>
                <a:spcPts val="1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Build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selected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6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925" marR="0" lvl="0" indent="-22860" defTabSz="914400" eaLnBrk="1" fontAlgn="auto" latinLnBrk="0" hangingPunct="1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Test</a:t>
            </a:r>
            <a:r>
              <a:rPr kumimoji="0" sz="1600" b="0" i="1" u="none" strike="noStrike" kern="0" cap="none" spc="-4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Against</a:t>
            </a:r>
            <a:r>
              <a:rPr kumimoji="0" sz="16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Fit</a:t>
            </a:r>
            <a:r>
              <a:rPr kumimoji="0" sz="16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Criteria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925" marR="153670" lvl="0" indent="0" defTabSz="914400" eaLnBrk="1" fontAlgn="auto" latinLnBrk="0" hangingPunct="1">
              <a:lnSpc>
                <a:spcPts val="154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Integrate</a:t>
            </a:r>
            <a:r>
              <a:rPr kumimoji="0" sz="1600" b="0" i="1" u="none" strike="noStrike" kern="0" cap="none" spc="-6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600" b="0" i="1" u="none" strike="noStrike" kern="0" cap="none" spc="-5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System Prototype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5400" marR="173990" lvl="0" indent="0" defTabSz="914400" eaLnBrk="1" fontAlgn="auto" latinLnBrk="0" hangingPunct="1">
              <a:lnSpc>
                <a:spcPts val="1540"/>
              </a:lnSpc>
              <a:spcBef>
                <a:spcPts val="8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Evaluate</a:t>
            </a:r>
            <a:r>
              <a:rPr kumimoji="0" sz="1600" b="0" i="1" u="none" strike="noStrike" kern="0" cap="none" spc="-8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Prototype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Against</a:t>
            </a:r>
            <a:r>
              <a:rPr kumimoji="0" sz="16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r>
              <a:rPr kumimoji="0" sz="1600" b="0" i="1" u="none" strike="noStrike" kern="0" cap="none" spc="-4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Needs;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Reprioritize</a:t>
            </a:r>
            <a:r>
              <a:rPr kumimoji="0" sz="1600" b="0" i="1" u="none" strike="noStrike" kern="0" cap="none" spc="-9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72632" y="2412107"/>
            <a:ext cx="3936365" cy="3549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15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Explore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use-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scenarios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define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functionality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required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deliver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200" b="0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sz="1200" b="0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200" b="0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2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needs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9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/>
              <a:t>Generic</a:t>
            </a:r>
            <a:r>
              <a:rPr spc="-95" dirty="0"/>
              <a:t> </a:t>
            </a:r>
            <a:r>
              <a:rPr dirty="0"/>
              <a:t>Agile</a:t>
            </a:r>
            <a:r>
              <a:rPr spc="-70" dirty="0"/>
              <a:t> </a:t>
            </a:r>
            <a:r>
              <a:rPr dirty="0"/>
              <a:t>Vs.</a:t>
            </a:r>
            <a:r>
              <a:rPr spc="-85" dirty="0"/>
              <a:t> </a:t>
            </a:r>
            <a:r>
              <a:rPr spc="-10" dirty="0"/>
              <a:t>SCRUM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486" y="881634"/>
            <a:ext cx="5522976" cy="34776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1636" y="881634"/>
            <a:ext cx="5569457" cy="34805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4671" y="4514639"/>
            <a:ext cx="11558270" cy="19888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0029" marR="0" lvl="0" indent="-170815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development,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iterate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stages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planning,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design,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build/code,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test,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review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09575" marR="0" lvl="1" indent="-17018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A2514"/>
              </a:buClr>
              <a:buSzPct val="76470"/>
              <a:buFont typeface="Wingdings 3"/>
              <a:buChar char=""/>
              <a:tabLst>
                <a:tab pos="410209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still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overall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still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(define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initial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09575" marR="0" lvl="1" indent="-17018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8A2514"/>
              </a:buClr>
              <a:buSzPct val="76470"/>
              <a:buFont typeface="Wingdings 3"/>
              <a:buChar char=""/>
              <a:tabLst>
                <a:tab pos="410209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evolve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proceed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accommodated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redefine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0029" marR="0" lvl="0" indent="-170815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SCRUM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defined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processes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roles,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ensure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consistency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across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projects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09575" marR="0" lvl="1" indent="-17018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A2514"/>
              </a:buClr>
              <a:buSzPct val="76470"/>
              <a:buFont typeface="Wingdings 3"/>
              <a:buChar char=""/>
              <a:tabLst>
                <a:tab pos="410209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Scrum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processes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treated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rituals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ceremonies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bind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together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shared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culture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40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https://blog.bydrec.com/a-comprehensive-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comparison-between-the-agile-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scrum-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and-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waterfall-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methodology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6600" rIns="0" bIns="0" rtlCol="0">
            <a:spAutoFit/>
          </a:bodyPr>
          <a:lstStyle/>
          <a:p>
            <a:pPr marL="347980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47980" marR="0" lvl="0" indent="0" defTabSz="914400" eaLnBrk="1" fontAlgn="auto" latinLnBrk="0" hangingPunct="1">
                <a:lnSpc>
                  <a:spcPts val="9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3009" y="5256587"/>
            <a:ext cx="82061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Agile</a:t>
            </a:r>
            <a:r>
              <a:rPr kumimoji="0" sz="4800" b="0" i="0" u="none" strike="noStrike" kern="0" cap="none" spc="-6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48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PMLC</a:t>
            </a:r>
            <a:r>
              <a:rPr kumimoji="0" sz="4800" b="0" i="0" u="none" strike="noStrike" kern="0" cap="none" spc="-3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48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Approaches</a:t>
            </a:r>
            <a:r>
              <a:rPr kumimoji="0" sz="4800" b="0" i="0" u="none" strike="noStrike" kern="0" cap="none" spc="-3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48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–</a:t>
            </a:r>
            <a:r>
              <a:rPr kumimoji="0" sz="4800" b="0" i="0" u="none" strike="noStrike" kern="0" cap="none" spc="-45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4800" b="0" i="0" u="none" strike="noStrike" kern="0" cap="none" spc="-1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alibri Light"/>
                <a:cs typeface="Calibri Light"/>
              </a:rPr>
              <a:t>SCRUM</a:t>
            </a:r>
            <a:endParaRPr kumimoji="0" sz="4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4103" y="5987034"/>
            <a:ext cx="9004300" cy="647065"/>
          </a:xfrm>
          <a:prstGeom prst="rect">
            <a:avLst/>
          </a:prstGeom>
          <a:solidFill>
            <a:srgbClr val="009999"/>
          </a:solidFill>
        </p:spPr>
        <p:txBody>
          <a:bodyPr vert="horz" wrap="square" lIns="0" tIns="31115" rIns="0" bIns="0" rtlCol="0">
            <a:spAutoFit/>
          </a:bodyPr>
          <a:lstStyle/>
          <a:p>
            <a:pPr marL="1863725" marR="1475740" lvl="0" indent="-381635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name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SCRUM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comes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British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game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Rugby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football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shown here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Rugby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Scrummage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(or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Scrum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short)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5728335"/>
            <a:chOff x="0" y="0"/>
            <a:chExt cx="12192000" cy="572833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4566285"/>
            </a:xfrm>
            <a:custGeom>
              <a:avLst/>
              <a:gdLst/>
              <a:ahLst/>
              <a:cxnLst/>
              <a:rect l="l" t="t" r="r" b="b"/>
              <a:pathLst>
                <a:path w="12192000" h="4566285">
                  <a:moveTo>
                    <a:pt x="12192000" y="0"/>
                  </a:moveTo>
                  <a:lnTo>
                    <a:pt x="0" y="0"/>
                  </a:lnTo>
                  <a:lnTo>
                    <a:pt x="0" y="4565904"/>
                  </a:lnTo>
                  <a:lnTo>
                    <a:pt x="12192000" y="456590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361" y="34290"/>
              <a:ext cx="11585422" cy="56936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645" y="228600"/>
              <a:ext cx="10981778" cy="51069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Scrum in 20 mins... (with examples)">
            <a:hlinkClick r:id="" action="ppaction://media"/>
            <a:extLst>
              <a:ext uri="{FF2B5EF4-FFF2-40B4-BE49-F238E27FC236}">
                <a16:creationId xmlns:a16="http://schemas.microsoft.com/office/drawing/2014/main" id="{9734EF5B-2C10-74F3-1EA2-B39C798952C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14400" y="501396"/>
            <a:ext cx="9982200" cy="563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5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572" y="1050086"/>
            <a:ext cx="10477508" cy="2842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58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7373"/>
                </a:solidFill>
              </a:rPr>
              <a:t>SCRUM</a:t>
            </a:r>
            <a:r>
              <a:rPr sz="4400" spc="-150" dirty="0">
                <a:solidFill>
                  <a:srgbClr val="007373"/>
                </a:solidFill>
              </a:rPr>
              <a:t> </a:t>
            </a:r>
            <a:r>
              <a:rPr sz="4400" spc="-10" dirty="0">
                <a:solidFill>
                  <a:srgbClr val="007373"/>
                </a:solidFill>
              </a:rPr>
              <a:t>Process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362314" y="6451258"/>
            <a:ext cx="5152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2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https://resources.scrumalliance.org/Article/how-scrum-scrum-teams-</a:t>
            </a:r>
            <a:r>
              <a:rPr kumimoji="0" sz="12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work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47104" y="5410961"/>
            <a:ext cx="5445760" cy="1299210"/>
            <a:chOff x="6547104" y="5410961"/>
            <a:chExt cx="5445760" cy="12992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8252" y="5429250"/>
              <a:ext cx="5404103" cy="12207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7104" y="5410961"/>
              <a:ext cx="5289803" cy="129920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617589" y="5458586"/>
            <a:ext cx="5291455" cy="1108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7373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SCRUM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three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Calibri"/>
                <a:cs typeface="Calibri"/>
              </a:rPr>
              <a:t>metrics: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6555" marR="0" lvl="0" indent="-286385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376555" algn="l"/>
                <a:tab pos="377190" algn="l"/>
              </a:tabLst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Velocity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Sans Unicode"/>
              <a:cs typeface="Lucida Sans Unicode"/>
            </a:endParaRPr>
          </a:p>
          <a:p>
            <a:pPr marL="376555" marR="0" lvl="0" indent="-286385" defTabSz="914400" eaLnBrk="1" fontAlgn="auto" latinLnBrk="0" hangingPunct="1">
              <a:lnSpc>
                <a:spcPts val="1914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376555" algn="l"/>
                <a:tab pos="377190" algn="l"/>
              </a:tabLst>
              <a:defRPr/>
            </a:pP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Meeting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the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sprint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goal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Sans Unicode"/>
              <a:cs typeface="Lucida Sans Unicode"/>
            </a:endParaRPr>
          </a:p>
          <a:p>
            <a:pPr marL="376555" marR="0" lvl="0" indent="-286385" defTabSz="914400" eaLnBrk="1" fontAlgn="auto" latinLnBrk="0" hangingPunct="1">
              <a:lnSpc>
                <a:spcPts val="1914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376555" algn="l"/>
                <a:tab pos="377190" algn="l"/>
              </a:tabLst>
              <a:defRPr/>
            </a:pP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Forecasted</a:t>
            </a:r>
            <a:r>
              <a:rPr kumimoji="0" sz="1600" b="0" i="0" u="none" strike="noStrike" kern="0" cap="none" spc="-10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vs.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actual</a:t>
            </a:r>
            <a:r>
              <a:rPr kumimoji="0" sz="1600" b="0" i="0" u="none" strike="noStrike" kern="0" cap="none" spc="-7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work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done</a:t>
            </a: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within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the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484948"/>
                </a:solidFill>
                <a:effectLst/>
                <a:uLnTx/>
                <a:uFillTx/>
                <a:latin typeface="Lucida Sans Unicode"/>
                <a:cs typeface="Lucida Sans Unicode"/>
              </a:rPr>
              <a:t>Sprint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8813" y="845819"/>
            <a:ext cx="9385553" cy="384886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90385" y="4108352"/>
            <a:ext cx="3354070" cy="925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53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Retrospective Focus: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8905" marR="0" lvl="0" indent="-116839" defTabSz="914400" eaLnBrk="1" fontAlgn="auto" latinLnBrk="0" hangingPunct="1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29539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went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well?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8905" marR="0" lvl="0" indent="-116839" defTabSz="914400" eaLnBrk="1" fontAlgn="auto" latinLnBrk="0" hangingPunct="1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29539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could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improved?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8905" marR="0" lvl="0" indent="-116839" defTabSz="914400" eaLnBrk="1" fontAlgn="auto" latinLnBrk="0" hangingPunct="1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29539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went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badly?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8905" marR="0" lvl="0" indent="-116839" defTabSz="914400" eaLnBrk="1" fontAlgn="auto" latinLnBrk="0" hangingPunct="1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29539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priorities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next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period/sprint/Epic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20724" y="1134999"/>
            <a:ext cx="5006340" cy="1577975"/>
            <a:chOff x="1220724" y="1134999"/>
            <a:chExt cx="5006340" cy="157797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0724" y="1241298"/>
              <a:ext cx="1482089" cy="12618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2424" y="1608582"/>
              <a:ext cx="1579625" cy="11041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30927" y="1134999"/>
              <a:ext cx="1096010" cy="998219"/>
            </a:xfrm>
            <a:custGeom>
              <a:avLst/>
              <a:gdLst/>
              <a:ahLst/>
              <a:cxnLst/>
              <a:rect l="l" t="t" r="r" b="b"/>
              <a:pathLst>
                <a:path w="1096010" h="998219">
                  <a:moveTo>
                    <a:pt x="1095755" y="0"/>
                  </a:moveTo>
                  <a:lnTo>
                    <a:pt x="0" y="0"/>
                  </a:lnTo>
                  <a:lnTo>
                    <a:pt x="0" y="998220"/>
                  </a:lnTo>
                  <a:lnTo>
                    <a:pt x="1095755" y="998220"/>
                  </a:lnTo>
                  <a:lnTo>
                    <a:pt x="10957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0545" y="1599438"/>
              <a:ext cx="1061453" cy="58369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312813" y="3746893"/>
            <a:ext cx="1691639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owner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client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provide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feedback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Calibri"/>
                <a:cs typeface="Calibri"/>
              </a:rPr>
              <a:t>product increment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0725" rIns="0" bIns="0" rtlCol="0">
            <a:spAutoFit/>
          </a:bodyPr>
          <a:lstStyle/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4798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62" y="167640"/>
            <a:ext cx="108477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Roles</a:t>
            </a:r>
            <a:r>
              <a:rPr spc="-9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Responsibilities</a:t>
            </a:r>
            <a:r>
              <a:rPr spc="-7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Successful</a:t>
            </a:r>
            <a:r>
              <a:rPr spc="-90" dirty="0"/>
              <a:t> </a:t>
            </a:r>
            <a:r>
              <a:rPr dirty="0"/>
              <a:t>Scrum</a:t>
            </a:r>
            <a:r>
              <a:rPr spc="-125" dirty="0"/>
              <a:t> </a:t>
            </a:r>
            <a:r>
              <a:rPr spc="-580" dirty="0"/>
              <a:t>T</a:t>
            </a:r>
            <a:r>
              <a:rPr spc="20" dirty="0"/>
              <a:t>e</a:t>
            </a:r>
            <a:r>
              <a:rPr spc="35" dirty="0"/>
              <a:t>a</a:t>
            </a:r>
            <a:r>
              <a:rPr spc="45" dirty="0"/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8269" y="1013078"/>
            <a:ext cx="2291715" cy="2369820"/>
          </a:xfrm>
          <a:prstGeom prst="rect">
            <a:avLst/>
          </a:prstGeom>
          <a:ln w="9525">
            <a:solidFill>
              <a:srgbClr val="049DD9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85725" marR="208915" lvl="0" indent="-635" defTabSz="914400" eaLnBrk="1" fontAlgn="auto" latinLnBrk="0" hangingPunct="1">
              <a:lnSpc>
                <a:spcPts val="168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1400" b="1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designers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problem-solvers.</a:t>
            </a:r>
            <a:r>
              <a:rPr kumimoji="0" sz="1400" b="0" i="0" u="none" strike="noStrike" kern="0" cap="none" spc="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Task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allocation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distribution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determined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1400" b="0" i="0" u="none" strike="noStrike" kern="0" cap="none" spc="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5725" marR="205740" lvl="0" indent="0" defTabSz="91440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members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include developers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variety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specialisms,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who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all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work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together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deliver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product.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9030" y="3526916"/>
            <a:ext cx="2292350" cy="1292860"/>
          </a:xfrm>
          <a:prstGeom prst="rect">
            <a:avLst/>
          </a:prstGeom>
          <a:ln w="9525">
            <a:solidFill>
              <a:srgbClr val="049DD9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85090" marR="187960" lvl="0" indent="0" defTabSz="914400" eaLnBrk="1" fontAlgn="auto" latinLnBrk="0" hangingPunct="1">
              <a:lnSpc>
                <a:spcPts val="168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9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Product</a:t>
            </a:r>
            <a:r>
              <a:rPr kumimoji="0" sz="1400" b="1" i="0" u="none" strike="noStrike" kern="0" cap="none" spc="-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Owner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ensures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Development </a:t>
            </a:r>
            <a:r>
              <a:rPr kumimoji="0" sz="1400" b="0" i="0" u="none" strike="noStrike" kern="0" cap="none" spc="-10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400" b="0" i="0" u="none" strike="noStrike" kern="0" cap="none" spc="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working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toward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appropriate</a:t>
            </a:r>
            <a:r>
              <a:rPr kumimoji="0" sz="1400" b="0" i="0" u="none" strike="noStrike" kern="0" cap="none" spc="-7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targets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business perspective.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3141" y="1013078"/>
            <a:ext cx="2291715" cy="2575560"/>
          </a:xfrm>
          <a:prstGeom prst="rect">
            <a:avLst/>
          </a:prstGeom>
          <a:ln w="9525">
            <a:solidFill>
              <a:srgbClr val="049DD9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85090" marR="233679" lvl="0" indent="0" defTabSz="914400" eaLnBrk="1" fontAlgn="auto" latinLnBrk="0" hangingPunct="1">
              <a:lnSpc>
                <a:spcPts val="168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8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Scrum</a:t>
            </a:r>
            <a:r>
              <a:rPr kumimoji="0" sz="1400" b="1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Master</a:t>
            </a:r>
            <a:r>
              <a:rPr kumimoji="0" sz="1400" b="1" i="0" u="none" strike="noStrike" kern="0" cap="none" spc="-7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combination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coach,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facilitator,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remover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of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impediments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progress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Development Team.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5090" marR="0" lvl="0" indent="0" defTabSz="91440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Scrum</a:t>
            </a:r>
            <a:r>
              <a:rPr kumimoji="0" sz="1400" b="0" i="0" u="none" strike="noStrike" kern="0" cap="none" spc="-7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Master</a:t>
            </a:r>
            <a:r>
              <a:rPr kumimoji="0" sz="1400" b="0" i="0" u="none" strike="noStrike" kern="0" cap="none" spc="-7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holds</a:t>
            </a:r>
            <a:r>
              <a:rPr kumimoji="0" sz="1400" b="0" i="0" u="none" strike="noStrike" kern="0" cap="none" spc="-7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5090" marR="201295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brief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meeting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everyday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assess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progress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400" b="0" i="0" u="none" strike="noStrike" kern="0" cap="none" spc="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provides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conditions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reach</a:t>
            </a:r>
            <a:r>
              <a:rPr kumimoji="0" sz="1400" b="0" i="0" u="none" strike="noStrike" kern="0" cap="none" spc="-8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Sprint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goal.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3141" y="3939921"/>
            <a:ext cx="2291715" cy="1492885"/>
          </a:xfrm>
          <a:prstGeom prst="rect">
            <a:avLst/>
          </a:prstGeom>
          <a:ln w="9525">
            <a:solidFill>
              <a:srgbClr val="049DD9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85090" marR="95250" lvl="0" indent="-635" algn="just" defTabSz="914400" eaLnBrk="1" fontAlgn="auto" latinLnBrk="0" hangingPunct="1">
              <a:lnSpc>
                <a:spcPts val="166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Scrum</a:t>
            </a:r>
            <a:r>
              <a:rPr kumimoji="0" sz="1400" b="1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-6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400" b="1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consists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Team,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Product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Owner,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Scrum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5725" marR="0" lvl="0" indent="0" defTabSz="91440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Master.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6360" marR="219075" lvl="0" indent="-635" defTabSz="914400" eaLnBrk="1" fontAlgn="auto" latinLnBrk="0" hangingPunct="1">
              <a:lnSpc>
                <a:spcPts val="166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400" b="1" i="1" u="none" strike="noStrike" kern="0" cap="none" spc="-6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members</a:t>
            </a:r>
            <a:r>
              <a:rPr kumimoji="0" sz="1400" b="1" i="1" u="none" strike="noStrike" kern="0" cap="none" spc="-6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1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are </a:t>
            </a:r>
            <a:r>
              <a:rPr kumimoji="0" sz="1400" b="1" i="1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responsible</a:t>
            </a:r>
            <a:r>
              <a:rPr kumimoji="0" sz="1400" b="1" i="1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400" b="1" i="1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1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delivery </a:t>
            </a:r>
            <a:r>
              <a:rPr kumimoji="0" sz="14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400" b="1" i="1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400" b="1" i="1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1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complete</a:t>
            </a:r>
            <a:r>
              <a:rPr kumimoji="0" sz="1400" b="1" i="1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1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product.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964" y="4044695"/>
            <a:ext cx="1719071" cy="13898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8627" y="1152144"/>
            <a:ext cx="1645919" cy="13868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8483" y="3218688"/>
            <a:ext cx="2036063" cy="138988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36964" y="1152144"/>
            <a:ext cx="1850135" cy="149656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512275" y="5627936"/>
            <a:ext cx="6598284" cy="448309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65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Each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member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plays</a:t>
            </a:r>
            <a:r>
              <a:rPr kumimoji="0" sz="1400" b="0" i="0" u="none" strike="noStrike" kern="0" cap="none" spc="1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specific,</a:t>
            </a:r>
            <a:r>
              <a:rPr kumimoji="0" sz="1400" b="0" i="0" u="none" strike="noStrike" kern="0" cap="none" spc="1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well</a:t>
            </a:r>
            <a:r>
              <a:rPr kumimoji="0" sz="1400" b="0" i="0" u="none" strike="noStrike" kern="0" cap="none" spc="1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defined,</a:t>
            </a:r>
            <a:r>
              <a:rPr kumimoji="0" sz="1400" b="0" i="0" u="none" strike="noStrike" kern="0" cap="none" spc="1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role,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1400" b="0" i="0" u="none" strike="noStrike" kern="0" cap="none" spc="1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same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time</a:t>
            </a:r>
            <a:r>
              <a:rPr kumimoji="0" sz="1400" b="0" i="0" u="none" strike="noStrike" kern="0" cap="none" spc="1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holding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each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other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accountable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shared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outcomes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project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business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value.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4920995"/>
            <a:ext cx="2497455" cy="1400175"/>
            <a:chOff x="0" y="4920995"/>
            <a:chExt cx="2497455" cy="140017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4920995"/>
              <a:ext cx="2497074" cy="13997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9277" y="5274563"/>
              <a:ext cx="1833371" cy="7018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4830" y="5225341"/>
              <a:ext cx="1922780" cy="796290"/>
            </a:xfrm>
            <a:custGeom>
              <a:avLst/>
              <a:gdLst/>
              <a:ahLst/>
              <a:cxnLst/>
              <a:rect l="l" t="t" r="r" b="b"/>
              <a:pathLst>
                <a:path w="1922780" h="796289">
                  <a:moveTo>
                    <a:pt x="205867" y="0"/>
                  </a:moveTo>
                  <a:lnTo>
                    <a:pt x="205867" y="4775"/>
                  </a:lnTo>
                  <a:lnTo>
                    <a:pt x="1922462" y="4775"/>
                  </a:lnTo>
                  <a:lnTo>
                    <a:pt x="1922462" y="636473"/>
                  </a:lnTo>
                  <a:lnTo>
                    <a:pt x="1910118" y="697039"/>
                  </a:lnTo>
                  <a:lnTo>
                    <a:pt x="1875459" y="748753"/>
                  </a:lnTo>
                  <a:lnTo>
                    <a:pt x="1823758" y="783399"/>
                  </a:lnTo>
                  <a:lnTo>
                    <a:pt x="1763191" y="795743"/>
                  </a:lnTo>
                  <a:lnTo>
                    <a:pt x="0" y="795743"/>
                  </a:lnTo>
                  <a:lnTo>
                    <a:pt x="0" y="164045"/>
                  </a:lnTo>
                  <a:lnTo>
                    <a:pt x="3048" y="134099"/>
                  </a:lnTo>
                  <a:lnTo>
                    <a:pt x="27203" y="75958"/>
                  </a:lnTo>
                  <a:lnTo>
                    <a:pt x="71183" y="31978"/>
                  </a:lnTo>
                  <a:lnTo>
                    <a:pt x="129311" y="7823"/>
                  </a:lnTo>
                  <a:lnTo>
                    <a:pt x="205867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12004" y="4689994"/>
            <a:ext cx="3263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1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sz="1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involved</a:t>
            </a:r>
            <a:r>
              <a:rPr kumimoji="0" sz="1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meetings,</a:t>
            </a:r>
            <a:r>
              <a:rPr kumimoji="0" sz="1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the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discretion</a:t>
            </a:r>
            <a:r>
              <a:rPr kumimoji="0" sz="1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92451" y="4875288"/>
            <a:ext cx="2033905" cy="1445895"/>
            <a:chOff x="2092451" y="4875288"/>
            <a:chExt cx="2033905" cy="144589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2451" y="4875288"/>
              <a:ext cx="2033765" cy="14454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6875" y="5228082"/>
              <a:ext cx="1344929" cy="74828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92428" y="5179141"/>
              <a:ext cx="1434465" cy="842010"/>
            </a:xfrm>
            <a:custGeom>
              <a:avLst/>
              <a:gdLst/>
              <a:ahLst/>
              <a:cxnLst/>
              <a:rect l="l" t="t" r="r" b="b"/>
              <a:pathLst>
                <a:path w="1434464" h="842010">
                  <a:moveTo>
                    <a:pt x="213613" y="0"/>
                  </a:moveTo>
                  <a:lnTo>
                    <a:pt x="213613" y="4495"/>
                  </a:lnTo>
                  <a:lnTo>
                    <a:pt x="1433906" y="4495"/>
                  </a:lnTo>
                  <a:lnTo>
                    <a:pt x="1433906" y="674941"/>
                  </a:lnTo>
                  <a:lnTo>
                    <a:pt x="1420647" y="738568"/>
                  </a:lnTo>
                  <a:lnTo>
                    <a:pt x="1384477" y="792543"/>
                  </a:lnTo>
                  <a:lnTo>
                    <a:pt x="1330731" y="828598"/>
                  </a:lnTo>
                  <a:lnTo>
                    <a:pt x="1266952" y="841895"/>
                  </a:lnTo>
                  <a:lnTo>
                    <a:pt x="0" y="841895"/>
                  </a:lnTo>
                  <a:lnTo>
                    <a:pt x="0" y="171843"/>
                  </a:lnTo>
                  <a:lnTo>
                    <a:pt x="3022" y="140042"/>
                  </a:lnTo>
                  <a:lnTo>
                    <a:pt x="28803" y="79260"/>
                  </a:lnTo>
                  <a:lnTo>
                    <a:pt x="74777" y="33299"/>
                  </a:lnTo>
                  <a:lnTo>
                    <a:pt x="135521" y="7531"/>
                  </a:lnTo>
                  <a:lnTo>
                    <a:pt x="213613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2351" y="1852040"/>
            <a:ext cx="837259" cy="82867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83786" y="2641273"/>
            <a:ext cx="1238250" cy="5797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57530" marR="5080" lvl="0" indent="-511175" defTabSz="914400" eaLnBrk="1" fontAlgn="auto" latinLnBrk="0" hangingPunct="1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Owner 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Program</a:t>
            </a:r>
            <a:r>
              <a:rPr kumimoji="0" sz="1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Office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82752" y="2809944"/>
            <a:ext cx="929436" cy="497001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0725" rIns="0" bIns="0" rtlCol="0">
            <a:spAutoFit/>
          </a:bodyPr>
          <a:lstStyle/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4798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838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007373"/>
                </a:solidFill>
              </a:rPr>
              <a:t>Feature-</a:t>
            </a:r>
            <a:r>
              <a:rPr dirty="0">
                <a:solidFill>
                  <a:srgbClr val="007373"/>
                </a:solidFill>
              </a:rPr>
              <a:t>Led</a:t>
            </a:r>
            <a:r>
              <a:rPr spc="-50" dirty="0">
                <a:solidFill>
                  <a:srgbClr val="007373"/>
                </a:solidFill>
              </a:rPr>
              <a:t> </a:t>
            </a:r>
            <a:r>
              <a:rPr dirty="0">
                <a:solidFill>
                  <a:srgbClr val="007373"/>
                </a:solidFill>
              </a:rPr>
              <a:t>Development</a:t>
            </a:r>
            <a:r>
              <a:rPr spc="-45" dirty="0">
                <a:solidFill>
                  <a:srgbClr val="007373"/>
                </a:solidFill>
              </a:rPr>
              <a:t> </a:t>
            </a:r>
            <a:r>
              <a:rPr b="0" spc="1739" dirty="0">
                <a:solidFill>
                  <a:srgbClr val="007373"/>
                </a:solidFill>
                <a:latin typeface="Wingdings 3"/>
                <a:cs typeface="Wingdings 3"/>
              </a:rPr>
              <a:t>🢧</a:t>
            </a:r>
            <a:r>
              <a:rPr b="0" spc="-110" dirty="0">
                <a:solidFill>
                  <a:srgbClr val="007373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7373"/>
                </a:solidFill>
              </a:rPr>
              <a:t>A</a:t>
            </a:r>
            <a:r>
              <a:rPr spc="-25" dirty="0">
                <a:solidFill>
                  <a:srgbClr val="007373"/>
                </a:solidFill>
              </a:rPr>
              <a:t> </a:t>
            </a:r>
            <a:r>
              <a:rPr dirty="0">
                <a:solidFill>
                  <a:srgbClr val="007373"/>
                </a:solidFill>
              </a:rPr>
              <a:t>Change</a:t>
            </a:r>
            <a:r>
              <a:rPr spc="-45" dirty="0">
                <a:solidFill>
                  <a:srgbClr val="007373"/>
                </a:solidFill>
              </a:rPr>
              <a:t> </a:t>
            </a:r>
            <a:r>
              <a:rPr dirty="0">
                <a:solidFill>
                  <a:srgbClr val="007373"/>
                </a:solidFill>
              </a:rPr>
              <a:t>in</a:t>
            </a:r>
            <a:r>
              <a:rPr spc="-20" dirty="0">
                <a:solidFill>
                  <a:srgbClr val="007373"/>
                </a:solidFill>
              </a:rPr>
              <a:t> </a:t>
            </a:r>
            <a:r>
              <a:rPr spc="-10" dirty="0">
                <a:solidFill>
                  <a:srgbClr val="007373"/>
                </a:solidFill>
              </a:rPr>
              <a:t>Mindset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0258" y="1282738"/>
            <a:ext cx="5593080" cy="8788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Traditional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approaches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analyze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2000" b="0" i="1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000" b="0" i="1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1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 (system</a:t>
            </a:r>
            <a:r>
              <a:rPr kumimoji="0" sz="2000" b="0" i="1" u="none" strike="noStrike" kern="0" cap="none" spc="-7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functions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schedule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tasks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(design,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test)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deliver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those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functions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27" y="1243438"/>
            <a:ext cx="3135629" cy="21588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0493" y="3559567"/>
            <a:ext cx="7004050" cy="27317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lvl="0" indent="-635" defTabSz="914400" eaLnBrk="1" fontAlgn="auto" latinLnBrk="0" hangingPunct="1">
              <a:lnSpc>
                <a:spcPts val="216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Feature-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led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approaches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elicit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 component,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2000" b="0" i="1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000" b="0" i="1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separately</a:t>
            </a:r>
            <a:r>
              <a:rPr kumimoji="0" sz="2000" b="0" i="1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consultation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client,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understand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low-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2000" b="0" i="1" u="none" strike="noStrike" kern="0" cap="none" spc="-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functions</a:t>
            </a:r>
            <a:r>
              <a:rPr kumimoji="0" sz="2000" b="0" i="1" u="none" strike="noStrike" kern="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70180" lvl="0" indent="0" defTabSz="914400" eaLnBrk="1" fontAlgn="auto" latinLnBrk="0" hangingPunct="1">
              <a:lnSpc>
                <a:spcPts val="216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During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consultation,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definitions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evolve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change,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client/user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explores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support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work-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goals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28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expressed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user-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define: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8600" defTabSz="91440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80000"/>
              <a:buFont typeface="Wingdings 3"/>
              <a:buChar char="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wants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(operations)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8600" defTabSz="91440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80000"/>
              <a:buFont typeface="Wingdings 3"/>
              <a:buChar char="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(steps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interactions)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8600" defTabSz="91440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80000"/>
              <a:buFont typeface="Wingdings 3"/>
              <a:buChar char="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criteria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1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fit-</a:t>
            </a:r>
            <a:r>
              <a:rPr kumimoji="0" sz="2000" b="0" i="1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for-</a:t>
            </a:r>
            <a:r>
              <a:rPr kumimoji="0" sz="20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purpose</a:t>
            </a:r>
            <a:r>
              <a:rPr kumimoji="0" sz="2000" b="0" i="1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(fit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criteria)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7314" y="3759106"/>
            <a:ext cx="3243071" cy="223554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399" rIns="0" bIns="0" rtlCol="0">
            <a:spAutoFit/>
          </a:bodyPr>
          <a:lstStyle/>
          <a:p>
            <a:pPr marL="38989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9890" marR="0" lvl="0" indent="0" defTabSz="914400" eaLnBrk="1" fontAlgn="auto" latinLnBrk="0" hangingPunct="1">
                <a:lnSpc>
                  <a:spcPct val="100000"/>
                </a:lnSpc>
                <a:spcBef>
                  <a:spcPts val="42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484472"/>
            <a:ext cx="5420106" cy="23854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2974" y="2417081"/>
            <a:ext cx="6519025" cy="42161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0260" y="200979"/>
            <a:ext cx="4413991" cy="19211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997" y="6545925"/>
            <a:ext cx="5405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200" b="0" i="0" u="none" strike="noStrike" kern="0" cap="none" spc="43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https://dev.to/lanars_inc/what-an-agile-software-development-team-structure-looks-like-</a:t>
            </a:r>
            <a:r>
              <a:rPr kumimoji="0" sz="10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5h8i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48525" y="6654800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15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9031" y="151164"/>
            <a:ext cx="62928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Agile</a:t>
            </a:r>
            <a:r>
              <a:rPr sz="4400" spc="-90" dirty="0"/>
              <a:t> </a:t>
            </a:r>
            <a:r>
              <a:rPr sz="4400" dirty="0"/>
              <a:t>Planning</a:t>
            </a:r>
            <a:r>
              <a:rPr sz="4400" spc="-70" dirty="0"/>
              <a:t> </a:t>
            </a:r>
            <a:r>
              <a:rPr sz="4400" dirty="0"/>
              <a:t>as</a:t>
            </a:r>
            <a:r>
              <a:rPr sz="4400" spc="-85" dirty="0"/>
              <a:t> </a:t>
            </a:r>
            <a:r>
              <a:rPr sz="4400" spc="-10" dirty="0"/>
              <a:t>Navigation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399" rIns="0" bIns="0" rtlCol="0">
            <a:spAutoFit/>
          </a:bodyPr>
          <a:lstStyle/>
          <a:p>
            <a:pPr marL="38989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9890" marR="0" lvl="0" indent="0" defTabSz="914400" eaLnBrk="1" fontAlgn="auto" latinLnBrk="0" hangingPunct="1">
                <a:lnSpc>
                  <a:spcPct val="100000"/>
                </a:lnSpc>
                <a:spcBef>
                  <a:spcPts val="42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1123" y="882269"/>
            <a:ext cx="10451465" cy="585851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Roadmaps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104775" lvl="0" indent="-170180" defTabSz="914400" eaLnBrk="1" fontAlgn="auto" latinLnBrk="0" hangingPunct="1">
              <a:lnSpc>
                <a:spcPts val="1939"/>
              </a:lnSpc>
              <a:spcBef>
                <a:spcPts val="675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outlines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solution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time.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composed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initiatives,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large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areas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functionality,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include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timelines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communicate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available.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program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develops,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it's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accepted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change–sometimes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subtly,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sometimes broadly.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goal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focused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current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market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conditions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long-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term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goals.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266700" lvl="0" indent="-170180" defTabSz="914400" eaLnBrk="1" fontAlgn="auto" latinLnBrk="0" hangingPunct="1">
              <a:lnSpc>
                <a:spcPts val="1939"/>
              </a:lnSpc>
              <a:spcBef>
                <a:spcPts val="675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initiative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breaks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down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requirements.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lightweight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descriptions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functionality,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rather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100-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page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documents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associated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traditional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projects.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evolve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capitalize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team's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shared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understanding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customer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desired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product.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remain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lean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while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everyone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shared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understanding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ongoing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conversation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collaboration.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implementation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begin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fleshed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 full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details.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0" lvl="0" indent="-17018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sets 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priorities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program.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430530" lvl="1" indent="-170180" defTabSz="914400" eaLnBrk="1" fontAlgn="auto" latinLnBrk="0" hangingPunct="1">
              <a:lnSpc>
                <a:spcPts val="1939"/>
              </a:lnSpc>
              <a:spcBef>
                <a:spcPts val="53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(including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owner,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representatives,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UX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designers,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developers)</a:t>
            </a:r>
            <a:r>
              <a:rPr kumimoji="0" sz="18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includes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backlog: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bugs,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enhancements,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architectural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tasks,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0" lvl="1" indent="-170815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owner</a:t>
            </a:r>
            <a:r>
              <a:rPr kumimoji="0" sz="1800" b="0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prioritizes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0" lvl="1" indent="-170815" defTabSz="914400" eaLnBrk="1" fontAlgn="auto" latinLnBrk="0" hangingPunct="1">
              <a:lnSpc>
                <a:spcPct val="100000"/>
              </a:lnSpc>
              <a:spcBef>
                <a:spcPts val="284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1800" b="0" i="1" u="none" strike="noStrike" kern="0" cap="none" spc="-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then uses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prioritized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single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source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needs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done.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400" b="0" i="0" u="none" strike="noStrike" kern="0" cap="none" spc="3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https://www.atlassian.com/agile/project-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management/program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20"/>
            <a:ext cx="12192000" cy="6850380"/>
            <a:chOff x="0" y="7620"/>
            <a:chExt cx="12192000" cy="6850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20"/>
              <a:ext cx="12192000" cy="68502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83460" y="4628768"/>
              <a:ext cx="283210" cy="260350"/>
            </a:xfrm>
            <a:custGeom>
              <a:avLst/>
              <a:gdLst/>
              <a:ahLst/>
              <a:cxnLst/>
              <a:rect l="l" t="t" r="r" b="b"/>
              <a:pathLst>
                <a:path w="283210" h="260350">
                  <a:moveTo>
                    <a:pt x="0" y="129920"/>
                  </a:moveTo>
                  <a:lnTo>
                    <a:pt x="7206" y="88855"/>
                  </a:lnTo>
                  <a:lnTo>
                    <a:pt x="27272" y="53190"/>
                  </a:lnTo>
                  <a:lnTo>
                    <a:pt x="57870" y="25066"/>
                  </a:lnTo>
                  <a:lnTo>
                    <a:pt x="96672" y="6623"/>
                  </a:lnTo>
                  <a:lnTo>
                    <a:pt x="141351" y="0"/>
                  </a:lnTo>
                  <a:lnTo>
                    <a:pt x="186029" y="6623"/>
                  </a:lnTo>
                  <a:lnTo>
                    <a:pt x="224831" y="25066"/>
                  </a:lnTo>
                  <a:lnTo>
                    <a:pt x="255429" y="53190"/>
                  </a:lnTo>
                  <a:lnTo>
                    <a:pt x="275495" y="88855"/>
                  </a:lnTo>
                  <a:lnTo>
                    <a:pt x="282702" y="129920"/>
                  </a:lnTo>
                  <a:lnTo>
                    <a:pt x="275495" y="170986"/>
                  </a:lnTo>
                  <a:lnTo>
                    <a:pt x="255429" y="206651"/>
                  </a:lnTo>
                  <a:lnTo>
                    <a:pt x="224831" y="234775"/>
                  </a:lnTo>
                  <a:lnTo>
                    <a:pt x="186029" y="253218"/>
                  </a:lnTo>
                  <a:lnTo>
                    <a:pt x="141351" y="259841"/>
                  </a:lnTo>
                  <a:lnTo>
                    <a:pt x="96672" y="253218"/>
                  </a:lnTo>
                  <a:lnTo>
                    <a:pt x="57870" y="234775"/>
                  </a:lnTo>
                  <a:lnTo>
                    <a:pt x="27272" y="206651"/>
                  </a:lnTo>
                  <a:lnTo>
                    <a:pt x="7206" y="170986"/>
                  </a:lnTo>
                  <a:lnTo>
                    <a:pt x="0" y="129920"/>
                  </a:lnTo>
                  <a:close/>
                </a:path>
              </a:pathLst>
            </a:custGeom>
            <a:ln w="12700">
              <a:solidFill>
                <a:srgbClr val="E45D4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129049" y="4588764"/>
              <a:ext cx="1911350" cy="163830"/>
            </a:xfrm>
            <a:custGeom>
              <a:avLst/>
              <a:gdLst/>
              <a:ahLst/>
              <a:cxnLst/>
              <a:rect l="l" t="t" r="r" b="b"/>
              <a:pathLst>
                <a:path w="1911350" h="163829">
                  <a:moveTo>
                    <a:pt x="1910765" y="0"/>
                  </a:moveTo>
                  <a:lnTo>
                    <a:pt x="0" y="163741"/>
                  </a:lnTo>
                </a:path>
              </a:pathLst>
            </a:custGeom>
            <a:ln w="12700">
              <a:solidFill>
                <a:srgbClr val="E45D4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065779" y="4713456"/>
              <a:ext cx="79375" cy="76200"/>
            </a:xfrm>
            <a:custGeom>
              <a:avLst/>
              <a:gdLst/>
              <a:ahLst/>
              <a:cxnLst/>
              <a:rect l="l" t="t" r="r" b="b"/>
              <a:pathLst>
                <a:path w="79375" h="76200">
                  <a:moveTo>
                    <a:pt x="72669" y="0"/>
                  </a:moveTo>
                  <a:lnTo>
                    <a:pt x="0" y="44475"/>
                  </a:lnTo>
                  <a:lnTo>
                    <a:pt x="79184" y="75920"/>
                  </a:lnTo>
                  <a:lnTo>
                    <a:pt x="72669" y="0"/>
                  </a:lnTo>
                  <a:close/>
                </a:path>
              </a:pathLst>
            </a:custGeom>
            <a:solidFill>
              <a:srgbClr val="E45D4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52224" y="3644234"/>
            <a:ext cx="7905115" cy="3132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(more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less)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see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ridge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then you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sudden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drop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valley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behind that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ridge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9050" lvl="0" indent="0" defTabSz="914400" eaLnBrk="1" fontAlgn="auto" latinLnBrk="0" hangingPunct="1">
              <a:lnSpc>
                <a:spcPts val="1939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You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include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temple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third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ridge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“user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journey”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you’re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88265" lvl="0" indent="0" defTabSz="914400" eaLnBrk="1" fontAlgn="auto" latinLnBrk="0" hangingPunct="1">
              <a:lnSpc>
                <a:spcPts val="1939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that,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bets are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see 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landscape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outline,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landmarks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are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clear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enough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plan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1939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However,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reach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temple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third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ridge, you’ll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see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ridges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plan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33045" lvl="0" indent="0" defTabSz="914400" eaLnBrk="1" fontAlgn="auto" latinLnBrk="0" hangingPunct="1">
              <a:lnSpc>
                <a:spcPts val="1939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plan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parts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detail,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identify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interim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objectives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allow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needed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reach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lake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alibri"/>
                <a:cs typeface="Calibri"/>
              </a:rPr>
              <a:t> distance.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38100" lvl="0" indent="0" algn="r" defTabSz="91440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18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399" rIns="0" bIns="0" rtlCol="0">
            <a:spAutoFit/>
          </a:bodyPr>
          <a:lstStyle/>
          <a:p>
            <a:pPr marL="38989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9890" marR="0" lvl="0" indent="0" defTabSz="914400" eaLnBrk="1" fontAlgn="auto" latinLnBrk="0" hangingPunct="1">
                <a:lnSpc>
                  <a:spcPct val="100000"/>
                </a:lnSpc>
                <a:spcBef>
                  <a:spcPts val="42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3180" y="102936"/>
            <a:ext cx="11424920" cy="1043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" marR="5080" indent="-635">
              <a:lnSpc>
                <a:spcPct val="100000"/>
              </a:lnSpc>
              <a:spcBef>
                <a:spcPts val="100"/>
              </a:spcBef>
            </a:pP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Rolling-</a:t>
            </a:r>
            <a:r>
              <a:rPr sz="1800" b="1" dirty="0">
                <a:solidFill>
                  <a:srgbClr val="000000"/>
                </a:solidFill>
                <a:latin typeface="Calibri"/>
                <a:cs typeface="Calibri"/>
              </a:rPr>
              <a:t>wave</a:t>
            </a:r>
            <a:r>
              <a:rPr sz="18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alibri"/>
                <a:cs typeface="Calibri"/>
              </a:rPr>
              <a:t>planning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decompose</a:t>
            </a:r>
            <a:r>
              <a:rPr sz="1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near-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term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activities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down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detail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needed</a:t>
            </a:r>
            <a:r>
              <a:rPr sz="1800" b="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develop those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features,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but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only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plan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future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activities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at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i="1" dirty="0">
                <a:solidFill>
                  <a:srgbClr val="000000"/>
                </a:solidFill>
                <a:latin typeface="Calibri"/>
                <a:cs typeface="Calibri"/>
              </a:rPr>
              <a:t>high</a:t>
            </a:r>
            <a:r>
              <a:rPr sz="1800" b="0" i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i="1" dirty="0">
                <a:solidFill>
                  <a:srgbClr val="000000"/>
                </a:solidFill>
                <a:latin typeface="Calibri"/>
                <a:cs typeface="Calibri"/>
              </a:rPr>
              <a:t>level</a:t>
            </a:r>
            <a:r>
              <a:rPr sz="1800" b="0" i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(as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1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may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change</a:t>
            </a:r>
            <a:r>
              <a:rPr sz="1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direction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meantime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never</a:t>
            </a:r>
            <a:r>
              <a:rPr sz="1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implement</a:t>
            </a:r>
            <a:r>
              <a:rPr sz="1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these 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features)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20" dirty="0">
                <a:solidFill>
                  <a:srgbClr val="007373"/>
                </a:solidFill>
              </a:rPr>
              <a:t>Developing</a:t>
            </a:r>
            <a:r>
              <a:rPr sz="2800" spc="-105" dirty="0">
                <a:solidFill>
                  <a:srgbClr val="007373"/>
                </a:solidFill>
              </a:rPr>
              <a:t> </a:t>
            </a:r>
            <a:r>
              <a:rPr sz="2800" dirty="0">
                <a:solidFill>
                  <a:srgbClr val="007373"/>
                </a:solidFill>
              </a:rPr>
              <a:t>an</a:t>
            </a:r>
            <a:r>
              <a:rPr sz="2800" spc="-105" dirty="0">
                <a:solidFill>
                  <a:srgbClr val="007373"/>
                </a:solidFill>
              </a:rPr>
              <a:t> </a:t>
            </a:r>
            <a:r>
              <a:rPr sz="2800" dirty="0">
                <a:solidFill>
                  <a:srgbClr val="007373"/>
                </a:solidFill>
              </a:rPr>
              <a:t>agile</a:t>
            </a:r>
            <a:r>
              <a:rPr sz="2800" spc="-90" dirty="0">
                <a:solidFill>
                  <a:srgbClr val="007373"/>
                </a:solidFill>
              </a:rPr>
              <a:t> </a:t>
            </a:r>
            <a:r>
              <a:rPr sz="2800" spc="-25" dirty="0">
                <a:solidFill>
                  <a:srgbClr val="007373"/>
                </a:solidFill>
              </a:rPr>
              <a:t>roadmap</a:t>
            </a:r>
            <a:r>
              <a:rPr sz="2800" spc="-100" dirty="0">
                <a:solidFill>
                  <a:srgbClr val="007373"/>
                </a:solidFill>
              </a:rPr>
              <a:t> </a:t>
            </a:r>
            <a:r>
              <a:rPr sz="2800" dirty="0">
                <a:solidFill>
                  <a:srgbClr val="007373"/>
                </a:solidFill>
              </a:rPr>
              <a:t>is</a:t>
            </a:r>
            <a:r>
              <a:rPr sz="2800" spc="-85" dirty="0">
                <a:solidFill>
                  <a:srgbClr val="007373"/>
                </a:solidFill>
              </a:rPr>
              <a:t> </a:t>
            </a:r>
            <a:r>
              <a:rPr sz="2800" spc="-10" dirty="0">
                <a:solidFill>
                  <a:srgbClr val="007373"/>
                </a:solidFill>
              </a:rPr>
              <a:t>like</a:t>
            </a:r>
            <a:r>
              <a:rPr sz="2800" spc="-85" dirty="0">
                <a:solidFill>
                  <a:srgbClr val="007373"/>
                </a:solidFill>
              </a:rPr>
              <a:t> </a:t>
            </a:r>
            <a:r>
              <a:rPr sz="2800" spc="-30" dirty="0">
                <a:solidFill>
                  <a:srgbClr val="007373"/>
                </a:solidFill>
              </a:rPr>
              <a:t>navigating</a:t>
            </a:r>
            <a:r>
              <a:rPr sz="2800" spc="-100" dirty="0">
                <a:solidFill>
                  <a:srgbClr val="007373"/>
                </a:solidFill>
              </a:rPr>
              <a:t> </a:t>
            </a:r>
            <a:r>
              <a:rPr sz="2800" dirty="0">
                <a:solidFill>
                  <a:srgbClr val="007373"/>
                </a:solidFill>
              </a:rPr>
              <a:t>a</a:t>
            </a:r>
            <a:r>
              <a:rPr sz="2800" spc="-95" dirty="0">
                <a:solidFill>
                  <a:srgbClr val="007373"/>
                </a:solidFill>
              </a:rPr>
              <a:t> </a:t>
            </a:r>
            <a:r>
              <a:rPr sz="2800" spc="-10" dirty="0">
                <a:solidFill>
                  <a:srgbClr val="007373"/>
                </a:solidFill>
              </a:rPr>
              <a:t>path</a:t>
            </a:r>
            <a:r>
              <a:rPr sz="2800" spc="-110" dirty="0">
                <a:solidFill>
                  <a:srgbClr val="007373"/>
                </a:solidFill>
              </a:rPr>
              <a:t> </a:t>
            </a:r>
            <a:r>
              <a:rPr sz="2800" spc="-20" dirty="0">
                <a:solidFill>
                  <a:srgbClr val="007373"/>
                </a:solidFill>
              </a:rPr>
              <a:t>through</a:t>
            </a:r>
            <a:r>
              <a:rPr sz="2800" spc="-100" dirty="0">
                <a:solidFill>
                  <a:srgbClr val="007373"/>
                </a:solidFill>
              </a:rPr>
              <a:t> </a:t>
            </a:r>
            <a:r>
              <a:rPr sz="2800" spc="-10" dirty="0">
                <a:solidFill>
                  <a:srgbClr val="007373"/>
                </a:solidFill>
              </a:rPr>
              <a:t>misty</a:t>
            </a:r>
            <a:r>
              <a:rPr sz="2800" spc="-100" dirty="0">
                <a:solidFill>
                  <a:srgbClr val="007373"/>
                </a:solidFill>
              </a:rPr>
              <a:t> </a:t>
            </a:r>
            <a:r>
              <a:rPr sz="2800" spc="-25" dirty="0">
                <a:solidFill>
                  <a:srgbClr val="007373"/>
                </a:solidFill>
              </a:rPr>
              <a:t>mountains</a:t>
            </a:r>
            <a:r>
              <a:rPr sz="2800" spc="-95" dirty="0">
                <a:solidFill>
                  <a:srgbClr val="007373"/>
                </a:solidFill>
              </a:rPr>
              <a:t> </a:t>
            </a:r>
            <a:r>
              <a:rPr sz="2800" spc="-50" dirty="0">
                <a:solidFill>
                  <a:srgbClr val="007373"/>
                </a:solidFill>
              </a:rPr>
              <a:t>…</a:t>
            </a:r>
            <a:endParaRPr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0206" y="1732026"/>
              <a:ext cx="5169407" cy="40332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251066" y="1762886"/>
              <a:ext cx="5053965" cy="3917950"/>
            </a:xfrm>
            <a:custGeom>
              <a:avLst/>
              <a:gdLst/>
              <a:ahLst/>
              <a:cxnLst/>
              <a:rect l="l" t="t" r="r" b="b"/>
              <a:pathLst>
                <a:path w="5053965" h="3917950">
                  <a:moveTo>
                    <a:pt x="0" y="0"/>
                  </a:moveTo>
                  <a:lnTo>
                    <a:pt x="5053584" y="0"/>
                  </a:lnTo>
                  <a:lnTo>
                    <a:pt x="5053584" y="3917441"/>
                  </a:lnTo>
                  <a:lnTo>
                    <a:pt x="0" y="391744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535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753183" y="4899171"/>
            <a:ext cx="1078865" cy="5822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27940" lvl="0" indent="0" defTabSz="914400" eaLnBrk="1" fontAlgn="auto" latinLnBrk="0" hangingPunct="1">
              <a:lnSpc>
                <a:spcPts val="14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Functional Requirements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 3"/>
                <a:cs typeface="Wingdings 3"/>
              </a:rPr>
              <a:t>⭢</a:t>
            </a:r>
            <a:r>
              <a:rPr kumimoji="0" sz="135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Devt.</a:t>
            </a:r>
            <a:r>
              <a:rPr kumimoji="0" sz="13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Tasks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53103" y="4185615"/>
            <a:ext cx="5403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Stories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53103" y="3104696"/>
            <a:ext cx="6794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Features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53103" y="2084793"/>
            <a:ext cx="4311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Epics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05550" y="1884426"/>
            <a:ext cx="5485765" cy="4777740"/>
            <a:chOff x="6305550" y="1884426"/>
            <a:chExt cx="5485765" cy="477774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5550" y="1884426"/>
              <a:ext cx="3389185" cy="36286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2817" y="5473446"/>
              <a:ext cx="2198368" cy="11209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58350" y="5419344"/>
              <a:ext cx="2105405" cy="124282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255104" y="1388671"/>
            <a:ext cx="516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So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we</a:t>
            </a:r>
            <a:r>
              <a:rPr kumimoji="0" sz="1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derive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a</a:t>
            </a:r>
            <a:r>
              <a:rPr kumimoji="0" sz="1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/>
                <a:cs typeface="Calibri Light"/>
              </a:rPr>
              <a:t>feature-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/>
                <a:cs typeface="Calibri Light"/>
              </a:rPr>
              <a:t>based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 Light"/>
                <a:cs typeface="Calibri Light"/>
              </a:rPr>
              <a:t>work-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 Light"/>
                <a:cs typeface="Calibri Light"/>
              </a:rPr>
              <a:t>breakdown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 Light"/>
                <a:cs typeface="Calibri Light"/>
              </a:rPr>
              <a:t>structure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cs typeface="Calibri Light"/>
              </a:rPr>
              <a:t>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399" rIns="0" bIns="0" rtlCol="0">
            <a:spAutoFit/>
          </a:bodyPr>
          <a:lstStyle/>
          <a:p>
            <a:pPr marL="38989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9890" marR="0" lvl="0" indent="0" defTabSz="914400" eaLnBrk="1" fontAlgn="auto" latinLnBrk="0" hangingPunct="1">
                <a:lnSpc>
                  <a:spcPct val="100000"/>
                </a:lnSpc>
                <a:spcBef>
                  <a:spcPts val="42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87193" y="1793731"/>
            <a:ext cx="4479290" cy="173228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5"/>
              </a:spcBef>
            </a:pPr>
            <a:r>
              <a:rPr dirty="0">
                <a:solidFill>
                  <a:srgbClr val="FDEEB5"/>
                </a:solidFill>
              </a:rPr>
              <a:t>Agile</a:t>
            </a:r>
            <a:r>
              <a:rPr spc="-90" dirty="0">
                <a:solidFill>
                  <a:srgbClr val="FDEEB5"/>
                </a:solidFill>
              </a:rPr>
              <a:t> </a:t>
            </a:r>
            <a:r>
              <a:rPr dirty="0">
                <a:solidFill>
                  <a:srgbClr val="FDEEB5"/>
                </a:solidFill>
              </a:rPr>
              <a:t>Project</a:t>
            </a:r>
            <a:r>
              <a:rPr spc="-80" dirty="0">
                <a:solidFill>
                  <a:srgbClr val="FDEEB5"/>
                </a:solidFill>
              </a:rPr>
              <a:t> </a:t>
            </a:r>
            <a:r>
              <a:rPr spc="-10" dirty="0">
                <a:solidFill>
                  <a:srgbClr val="FDEEB5"/>
                </a:solidFill>
              </a:rPr>
              <a:t>Features </a:t>
            </a:r>
            <a:r>
              <a:rPr dirty="0">
                <a:solidFill>
                  <a:srgbClr val="FDEEB5"/>
                </a:solidFill>
              </a:rPr>
              <a:t>are</a:t>
            </a:r>
            <a:r>
              <a:rPr spc="-80" dirty="0">
                <a:solidFill>
                  <a:srgbClr val="FDEEB5"/>
                </a:solidFill>
              </a:rPr>
              <a:t> </a:t>
            </a:r>
            <a:r>
              <a:rPr dirty="0">
                <a:solidFill>
                  <a:srgbClr val="FDEEB5"/>
                </a:solidFill>
              </a:rPr>
              <a:t>decomposed</a:t>
            </a:r>
            <a:r>
              <a:rPr spc="-80" dirty="0">
                <a:solidFill>
                  <a:srgbClr val="FDEEB5"/>
                </a:solidFill>
              </a:rPr>
              <a:t> </a:t>
            </a:r>
            <a:r>
              <a:rPr spc="-25" dirty="0">
                <a:solidFill>
                  <a:srgbClr val="FDEEB5"/>
                </a:solidFill>
              </a:rPr>
              <a:t>to </a:t>
            </a:r>
            <a:r>
              <a:rPr dirty="0">
                <a:solidFill>
                  <a:srgbClr val="FDEEB5"/>
                </a:solidFill>
              </a:rPr>
              <a:t>provide</a:t>
            </a:r>
            <a:r>
              <a:rPr spc="-95" dirty="0">
                <a:solidFill>
                  <a:srgbClr val="FDEEB5"/>
                </a:solidFill>
              </a:rPr>
              <a:t> </a:t>
            </a:r>
            <a:r>
              <a:rPr dirty="0">
                <a:solidFill>
                  <a:srgbClr val="FDEEB5"/>
                </a:solidFill>
              </a:rPr>
              <a:t>backlog</a:t>
            </a:r>
            <a:r>
              <a:rPr spc="-70" dirty="0">
                <a:solidFill>
                  <a:srgbClr val="FDEEB5"/>
                </a:solidFill>
              </a:rPr>
              <a:t> </a:t>
            </a:r>
            <a:r>
              <a:rPr spc="-10" dirty="0">
                <a:solidFill>
                  <a:srgbClr val="FDEEB5"/>
                </a:solidFill>
              </a:rPr>
              <a:t>items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16190" y="3665143"/>
            <a:ext cx="4262755" cy="22479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82880" marR="5080" lvl="0" indent="-170815" defTabSz="914400" eaLnBrk="1" fontAlgn="auto" latinLnBrk="0" hangingPunct="1">
              <a:lnSpc>
                <a:spcPts val="2380"/>
              </a:lnSpc>
              <a:spcBef>
                <a:spcPts val="395"/>
              </a:spcBef>
              <a:spcAft>
                <a:spcPts val="0"/>
              </a:spcAft>
              <a:buClrTx/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Equivalent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of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WBS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–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Each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item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in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backlog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reflects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a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deliverable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that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can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be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completed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in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one</a:t>
            </a:r>
            <a:r>
              <a:rPr kumimoji="0" sz="2200" b="0" i="0" u="none" strike="noStrike" kern="0" cap="none" spc="46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build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cycle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cs typeface="Calibri Light"/>
            </a:endParaRPr>
          </a:p>
          <a:p>
            <a:pPr marL="182245" marR="114935" lvl="0" indent="-170180" defTabSz="914400" eaLnBrk="1" fontAlgn="auto" latinLnBrk="0" hangingPunct="1">
              <a:lnSpc>
                <a:spcPts val="2380"/>
              </a:lnSpc>
              <a:spcBef>
                <a:spcPts val="590"/>
              </a:spcBef>
              <a:spcAft>
                <a:spcPts val="0"/>
              </a:spcAft>
              <a:buClrTx/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The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agile</a:t>
            </a:r>
            <a:r>
              <a:rPr kumimoji="0" sz="2200" b="0" i="0" u="none" strike="noStrike" kern="0" cap="none" spc="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WBS is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1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also</a:t>
            </a:r>
            <a:r>
              <a:rPr kumimoji="0" sz="2200" b="0" i="1" u="none" strike="noStrike" kern="0" cap="none" spc="-1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1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known</a:t>
            </a:r>
            <a:r>
              <a:rPr kumimoji="0" sz="2200" b="0" i="1" u="none" strike="noStrike" kern="0" cap="none" spc="-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1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as</a:t>
            </a:r>
            <a:r>
              <a:rPr kumimoji="0" sz="2200" b="0" i="1" u="none" strike="noStrike" kern="0" cap="none" spc="-1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a 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Value</a:t>
            </a: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Breakdown</a:t>
            </a: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Structure,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as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each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deliverable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should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deliver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measurable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value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to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the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FDEEB5"/>
                </a:solidFill>
                <a:effectLst/>
                <a:uLnTx/>
                <a:uFillTx/>
                <a:latin typeface="Calibri Light"/>
                <a:cs typeface="Calibri Light"/>
              </a:rPr>
              <a:t>client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17964" y="5498591"/>
            <a:ext cx="2094864" cy="101726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2860" rIns="0" bIns="0" rtlCol="0">
            <a:spAutoFit/>
          </a:bodyPr>
          <a:lstStyle/>
          <a:p>
            <a:pPr marL="164465" marR="155575" lvl="0" indent="0" defTabSz="914400" eaLnBrk="1" fontAlgn="auto" latinLnBrk="0" hangingPunct="1">
              <a:lnSpc>
                <a:spcPts val="125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13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3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300" b="0" i="1" u="none" strike="noStrike" kern="0" cap="none" spc="-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explore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sz="1300" b="0" i="1" u="none" strike="noStrike" kern="0" cap="none" spc="-7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dependencies,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functional</a:t>
            </a:r>
            <a:r>
              <a:rPr kumimoji="0" sz="1300" b="0" i="1" u="none" strike="noStrike" kern="0" cap="none" spc="-4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300" b="0" i="1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-5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&amp;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1300" b="0" i="1" u="none" strike="noStrike" kern="0" cap="none" spc="-4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sz="1300" b="0" i="1" u="none" strike="noStrike" kern="0" cap="none" spc="-4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300" b="0" i="1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not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defined</a:t>
            </a:r>
            <a:r>
              <a:rPr kumimoji="0" sz="1300" b="0" i="1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until</a:t>
            </a:r>
            <a:r>
              <a:rPr kumimoji="0" sz="1300" b="0" i="1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13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13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iteration</a:t>
            </a:r>
            <a:r>
              <a:rPr kumimoji="0" sz="1300" b="0" i="1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300" b="0" i="1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96D5-E34E-D00D-01FE-1C095D02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88" y="33406"/>
            <a:ext cx="11232515" cy="615553"/>
          </a:xfrm>
        </p:spPr>
        <p:txBody>
          <a:bodyPr/>
          <a:lstStyle/>
          <a:p>
            <a:r>
              <a:rPr lang="en-US" dirty="0"/>
              <a:t>Agile – The Agile Practice Guide</a:t>
            </a:r>
          </a:p>
        </p:txBody>
      </p:sp>
      <p:pic>
        <p:nvPicPr>
          <p:cNvPr id="4" name="Online Media 3" title="Agile - The Whole Team Approach | Agile Practice Guide - Project Management Institute">
            <a:hlinkClick r:id="" action="ppaction://media"/>
            <a:extLst>
              <a:ext uri="{FF2B5EF4-FFF2-40B4-BE49-F238E27FC236}">
                <a16:creationId xmlns:a16="http://schemas.microsoft.com/office/drawing/2014/main" id="{6F823C80-DA81-0DF0-2A48-59FBB8D188D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00200" y="888873"/>
            <a:ext cx="9067800" cy="512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9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02D0-D359-FCFA-8804-23F7B094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88" y="33406"/>
            <a:ext cx="11232515" cy="615553"/>
          </a:xfrm>
        </p:spPr>
        <p:txBody>
          <a:bodyPr/>
          <a:lstStyle/>
          <a:p>
            <a:r>
              <a:rPr lang="en-US" dirty="0"/>
              <a:t>Delivering in an Agile Environment</a:t>
            </a:r>
          </a:p>
        </p:txBody>
      </p:sp>
      <p:pic>
        <p:nvPicPr>
          <p:cNvPr id="4" name="Online Media 3" title="Delivering In An Agile Environment | The Agile Practice Guide">
            <a:hlinkClick r:id="" action="ppaction://media"/>
            <a:extLst>
              <a:ext uri="{FF2B5EF4-FFF2-40B4-BE49-F238E27FC236}">
                <a16:creationId xmlns:a16="http://schemas.microsoft.com/office/drawing/2014/main" id="{DCED16F4-585A-106A-9922-2580120B661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9600" y="990600"/>
            <a:ext cx="95250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6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924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95"/>
              </a:spcBef>
            </a:pPr>
            <a:r>
              <a:rPr sz="4400" spc="-20" dirty="0"/>
              <a:t>Iterations</a:t>
            </a:r>
            <a:r>
              <a:rPr sz="4400" spc="-125" dirty="0"/>
              <a:t> </a:t>
            </a:r>
            <a:r>
              <a:rPr sz="4400" dirty="0"/>
              <a:t>are</a:t>
            </a:r>
            <a:r>
              <a:rPr sz="4400" spc="-130" dirty="0"/>
              <a:t> </a:t>
            </a:r>
            <a:r>
              <a:rPr sz="4400" dirty="0"/>
              <a:t>planned</a:t>
            </a:r>
            <a:r>
              <a:rPr sz="4400" spc="-120" dirty="0"/>
              <a:t> </a:t>
            </a:r>
            <a:r>
              <a:rPr sz="4400" dirty="0"/>
              <a:t>around</a:t>
            </a:r>
            <a:r>
              <a:rPr sz="4400" spc="-125" dirty="0"/>
              <a:t> </a:t>
            </a:r>
            <a:r>
              <a:rPr sz="4400" dirty="0"/>
              <a:t>the</a:t>
            </a:r>
            <a:r>
              <a:rPr sz="4400" spc="-130" dirty="0"/>
              <a:t> </a:t>
            </a:r>
            <a:r>
              <a:rPr sz="4400" spc="-10" dirty="0"/>
              <a:t>backlog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952500" y="1560628"/>
            <a:ext cx="8285480" cy="3906520"/>
            <a:chOff x="952500" y="1560628"/>
            <a:chExt cx="8285480" cy="3906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1610763"/>
              <a:ext cx="4116610" cy="38560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3633" y="1560628"/>
              <a:ext cx="3677374" cy="249941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35717" y="1657731"/>
              <a:ext cx="2490470" cy="255904"/>
            </a:xfrm>
            <a:custGeom>
              <a:avLst/>
              <a:gdLst/>
              <a:ahLst/>
              <a:cxnLst/>
              <a:rect l="l" t="t" r="r" b="b"/>
              <a:pathLst>
                <a:path w="2490470" h="255905">
                  <a:moveTo>
                    <a:pt x="2490000" y="0"/>
                  </a:moveTo>
                  <a:lnTo>
                    <a:pt x="2415331" y="131"/>
                  </a:lnTo>
                  <a:lnTo>
                    <a:pt x="2341200" y="525"/>
                  </a:lnTo>
                  <a:lnTo>
                    <a:pt x="2267637" y="1175"/>
                  </a:lnTo>
                  <a:lnTo>
                    <a:pt x="2194671" y="2080"/>
                  </a:lnTo>
                  <a:lnTo>
                    <a:pt x="2122332" y="3236"/>
                  </a:lnTo>
                  <a:lnTo>
                    <a:pt x="2050651" y="4638"/>
                  </a:lnTo>
                  <a:lnTo>
                    <a:pt x="1979656" y="6283"/>
                  </a:lnTo>
                  <a:lnTo>
                    <a:pt x="1909378" y="8168"/>
                  </a:lnTo>
                  <a:lnTo>
                    <a:pt x="1839847" y="10289"/>
                  </a:lnTo>
                  <a:lnTo>
                    <a:pt x="1771092" y="12642"/>
                  </a:lnTo>
                  <a:lnTo>
                    <a:pt x="1703143" y="15224"/>
                  </a:lnTo>
                  <a:lnTo>
                    <a:pt x="1636030" y="18030"/>
                  </a:lnTo>
                  <a:lnTo>
                    <a:pt x="1569783" y="21058"/>
                  </a:lnTo>
                  <a:lnTo>
                    <a:pt x="1504432" y="24304"/>
                  </a:lnTo>
                  <a:lnTo>
                    <a:pt x="1440006" y="27763"/>
                  </a:lnTo>
                  <a:lnTo>
                    <a:pt x="1376536" y="31434"/>
                  </a:lnTo>
                  <a:lnTo>
                    <a:pt x="1314051" y="35311"/>
                  </a:lnTo>
                  <a:lnTo>
                    <a:pt x="1252581" y="39391"/>
                  </a:lnTo>
                  <a:lnTo>
                    <a:pt x="1192155" y="43670"/>
                  </a:lnTo>
                  <a:lnTo>
                    <a:pt x="1132805" y="48146"/>
                  </a:lnTo>
                  <a:lnTo>
                    <a:pt x="1074559" y="52814"/>
                  </a:lnTo>
                  <a:lnTo>
                    <a:pt x="1017447" y="57671"/>
                  </a:lnTo>
                  <a:lnTo>
                    <a:pt x="961500" y="62712"/>
                  </a:lnTo>
                  <a:lnTo>
                    <a:pt x="906747" y="67935"/>
                  </a:lnTo>
                  <a:lnTo>
                    <a:pt x="853217" y="73336"/>
                  </a:lnTo>
                  <a:lnTo>
                    <a:pt x="800942" y="78910"/>
                  </a:lnTo>
                  <a:lnTo>
                    <a:pt x="749949" y="84656"/>
                  </a:lnTo>
                  <a:lnTo>
                    <a:pt x="700270" y="90568"/>
                  </a:lnTo>
                  <a:lnTo>
                    <a:pt x="651935" y="96643"/>
                  </a:lnTo>
                  <a:lnTo>
                    <a:pt x="604972" y="102878"/>
                  </a:lnTo>
                  <a:lnTo>
                    <a:pt x="559412" y="109268"/>
                  </a:lnTo>
                  <a:lnTo>
                    <a:pt x="515285" y="115812"/>
                  </a:lnTo>
                  <a:lnTo>
                    <a:pt x="472621" y="122503"/>
                  </a:lnTo>
                  <a:lnTo>
                    <a:pt x="431449" y="129340"/>
                  </a:lnTo>
                  <a:lnTo>
                    <a:pt x="391799" y="136318"/>
                  </a:lnTo>
                  <a:lnTo>
                    <a:pt x="353701" y="143434"/>
                  </a:lnTo>
                  <a:lnTo>
                    <a:pt x="282281" y="158064"/>
                  </a:lnTo>
                  <a:lnTo>
                    <a:pt x="217426" y="173202"/>
                  </a:lnTo>
                  <a:lnTo>
                    <a:pt x="159377" y="188819"/>
                  </a:lnTo>
                  <a:lnTo>
                    <a:pt x="108371" y="204884"/>
                  </a:lnTo>
                  <a:lnTo>
                    <a:pt x="64647" y="221370"/>
                  </a:lnTo>
                  <a:lnTo>
                    <a:pt x="28443" y="238247"/>
                  </a:lnTo>
                  <a:lnTo>
                    <a:pt x="13237" y="246823"/>
                  </a:lnTo>
                  <a:lnTo>
                    <a:pt x="0" y="255485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599310" y="1881267"/>
              <a:ext cx="74930" cy="84455"/>
            </a:xfrm>
            <a:custGeom>
              <a:avLst/>
              <a:gdLst/>
              <a:ahLst/>
              <a:cxnLst/>
              <a:rect l="l" t="t" r="r" b="b"/>
              <a:pathLst>
                <a:path w="74929" h="84455">
                  <a:moveTo>
                    <a:pt x="12204" y="0"/>
                  </a:moveTo>
                  <a:lnTo>
                    <a:pt x="0" y="84315"/>
                  </a:lnTo>
                  <a:lnTo>
                    <a:pt x="74777" y="43497"/>
                  </a:lnTo>
                  <a:lnTo>
                    <a:pt x="12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166479" y="2807588"/>
              <a:ext cx="64769" cy="609600"/>
            </a:xfrm>
            <a:custGeom>
              <a:avLst/>
              <a:gdLst/>
              <a:ahLst/>
              <a:cxnLst/>
              <a:rect l="l" t="t" r="r" b="b"/>
              <a:pathLst>
                <a:path w="64770" h="609600">
                  <a:moveTo>
                    <a:pt x="0" y="0"/>
                  </a:moveTo>
                  <a:lnTo>
                    <a:pt x="12603" y="423"/>
                  </a:lnTo>
                  <a:lnTo>
                    <a:pt x="22898" y="1579"/>
                  </a:lnTo>
                  <a:lnTo>
                    <a:pt x="29839" y="3295"/>
                  </a:lnTo>
                  <a:lnTo>
                    <a:pt x="32384" y="5397"/>
                  </a:lnTo>
                  <a:lnTo>
                    <a:pt x="32384" y="299402"/>
                  </a:lnTo>
                  <a:lnTo>
                    <a:pt x="34930" y="301504"/>
                  </a:lnTo>
                  <a:lnTo>
                    <a:pt x="41871" y="303220"/>
                  </a:lnTo>
                  <a:lnTo>
                    <a:pt x="52166" y="304376"/>
                  </a:lnTo>
                  <a:lnTo>
                    <a:pt x="64769" y="304800"/>
                  </a:lnTo>
                  <a:lnTo>
                    <a:pt x="52166" y="305223"/>
                  </a:lnTo>
                  <a:lnTo>
                    <a:pt x="41871" y="306379"/>
                  </a:lnTo>
                  <a:lnTo>
                    <a:pt x="34930" y="308095"/>
                  </a:lnTo>
                  <a:lnTo>
                    <a:pt x="32384" y="310197"/>
                  </a:lnTo>
                  <a:lnTo>
                    <a:pt x="32384" y="604202"/>
                  </a:lnTo>
                  <a:lnTo>
                    <a:pt x="29839" y="606304"/>
                  </a:lnTo>
                  <a:lnTo>
                    <a:pt x="22898" y="608020"/>
                  </a:lnTo>
                  <a:lnTo>
                    <a:pt x="12603" y="609176"/>
                  </a:lnTo>
                  <a:lnTo>
                    <a:pt x="0" y="609600"/>
                  </a:lnTo>
                </a:path>
              </a:pathLst>
            </a:custGeom>
            <a:ln w="12699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904" y="4096349"/>
            <a:ext cx="11252200" cy="265176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6370955" marR="0" lvl="0" indent="0" defTabSz="914400" eaLnBrk="1" fontAlgn="auto" latinLnBrk="0" hangingPunct="1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>
                  <a:solidFill>
                    <a:srgbClr val="007373"/>
                  </a:solidFill>
                </a:uFill>
                <a:latin typeface="Arial"/>
                <a:cs typeface="Arial"/>
              </a:rPr>
              <a:t>Feature</a:t>
            </a:r>
            <a:r>
              <a:rPr kumimoji="0" sz="1800" b="0" i="0" u="sng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>
                  <a:solidFill>
                    <a:srgbClr val="007373"/>
                  </a:solidFill>
                </a:uFill>
                <a:latin typeface="Arial"/>
                <a:cs typeface="Arial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>
                  <a:solidFill>
                    <a:srgbClr val="007373"/>
                  </a:solidFill>
                </a:uFill>
                <a:latin typeface="Arial"/>
                <a:cs typeface="Arial"/>
              </a:rPr>
              <a:t>Backlog</a:t>
            </a:r>
            <a:r>
              <a:rPr kumimoji="0" sz="1800" b="0" i="0" u="sng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>
                  <a:solidFill>
                    <a:srgbClr val="007373"/>
                  </a:solidFill>
                </a:uFill>
                <a:latin typeface="Arial"/>
                <a:cs typeface="Arial"/>
              </a:rPr>
              <a:t> </a:t>
            </a:r>
            <a:r>
              <a:rPr kumimoji="0" sz="1800" b="0" i="0" u="sng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>
                  <a:solidFill>
                    <a:srgbClr val="007373"/>
                  </a:solidFill>
                </a:uFill>
                <a:latin typeface="Arial"/>
                <a:cs typeface="Arial"/>
              </a:rPr>
              <a:t>List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541134" marR="191770" lvl="0" indent="-170180" defTabSz="914400" eaLnBrk="1" fontAlgn="auto" latinLnBrk="0" hangingPunct="1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7373"/>
              </a:buClr>
              <a:buSzTx/>
              <a:buFont typeface="Wingdings 3"/>
              <a:buChar char=""/>
              <a:tabLst>
                <a:tab pos="654177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reprioritized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meeting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cycle,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represent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client’s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current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priorities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(having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seen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cycle’s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prototype)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541134" marR="0" lvl="0" indent="-17081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Tx/>
              <a:buFont typeface="Wingdings 3"/>
              <a:buChar char=""/>
              <a:tabLst>
                <a:tab pos="654177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541134" marR="5080" lvl="0" indent="-1701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Tx/>
              <a:buFont typeface="Wingdings 3"/>
              <a:buChar char=""/>
              <a:tabLst>
                <a:tab pos="654177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isn't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functional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requirement,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external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regulation,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defect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fix,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etc.)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still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backlog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70955" marR="0" lvl="0" indent="0" defTabSz="914400" eaLnBrk="1" fontAlgn="auto" latinLnBrk="0" hangingPunct="1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“If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isn’t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backlog,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ain’t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gonna 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happen.”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360035" lvl="0" indent="0" defTabSz="91440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Diagrams</a:t>
            </a:r>
            <a:r>
              <a:rPr kumimoji="0" sz="1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from</a:t>
            </a:r>
            <a:r>
              <a:rPr kumimoji="0" sz="1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Dynamic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Ventures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Inc.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http://www.dyve.com/dv/methodology.htm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http://www.agilemodeling.com/essays/changeManagement.htm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399" rIns="0" bIns="0" rtlCol="0">
            <a:spAutoFit/>
          </a:bodyPr>
          <a:lstStyle/>
          <a:p>
            <a:pPr marL="389890" marR="0" lvl="0" indent="0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9890" marR="0" lvl="0" indent="0" defTabSz="914400" eaLnBrk="1" fontAlgn="auto" latinLnBrk="0" hangingPunct="1">
                <a:lnSpc>
                  <a:spcPct val="100000"/>
                </a:lnSpc>
                <a:spcBef>
                  <a:spcPts val="42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2647" y="1168467"/>
            <a:ext cx="283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BACKLOG</a:t>
            </a:r>
            <a:r>
              <a:rPr kumimoji="0" sz="1800" b="0" i="0" u="sng" strike="noStrike" kern="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kumimoji="0" sz="18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(SCOPE</a:t>
            </a:r>
            <a:r>
              <a:rPr kumimoji="0" sz="1800" b="0" i="0" u="sng" strike="noStrike" kern="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kumimoji="0" sz="1800" b="0" i="0" u="sng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BANK)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75654" y="2839839"/>
            <a:ext cx="2129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but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are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usually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prioritized</a:t>
            </a:r>
            <a:r>
              <a:rPr kumimoji="0" sz="800" b="0" i="0" u="none" strike="noStrike" kern="0" cap="none" spc="26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&amp;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modified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(added,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removed,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updated)as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part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of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the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cycle-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planning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activity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at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start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a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cycle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or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the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end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previous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/>
                <a:cs typeface="Verdana"/>
              </a:rPr>
              <a:t>cycle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539" y="291439"/>
            <a:ext cx="83889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600" baseline="17676" dirty="0"/>
              <a:t>Stories,</a:t>
            </a:r>
            <a:r>
              <a:rPr sz="6600" spc="82" baseline="17676" dirty="0"/>
              <a:t> </a:t>
            </a:r>
            <a:r>
              <a:rPr sz="6600" spc="-1897" baseline="17676" dirty="0"/>
              <a:t>E</a:t>
            </a:r>
            <a:r>
              <a:rPr sz="2400" b="0" spc="-7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0" spc="-79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6600" spc="-1514" baseline="17676" dirty="0"/>
              <a:t>p</a:t>
            </a:r>
            <a:r>
              <a:rPr sz="2400" b="0" spc="-38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0" spc="-9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6600" spc="-37" baseline="17676" dirty="0"/>
              <a:t>i</a:t>
            </a:r>
            <a:r>
              <a:rPr sz="2400" b="0" spc="-94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6600" spc="-1462" baseline="17676" dirty="0"/>
              <a:t>c</a:t>
            </a:r>
            <a:r>
              <a:rPr sz="2400" b="0" spc="-15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6600" spc="-2497" baseline="17676" dirty="0"/>
              <a:t>s</a:t>
            </a:r>
            <a:r>
              <a:rPr sz="2400" b="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0" spc="-104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6600" spc="-22" baseline="17676" dirty="0"/>
              <a:t>,</a:t>
            </a:r>
            <a:r>
              <a:rPr sz="6600" spc="-727" baseline="17676" dirty="0"/>
              <a:t> </a:t>
            </a:r>
            <a:r>
              <a:rPr sz="2400" b="0" spc="-74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6600" spc="-532" baseline="17676" dirty="0"/>
              <a:t>I</a:t>
            </a:r>
            <a:r>
              <a:rPr sz="2400" b="0" spc="-8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600" spc="-2197" baseline="17676" dirty="0"/>
              <a:t>n</a:t>
            </a:r>
            <a:r>
              <a:rPr sz="2400" b="0" spc="-6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0" spc="-7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6600" spc="-315" baseline="17676" dirty="0"/>
              <a:t>i</a:t>
            </a:r>
            <a:r>
              <a:rPr sz="2400" b="0" spc="-172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6600" spc="-7" baseline="17676" dirty="0"/>
              <a:t>t</a:t>
            </a:r>
            <a:r>
              <a:rPr sz="6600" spc="-1110" baseline="17676" dirty="0"/>
              <a:t>i</a:t>
            </a:r>
            <a:r>
              <a:rPr sz="2400" b="0" spc="-5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6600" spc="-2340" baseline="17676" dirty="0"/>
              <a:t>a</a:t>
            </a:r>
            <a:r>
              <a:rPr sz="2400" b="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0" spc="-7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6600" spc="-1147" baseline="17676" dirty="0"/>
              <a:t>t</a:t>
            </a:r>
            <a:r>
              <a:rPr sz="2400" b="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0" spc="-106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6600" spc="-7" baseline="17676" dirty="0"/>
              <a:t>i</a:t>
            </a:r>
            <a:r>
              <a:rPr sz="6600" spc="-2812" baseline="17676" dirty="0"/>
              <a:t>v</a:t>
            </a:r>
            <a:r>
              <a:rPr sz="2400" b="0" spc="-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b="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0" spc="-1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6600" spc="-1754" baseline="17676" dirty="0"/>
              <a:t>e</a:t>
            </a:r>
            <a:r>
              <a:rPr sz="2400" b="0" spc="-5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600" spc="-2550" baseline="17676" dirty="0"/>
              <a:t>s</a:t>
            </a:r>
            <a:r>
              <a:rPr sz="2400" b="0" spc="-15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2400" b="0" spc="-86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6600" spc="-359" baseline="17676" dirty="0"/>
              <a:t>,</a:t>
            </a:r>
            <a:r>
              <a:rPr sz="2400" b="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0" spc="-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6600" spc="-3060" baseline="17676" dirty="0"/>
              <a:t>a</a:t>
            </a:r>
            <a:r>
              <a:rPr sz="2400" b="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0" spc="-11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6600" spc="-1860" baseline="17676" dirty="0"/>
              <a:t>n</a:t>
            </a:r>
            <a:r>
              <a:rPr sz="2400" b="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0" spc="-12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6600" spc="-1695" baseline="17676" dirty="0"/>
              <a:t>d</a:t>
            </a:r>
            <a:r>
              <a:rPr sz="2400" b="0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600" spc="-2977" baseline="17676" dirty="0"/>
              <a:t>T</a:t>
            </a:r>
            <a:r>
              <a:rPr sz="2400" b="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0" spc="-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6600" spc="-2654" baseline="17676" dirty="0"/>
              <a:t>h</a:t>
            </a:r>
            <a:r>
              <a:rPr sz="2400" b="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600" spc="-3247" baseline="17676" dirty="0"/>
              <a:t>e</a:t>
            </a:r>
            <a:r>
              <a:rPr sz="2400" b="0" spc="-1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0" spc="-2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600" spc="-4920" baseline="17676" dirty="0"/>
              <a:t>m</a:t>
            </a:r>
            <a:r>
              <a:rPr sz="2400" b="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0" spc="-6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6600" spc="-2452" baseline="17676" dirty="0"/>
              <a:t>e</a:t>
            </a:r>
            <a:r>
              <a:rPr sz="2400" b="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0" spc="-53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6600" spc="-1822" baseline="17676" dirty="0"/>
              <a:t>s</a:t>
            </a:r>
            <a:r>
              <a:rPr sz="2400" b="0" spc="-15" baseline="19097" dirty="0">
                <a:solidFill>
                  <a:srgbClr val="FFFFFF"/>
                </a:solidFill>
                <a:latin typeface="Calibri"/>
                <a:cs typeface="Calibri"/>
              </a:rPr>
              <a:t>†</a:t>
            </a:r>
            <a:endParaRPr sz="2400" baseline="19097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83" y="1036320"/>
            <a:ext cx="1563623" cy="12984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68189" y="1400356"/>
            <a:ext cx="1233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EPIC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or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Feature-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755" y="2569464"/>
            <a:ext cx="1700783" cy="15544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8189" y="3048847"/>
            <a:ext cx="1245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(High-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Level)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1691" y="1064598"/>
            <a:ext cx="5530215" cy="111315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703580" lvl="0" indent="635" defTabSz="914400" eaLnBrk="1" fontAlgn="auto" latinLnBrk="0" hangingPunct="1">
              <a:lnSpc>
                <a:spcPts val="21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collection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enables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accomplish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mission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fulfill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vision.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Capability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describes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800" b="0" i="1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does,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not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it.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859" y="4312920"/>
            <a:ext cx="1630667" cy="13776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4831" y="4567673"/>
            <a:ext cx="13360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or</a:t>
            </a:r>
            <a:r>
              <a:rPr kumimoji="0" sz="1800" b="0" i="1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Low-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Level Feature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8349" y="2730414"/>
            <a:ext cx="5734685" cy="1115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lvl="0" indent="635" defTabSz="914400" eaLnBrk="1" fontAlgn="auto" latinLnBrk="0" hangingPunct="1">
              <a:lnSpc>
                <a:spcPct val="99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functionality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needed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implement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Capability,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typically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weeks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duration.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contained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within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Release.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Ideally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contained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within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single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team.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Owner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cares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about.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00576" y="4310955"/>
            <a:ext cx="5801360" cy="139509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3335" marR="518159" lvl="0" indent="0" defTabSz="914400" eaLnBrk="1" fontAlgn="auto" latinLnBrk="0" hangingPunct="1">
              <a:lnSpc>
                <a:spcPts val="21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small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increment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delivered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Value,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typically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week’s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work.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contained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within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Sprint.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outcomes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Teams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cares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about.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101699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defined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story-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level,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defined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higher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decomposed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cs typeface="Calibri"/>
              </a:rPr>
              <a:t>stories.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3222" y="5975417"/>
            <a:ext cx="6290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Initiatives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collections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epics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toward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common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goal.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Themes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large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focus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areas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organization.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7494" y="1097779"/>
            <a:ext cx="28321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Example: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Improve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Streaming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for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Mobile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App.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Launch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67419" y="2480352"/>
            <a:ext cx="3317240" cy="158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Examples: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0" marR="57785" lvl="0" indent="-114300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270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iPhone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vertical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view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live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feed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mobile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app.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0" marR="5080" lvl="0" indent="-1143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270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Desktop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view</a:t>
            </a:r>
            <a:r>
              <a:rPr kumimoji="0" sz="1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fullscreen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button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lower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right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hand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corner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video player.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0" marR="241300" lvl="0" indent="-1143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270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Android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users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linked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Apple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39988" y="4244087"/>
            <a:ext cx="3330575" cy="222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Examples: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0" marR="5080" lvl="0" indent="-114300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270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desktop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user,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view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fullscreen</a:t>
            </a:r>
            <a:r>
              <a:rPr kumimoji="0" sz="1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button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lower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right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hand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corner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video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player.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0" marR="75565" lvl="0" indent="-1143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270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desktop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user,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click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view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fullscreen</a:t>
            </a:r>
            <a:r>
              <a:rPr kumimoji="0" sz="1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button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color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selection.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0" marR="59690" lvl="0" indent="-1143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270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desktop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user,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select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view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fullscreen</a:t>
            </a:r>
            <a:r>
              <a:rPr kumimoji="0" sz="1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button,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video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player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switches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fullscreen</a:t>
            </a:r>
            <a:r>
              <a:rPr kumimoji="0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113" y="6639390"/>
            <a:ext cx="85966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Source:</a:t>
            </a:r>
            <a:r>
              <a:rPr kumimoji="0" sz="1100" b="0" i="0" u="none" strike="noStrike" kern="0" cap="none" spc="2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“Agile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Requirements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Decomposition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‒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Epic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Mapping,”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Rick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Austin,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Duluth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Georgia,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Coach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48525" y="6677659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21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181" y="97445"/>
            <a:ext cx="382142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write</a:t>
            </a:r>
            <a:r>
              <a:rPr spc="-45" dirty="0"/>
              <a:t> </a:t>
            </a:r>
            <a:r>
              <a:rPr spc="-10" dirty="0"/>
              <a:t>Epics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178" y="791239"/>
            <a:ext cx="10958830" cy="554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practice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write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before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0" lvl="0" indent="-1701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acts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broad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headline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overall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large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0" lvl="0" indent="-1701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go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detail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individual</a:t>
            </a:r>
            <a:r>
              <a:rPr kumimoji="0" sz="17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story,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defining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scenarios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300990" lvl="0" indent="-1701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help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determine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project’s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early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while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giving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yourself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delve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research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later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stage.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Mike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Cohn,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1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1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co-</a:t>
            </a:r>
            <a:r>
              <a:rPr kumimoji="0" sz="17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founder</a:t>
            </a:r>
            <a:r>
              <a:rPr kumimoji="0" sz="1700" b="0" i="1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700" b="0" i="1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1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Scrum</a:t>
            </a:r>
            <a:r>
              <a:rPr kumimoji="0" sz="1700" b="0" i="1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Alliance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offers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insight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breakdown</a:t>
            </a:r>
            <a:r>
              <a:rPr kumimoji="0" sz="17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process: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8890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“Suppose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ask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had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yesterday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write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monthly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reporting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system.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‘Yes,’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reply,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‘But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mostly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epics.’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87655" lvl="0" indent="0" defTabSz="914400" eaLnBrk="1" fontAlgn="auto" latinLnBrk="0" hangingPunct="1">
              <a:lnSpc>
                <a:spcPts val="2039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tells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while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did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write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them,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didn’t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chance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break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most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down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small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enough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implement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directly.”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you’re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ready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create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epic,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steps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guide: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24790" marR="0" lvl="0" indent="-212725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25425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Outline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personas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41275" lvl="1" indent="-1701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7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for?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Maybe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you’re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adding</a:t>
            </a:r>
            <a:r>
              <a:rPr kumimoji="0" sz="17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existing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customers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tweaking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onboarding system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attract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users.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Create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fictional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characters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story,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detailing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pain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700" b="0" i="0" u="none" strike="noStrike" kern="0" cap="none" spc="50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24790" marR="0" lvl="0" indent="-2127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225425" algn="l"/>
              </a:tabLst>
              <a:defRPr/>
            </a:pP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Organize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273685" lvl="1" indent="-1701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collection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delivered.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Assign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iteration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sprint,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creating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clear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roadmap.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help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take.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24790" marR="0" lvl="0" indent="-2127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>
                <a:tab pos="225425" algn="l"/>
              </a:tabLst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Request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feedback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5080" lvl="1" indent="-1701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Seek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feedback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throughout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various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stages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epic.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Listen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suggestions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try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incorporate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your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plan.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needs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tweaked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removed,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it.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44435" y="6582737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22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047" y="6613403"/>
            <a:ext cx="3884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2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https://www.wrike.com/agile-guide/agile-epics-guide/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106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Elaboration</a:t>
            </a:r>
            <a:r>
              <a:rPr sz="3600" spc="-85" dirty="0"/>
              <a:t> </a:t>
            </a:r>
            <a:r>
              <a:rPr sz="3600" dirty="0"/>
              <a:t>and</a:t>
            </a:r>
            <a:r>
              <a:rPr sz="3600" spc="-85" dirty="0"/>
              <a:t> </a:t>
            </a:r>
            <a:r>
              <a:rPr sz="3600" dirty="0"/>
              <a:t>Decomposition</a:t>
            </a:r>
            <a:r>
              <a:rPr sz="3600" spc="-80" dirty="0"/>
              <a:t> </a:t>
            </a:r>
            <a:r>
              <a:rPr sz="3600" dirty="0"/>
              <a:t>are</a:t>
            </a:r>
            <a:r>
              <a:rPr sz="3600" spc="-100" dirty="0"/>
              <a:t> </a:t>
            </a:r>
            <a:r>
              <a:rPr sz="3600" spc="-10" dirty="0"/>
              <a:t>Critical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15644" y="6639390"/>
            <a:ext cx="89903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Adapted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from:</a:t>
            </a:r>
            <a:r>
              <a:rPr kumimoji="0" sz="1100" b="0" i="0" u="none" strike="noStrike" kern="0" cap="none" spc="2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“Agile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Requirements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Decomposition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‒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Epic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Mapping,”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Rick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Austin,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Duluth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Georgia,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Coach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8525" y="6677659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23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79447" y="1055370"/>
            <a:ext cx="1950720" cy="3840479"/>
            <a:chOff x="1679447" y="1055370"/>
            <a:chExt cx="1950720" cy="384047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9447" y="1055370"/>
              <a:ext cx="1950719" cy="38404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24411" y="1079753"/>
              <a:ext cx="1859280" cy="3748404"/>
            </a:xfrm>
            <a:custGeom>
              <a:avLst/>
              <a:gdLst/>
              <a:ahLst/>
              <a:cxnLst/>
              <a:rect l="l" t="t" r="r" b="b"/>
              <a:pathLst>
                <a:path w="1859279" h="3748404">
                  <a:moveTo>
                    <a:pt x="1549031" y="0"/>
                  </a:moveTo>
                  <a:lnTo>
                    <a:pt x="309803" y="0"/>
                  </a:lnTo>
                  <a:lnTo>
                    <a:pt x="284403" y="1028"/>
                  </a:lnTo>
                  <a:lnTo>
                    <a:pt x="235356" y="9004"/>
                  </a:lnTo>
                  <a:lnTo>
                    <a:pt x="189217" y="24345"/>
                  </a:lnTo>
                  <a:lnTo>
                    <a:pt x="146608" y="46418"/>
                  </a:lnTo>
                  <a:lnTo>
                    <a:pt x="108178" y="74587"/>
                  </a:lnTo>
                  <a:lnTo>
                    <a:pt x="74574" y="108204"/>
                  </a:lnTo>
                  <a:lnTo>
                    <a:pt x="46405" y="146634"/>
                  </a:lnTo>
                  <a:lnTo>
                    <a:pt x="24345" y="189242"/>
                  </a:lnTo>
                  <a:lnTo>
                    <a:pt x="8991" y="235394"/>
                  </a:lnTo>
                  <a:lnTo>
                    <a:pt x="1015" y="284441"/>
                  </a:lnTo>
                  <a:lnTo>
                    <a:pt x="0" y="309854"/>
                  </a:lnTo>
                  <a:lnTo>
                    <a:pt x="0" y="3438410"/>
                  </a:lnTo>
                  <a:lnTo>
                    <a:pt x="4051" y="3488664"/>
                  </a:lnTo>
                  <a:lnTo>
                    <a:pt x="15786" y="3536340"/>
                  </a:lnTo>
                  <a:lnTo>
                    <a:pt x="34569" y="3580803"/>
                  </a:lnTo>
                  <a:lnTo>
                    <a:pt x="59766" y="3621404"/>
                  </a:lnTo>
                  <a:lnTo>
                    <a:pt x="90741" y="3657511"/>
                  </a:lnTo>
                  <a:lnTo>
                    <a:pt x="126834" y="3688473"/>
                  </a:lnTo>
                  <a:lnTo>
                    <a:pt x="167436" y="3713670"/>
                  </a:lnTo>
                  <a:lnTo>
                    <a:pt x="211886" y="3732466"/>
                  </a:lnTo>
                  <a:lnTo>
                    <a:pt x="259549" y="3744201"/>
                  </a:lnTo>
                  <a:lnTo>
                    <a:pt x="309803" y="3748265"/>
                  </a:lnTo>
                  <a:lnTo>
                    <a:pt x="1549031" y="3748265"/>
                  </a:lnTo>
                  <a:lnTo>
                    <a:pt x="1599285" y="3744201"/>
                  </a:lnTo>
                  <a:lnTo>
                    <a:pt x="1646961" y="3732466"/>
                  </a:lnTo>
                  <a:lnTo>
                    <a:pt x="1691411" y="3713670"/>
                  </a:lnTo>
                  <a:lnTo>
                    <a:pt x="1732000" y="3688473"/>
                  </a:lnTo>
                  <a:lnTo>
                    <a:pt x="1768106" y="3657511"/>
                  </a:lnTo>
                  <a:lnTo>
                    <a:pt x="1799069" y="3621404"/>
                  </a:lnTo>
                  <a:lnTo>
                    <a:pt x="1824266" y="3580803"/>
                  </a:lnTo>
                  <a:lnTo>
                    <a:pt x="1843049" y="3536340"/>
                  </a:lnTo>
                  <a:lnTo>
                    <a:pt x="1854784" y="3488664"/>
                  </a:lnTo>
                  <a:lnTo>
                    <a:pt x="1858848" y="3438410"/>
                  </a:lnTo>
                  <a:lnTo>
                    <a:pt x="1858848" y="309854"/>
                  </a:lnTo>
                  <a:lnTo>
                    <a:pt x="1854784" y="259588"/>
                  </a:lnTo>
                  <a:lnTo>
                    <a:pt x="1843049" y="211912"/>
                  </a:lnTo>
                  <a:lnTo>
                    <a:pt x="1824266" y="167462"/>
                  </a:lnTo>
                  <a:lnTo>
                    <a:pt x="1799069" y="126860"/>
                  </a:lnTo>
                  <a:lnTo>
                    <a:pt x="1768106" y="90754"/>
                  </a:lnTo>
                  <a:lnTo>
                    <a:pt x="1732000" y="59778"/>
                  </a:lnTo>
                  <a:lnTo>
                    <a:pt x="1691411" y="34582"/>
                  </a:lnTo>
                  <a:lnTo>
                    <a:pt x="1646961" y="15798"/>
                  </a:lnTo>
                  <a:lnTo>
                    <a:pt x="1599285" y="4051"/>
                  </a:lnTo>
                  <a:lnTo>
                    <a:pt x="1549031" y="0"/>
                  </a:lnTo>
                  <a:close/>
                </a:path>
              </a:pathLst>
            </a:custGeom>
            <a:solidFill>
              <a:srgbClr val="C6EEF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724786" y="1080133"/>
              <a:ext cx="1859280" cy="3748404"/>
            </a:xfrm>
            <a:custGeom>
              <a:avLst/>
              <a:gdLst/>
              <a:ahLst/>
              <a:cxnLst/>
              <a:rect l="l" t="t" r="r" b="b"/>
              <a:pathLst>
                <a:path w="1859279" h="3748404">
                  <a:moveTo>
                    <a:pt x="0" y="309854"/>
                  </a:moveTo>
                  <a:lnTo>
                    <a:pt x="4051" y="259600"/>
                  </a:lnTo>
                  <a:lnTo>
                    <a:pt x="15798" y="211912"/>
                  </a:lnTo>
                  <a:lnTo>
                    <a:pt x="34582" y="167462"/>
                  </a:lnTo>
                  <a:lnTo>
                    <a:pt x="59778" y="126860"/>
                  </a:lnTo>
                  <a:lnTo>
                    <a:pt x="90741" y="90754"/>
                  </a:lnTo>
                  <a:lnTo>
                    <a:pt x="126834" y="59778"/>
                  </a:lnTo>
                  <a:lnTo>
                    <a:pt x="167436" y="34582"/>
                  </a:lnTo>
                  <a:lnTo>
                    <a:pt x="211886" y="15798"/>
                  </a:lnTo>
                  <a:lnTo>
                    <a:pt x="259562" y="4051"/>
                  </a:lnTo>
                  <a:lnTo>
                    <a:pt x="309816" y="0"/>
                  </a:lnTo>
                  <a:lnTo>
                    <a:pt x="1549031" y="0"/>
                  </a:lnTo>
                  <a:lnTo>
                    <a:pt x="1599285" y="4051"/>
                  </a:lnTo>
                  <a:lnTo>
                    <a:pt x="1646961" y="15798"/>
                  </a:lnTo>
                  <a:lnTo>
                    <a:pt x="1691411" y="34582"/>
                  </a:lnTo>
                  <a:lnTo>
                    <a:pt x="1732013" y="59778"/>
                  </a:lnTo>
                  <a:lnTo>
                    <a:pt x="1768106" y="90754"/>
                  </a:lnTo>
                  <a:lnTo>
                    <a:pt x="1799069" y="126860"/>
                  </a:lnTo>
                  <a:lnTo>
                    <a:pt x="1824266" y="167462"/>
                  </a:lnTo>
                  <a:lnTo>
                    <a:pt x="1843049" y="211912"/>
                  </a:lnTo>
                  <a:lnTo>
                    <a:pt x="1854796" y="259600"/>
                  </a:lnTo>
                  <a:lnTo>
                    <a:pt x="1858848" y="309854"/>
                  </a:lnTo>
                  <a:lnTo>
                    <a:pt x="1858848" y="3438410"/>
                  </a:lnTo>
                  <a:lnTo>
                    <a:pt x="1854796" y="3488664"/>
                  </a:lnTo>
                  <a:lnTo>
                    <a:pt x="1843049" y="3536340"/>
                  </a:lnTo>
                  <a:lnTo>
                    <a:pt x="1824266" y="3580803"/>
                  </a:lnTo>
                  <a:lnTo>
                    <a:pt x="1799069" y="3621405"/>
                  </a:lnTo>
                  <a:lnTo>
                    <a:pt x="1768106" y="3657511"/>
                  </a:lnTo>
                  <a:lnTo>
                    <a:pt x="1732013" y="3688473"/>
                  </a:lnTo>
                  <a:lnTo>
                    <a:pt x="1691411" y="3713670"/>
                  </a:lnTo>
                  <a:lnTo>
                    <a:pt x="1646961" y="3732466"/>
                  </a:lnTo>
                  <a:lnTo>
                    <a:pt x="1599285" y="3744201"/>
                  </a:lnTo>
                  <a:lnTo>
                    <a:pt x="1549031" y="3748265"/>
                  </a:lnTo>
                  <a:lnTo>
                    <a:pt x="309816" y="3748265"/>
                  </a:lnTo>
                  <a:lnTo>
                    <a:pt x="259562" y="3744201"/>
                  </a:lnTo>
                  <a:lnTo>
                    <a:pt x="211886" y="3732466"/>
                  </a:lnTo>
                  <a:lnTo>
                    <a:pt x="167436" y="3713670"/>
                  </a:lnTo>
                  <a:lnTo>
                    <a:pt x="126834" y="3688473"/>
                  </a:lnTo>
                  <a:lnTo>
                    <a:pt x="90741" y="3657511"/>
                  </a:lnTo>
                  <a:lnTo>
                    <a:pt x="59778" y="3621405"/>
                  </a:lnTo>
                  <a:lnTo>
                    <a:pt x="34582" y="3580803"/>
                  </a:lnTo>
                  <a:lnTo>
                    <a:pt x="15798" y="3536340"/>
                  </a:lnTo>
                  <a:lnTo>
                    <a:pt x="4051" y="3488664"/>
                  </a:lnTo>
                  <a:lnTo>
                    <a:pt x="0" y="3438410"/>
                  </a:lnTo>
                  <a:lnTo>
                    <a:pt x="0" y="309854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01602" y="1229126"/>
            <a:ext cx="1102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High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Level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58183" y="1055370"/>
            <a:ext cx="1594485" cy="3840479"/>
            <a:chOff x="3758183" y="1055370"/>
            <a:chExt cx="1594485" cy="384047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8183" y="1055370"/>
              <a:ext cx="1594103" cy="38404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04664" y="1079753"/>
              <a:ext cx="1500505" cy="3748404"/>
            </a:xfrm>
            <a:custGeom>
              <a:avLst/>
              <a:gdLst/>
              <a:ahLst/>
              <a:cxnLst/>
              <a:rect l="l" t="t" r="r" b="b"/>
              <a:pathLst>
                <a:path w="1500504" h="3748404">
                  <a:moveTo>
                    <a:pt x="1250213" y="0"/>
                  </a:moveTo>
                  <a:lnTo>
                    <a:pt x="250050" y="0"/>
                  </a:lnTo>
                  <a:lnTo>
                    <a:pt x="229539" y="825"/>
                  </a:lnTo>
                  <a:lnTo>
                    <a:pt x="189966" y="7264"/>
                  </a:lnTo>
                  <a:lnTo>
                    <a:pt x="152717" y="19659"/>
                  </a:lnTo>
                  <a:lnTo>
                    <a:pt x="118338" y="37465"/>
                  </a:lnTo>
                  <a:lnTo>
                    <a:pt x="87325" y="60198"/>
                  </a:lnTo>
                  <a:lnTo>
                    <a:pt x="60198" y="87337"/>
                  </a:lnTo>
                  <a:lnTo>
                    <a:pt x="37465" y="118364"/>
                  </a:lnTo>
                  <a:lnTo>
                    <a:pt x="19646" y="152755"/>
                  </a:lnTo>
                  <a:lnTo>
                    <a:pt x="7264" y="190004"/>
                  </a:lnTo>
                  <a:lnTo>
                    <a:pt x="825" y="229590"/>
                  </a:lnTo>
                  <a:lnTo>
                    <a:pt x="0" y="250101"/>
                  </a:lnTo>
                  <a:lnTo>
                    <a:pt x="0" y="3498151"/>
                  </a:lnTo>
                  <a:lnTo>
                    <a:pt x="3276" y="3538728"/>
                  </a:lnTo>
                  <a:lnTo>
                    <a:pt x="12750" y="3577209"/>
                  </a:lnTo>
                  <a:lnTo>
                    <a:pt x="27914" y="3613086"/>
                  </a:lnTo>
                  <a:lnTo>
                    <a:pt x="48247" y="3645865"/>
                  </a:lnTo>
                  <a:lnTo>
                    <a:pt x="73240" y="3674999"/>
                  </a:lnTo>
                  <a:lnTo>
                    <a:pt x="102374" y="3700005"/>
                  </a:lnTo>
                  <a:lnTo>
                    <a:pt x="135140" y="3720338"/>
                  </a:lnTo>
                  <a:lnTo>
                    <a:pt x="171018" y="3735514"/>
                  </a:lnTo>
                  <a:lnTo>
                    <a:pt x="209486" y="3744988"/>
                  </a:lnTo>
                  <a:lnTo>
                    <a:pt x="250050" y="3748265"/>
                  </a:lnTo>
                  <a:lnTo>
                    <a:pt x="1250213" y="3748265"/>
                  </a:lnTo>
                  <a:lnTo>
                    <a:pt x="1290777" y="3744988"/>
                  </a:lnTo>
                  <a:lnTo>
                    <a:pt x="1329245" y="3735514"/>
                  </a:lnTo>
                  <a:lnTo>
                    <a:pt x="1365123" y="3720338"/>
                  </a:lnTo>
                  <a:lnTo>
                    <a:pt x="1397889" y="3700005"/>
                  </a:lnTo>
                  <a:lnTo>
                    <a:pt x="1427022" y="3674999"/>
                  </a:lnTo>
                  <a:lnTo>
                    <a:pt x="1452016" y="3645865"/>
                  </a:lnTo>
                  <a:lnTo>
                    <a:pt x="1472349" y="3613086"/>
                  </a:lnTo>
                  <a:lnTo>
                    <a:pt x="1487512" y="3577209"/>
                  </a:lnTo>
                  <a:lnTo>
                    <a:pt x="1496987" y="3538728"/>
                  </a:lnTo>
                  <a:lnTo>
                    <a:pt x="1500263" y="3498151"/>
                  </a:lnTo>
                  <a:lnTo>
                    <a:pt x="1500263" y="250101"/>
                  </a:lnTo>
                  <a:lnTo>
                    <a:pt x="1496987" y="209537"/>
                  </a:lnTo>
                  <a:lnTo>
                    <a:pt x="1487512" y="171056"/>
                  </a:lnTo>
                  <a:lnTo>
                    <a:pt x="1472349" y="135166"/>
                  </a:lnTo>
                  <a:lnTo>
                    <a:pt x="1452016" y="102400"/>
                  </a:lnTo>
                  <a:lnTo>
                    <a:pt x="1427022" y="73253"/>
                  </a:lnTo>
                  <a:lnTo>
                    <a:pt x="1397889" y="48260"/>
                  </a:lnTo>
                  <a:lnTo>
                    <a:pt x="1365123" y="27914"/>
                  </a:lnTo>
                  <a:lnTo>
                    <a:pt x="1329245" y="12750"/>
                  </a:lnTo>
                  <a:lnTo>
                    <a:pt x="1290777" y="3276"/>
                  </a:lnTo>
                  <a:lnTo>
                    <a:pt x="125021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805046" y="1080138"/>
              <a:ext cx="1500505" cy="3748404"/>
            </a:xfrm>
            <a:custGeom>
              <a:avLst/>
              <a:gdLst/>
              <a:ahLst/>
              <a:cxnLst/>
              <a:rect l="l" t="t" r="r" b="b"/>
              <a:pathLst>
                <a:path w="1500504" h="3748404">
                  <a:moveTo>
                    <a:pt x="0" y="250101"/>
                  </a:moveTo>
                  <a:lnTo>
                    <a:pt x="3276" y="209537"/>
                  </a:lnTo>
                  <a:lnTo>
                    <a:pt x="12750" y="171043"/>
                  </a:lnTo>
                  <a:lnTo>
                    <a:pt x="27914" y="135166"/>
                  </a:lnTo>
                  <a:lnTo>
                    <a:pt x="48247" y="102387"/>
                  </a:lnTo>
                  <a:lnTo>
                    <a:pt x="73240" y="73253"/>
                  </a:lnTo>
                  <a:lnTo>
                    <a:pt x="102374" y="48247"/>
                  </a:lnTo>
                  <a:lnTo>
                    <a:pt x="135140" y="27914"/>
                  </a:lnTo>
                  <a:lnTo>
                    <a:pt x="171018" y="12750"/>
                  </a:lnTo>
                  <a:lnTo>
                    <a:pt x="209486" y="3263"/>
                  </a:lnTo>
                  <a:lnTo>
                    <a:pt x="250050" y="0"/>
                  </a:lnTo>
                  <a:lnTo>
                    <a:pt x="1250213" y="0"/>
                  </a:lnTo>
                  <a:lnTo>
                    <a:pt x="1290777" y="3263"/>
                  </a:lnTo>
                  <a:lnTo>
                    <a:pt x="1329245" y="12750"/>
                  </a:lnTo>
                  <a:lnTo>
                    <a:pt x="1365123" y="27914"/>
                  </a:lnTo>
                  <a:lnTo>
                    <a:pt x="1397889" y="48247"/>
                  </a:lnTo>
                  <a:lnTo>
                    <a:pt x="1427022" y="73253"/>
                  </a:lnTo>
                  <a:lnTo>
                    <a:pt x="1452016" y="102387"/>
                  </a:lnTo>
                  <a:lnTo>
                    <a:pt x="1472349" y="135166"/>
                  </a:lnTo>
                  <a:lnTo>
                    <a:pt x="1487512" y="171043"/>
                  </a:lnTo>
                  <a:lnTo>
                    <a:pt x="1496987" y="209537"/>
                  </a:lnTo>
                  <a:lnTo>
                    <a:pt x="1500263" y="250101"/>
                  </a:lnTo>
                  <a:lnTo>
                    <a:pt x="1500263" y="3498151"/>
                  </a:lnTo>
                  <a:lnTo>
                    <a:pt x="1496987" y="3538715"/>
                  </a:lnTo>
                  <a:lnTo>
                    <a:pt x="1487512" y="3577208"/>
                  </a:lnTo>
                  <a:lnTo>
                    <a:pt x="1472349" y="3613086"/>
                  </a:lnTo>
                  <a:lnTo>
                    <a:pt x="1452016" y="3645865"/>
                  </a:lnTo>
                  <a:lnTo>
                    <a:pt x="1427022" y="3674999"/>
                  </a:lnTo>
                  <a:lnTo>
                    <a:pt x="1397889" y="3700005"/>
                  </a:lnTo>
                  <a:lnTo>
                    <a:pt x="1365123" y="3720338"/>
                  </a:lnTo>
                  <a:lnTo>
                    <a:pt x="1329245" y="3735501"/>
                  </a:lnTo>
                  <a:lnTo>
                    <a:pt x="1290777" y="3744988"/>
                  </a:lnTo>
                  <a:lnTo>
                    <a:pt x="1250213" y="3748252"/>
                  </a:lnTo>
                  <a:lnTo>
                    <a:pt x="250050" y="3748252"/>
                  </a:lnTo>
                  <a:lnTo>
                    <a:pt x="209486" y="3744988"/>
                  </a:lnTo>
                  <a:lnTo>
                    <a:pt x="171018" y="3735501"/>
                  </a:lnTo>
                  <a:lnTo>
                    <a:pt x="135140" y="3720338"/>
                  </a:lnTo>
                  <a:lnTo>
                    <a:pt x="102374" y="3700005"/>
                  </a:lnTo>
                  <a:lnTo>
                    <a:pt x="73240" y="3674999"/>
                  </a:lnTo>
                  <a:lnTo>
                    <a:pt x="48247" y="3645865"/>
                  </a:lnTo>
                  <a:lnTo>
                    <a:pt x="27914" y="3613086"/>
                  </a:lnTo>
                  <a:lnTo>
                    <a:pt x="12750" y="3577208"/>
                  </a:lnTo>
                  <a:lnTo>
                    <a:pt x="3276" y="3538715"/>
                  </a:lnTo>
                  <a:lnTo>
                    <a:pt x="0" y="3498151"/>
                  </a:lnTo>
                  <a:lnTo>
                    <a:pt x="0" y="250101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35658" y="1203218"/>
            <a:ext cx="836930" cy="56705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45415" marR="5080" lvl="0" indent="-133350" defTabSz="914400" eaLnBrk="1" fontAlgn="auto" latinLnBrk="0" hangingPunct="1">
              <a:lnSpc>
                <a:spcPts val="21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Medium Level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19928" y="1055370"/>
            <a:ext cx="1633855" cy="3840479"/>
            <a:chOff x="5519928" y="1055370"/>
            <a:chExt cx="1633855" cy="3840479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9928" y="1055370"/>
              <a:ext cx="1633727" cy="38404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566407" y="1079753"/>
              <a:ext cx="1541780" cy="3748404"/>
            </a:xfrm>
            <a:custGeom>
              <a:avLst/>
              <a:gdLst/>
              <a:ahLst/>
              <a:cxnLst/>
              <a:rect l="l" t="t" r="r" b="b"/>
              <a:pathLst>
                <a:path w="1541779" h="3748404">
                  <a:moveTo>
                    <a:pt x="1284731" y="0"/>
                  </a:moveTo>
                  <a:lnTo>
                    <a:pt x="256959" y="0"/>
                  </a:lnTo>
                  <a:lnTo>
                    <a:pt x="235877" y="850"/>
                  </a:lnTo>
                  <a:lnTo>
                    <a:pt x="195198" y="7467"/>
                  </a:lnTo>
                  <a:lnTo>
                    <a:pt x="156933" y="20193"/>
                  </a:lnTo>
                  <a:lnTo>
                    <a:pt x="121602" y="38493"/>
                  </a:lnTo>
                  <a:lnTo>
                    <a:pt x="89738" y="61836"/>
                  </a:lnTo>
                  <a:lnTo>
                    <a:pt x="61848" y="89712"/>
                  </a:lnTo>
                  <a:lnTo>
                    <a:pt x="38493" y="121577"/>
                  </a:lnTo>
                  <a:lnTo>
                    <a:pt x="20192" y="156908"/>
                  </a:lnTo>
                  <a:lnTo>
                    <a:pt x="7467" y="195160"/>
                  </a:lnTo>
                  <a:lnTo>
                    <a:pt x="850" y="235826"/>
                  </a:lnTo>
                  <a:lnTo>
                    <a:pt x="0" y="256895"/>
                  </a:lnTo>
                  <a:lnTo>
                    <a:pt x="0" y="3491357"/>
                  </a:lnTo>
                  <a:lnTo>
                    <a:pt x="3365" y="3533025"/>
                  </a:lnTo>
                  <a:lnTo>
                    <a:pt x="13106" y="3572560"/>
                  </a:lnTo>
                  <a:lnTo>
                    <a:pt x="28676" y="3609416"/>
                  </a:lnTo>
                  <a:lnTo>
                    <a:pt x="49580" y="3643083"/>
                  </a:lnTo>
                  <a:lnTo>
                    <a:pt x="75260" y="3673017"/>
                  </a:lnTo>
                  <a:lnTo>
                    <a:pt x="105206" y="3698697"/>
                  </a:lnTo>
                  <a:lnTo>
                    <a:pt x="138874" y="3719588"/>
                  </a:lnTo>
                  <a:lnTo>
                    <a:pt x="175742" y="3735158"/>
                  </a:lnTo>
                  <a:lnTo>
                    <a:pt x="215277" y="3744899"/>
                  </a:lnTo>
                  <a:lnTo>
                    <a:pt x="256959" y="3748265"/>
                  </a:lnTo>
                  <a:lnTo>
                    <a:pt x="1284731" y="3748265"/>
                  </a:lnTo>
                  <a:lnTo>
                    <a:pt x="1326413" y="3744899"/>
                  </a:lnTo>
                  <a:lnTo>
                    <a:pt x="1365948" y="3735158"/>
                  </a:lnTo>
                  <a:lnTo>
                    <a:pt x="1402816" y="3719588"/>
                  </a:lnTo>
                  <a:lnTo>
                    <a:pt x="1436484" y="3698697"/>
                  </a:lnTo>
                  <a:lnTo>
                    <a:pt x="1466430" y="3673017"/>
                  </a:lnTo>
                  <a:lnTo>
                    <a:pt x="1492110" y="3643083"/>
                  </a:lnTo>
                  <a:lnTo>
                    <a:pt x="1513001" y="3609416"/>
                  </a:lnTo>
                  <a:lnTo>
                    <a:pt x="1528584" y="3572560"/>
                  </a:lnTo>
                  <a:lnTo>
                    <a:pt x="1538325" y="3533025"/>
                  </a:lnTo>
                  <a:lnTo>
                    <a:pt x="1541678" y="3491357"/>
                  </a:lnTo>
                  <a:lnTo>
                    <a:pt x="1541678" y="256895"/>
                  </a:lnTo>
                  <a:lnTo>
                    <a:pt x="1538325" y="215226"/>
                  </a:lnTo>
                  <a:lnTo>
                    <a:pt x="1528584" y="175704"/>
                  </a:lnTo>
                  <a:lnTo>
                    <a:pt x="1513001" y="138836"/>
                  </a:lnTo>
                  <a:lnTo>
                    <a:pt x="1492110" y="105181"/>
                  </a:lnTo>
                  <a:lnTo>
                    <a:pt x="1466430" y="75247"/>
                  </a:lnTo>
                  <a:lnTo>
                    <a:pt x="1436484" y="49568"/>
                  </a:lnTo>
                  <a:lnTo>
                    <a:pt x="1402816" y="28676"/>
                  </a:lnTo>
                  <a:lnTo>
                    <a:pt x="1365948" y="13093"/>
                  </a:lnTo>
                  <a:lnTo>
                    <a:pt x="1326413" y="3365"/>
                  </a:lnTo>
                  <a:lnTo>
                    <a:pt x="128473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566791" y="1080140"/>
              <a:ext cx="1541780" cy="3748404"/>
            </a:xfrm>
            <a:custGeom>
              <a:avLst/>
              <a:gdLst/>
              <a:ahLst/>
              <a:cxnLst/>
              <a:rect l="l" t="t" r="r" b="b"/>
              <a:pathLst>
                <a:path w="1541779" h="3748404">
                  <a:moveTo>
                    <a:pt x="0" y="256895"/>
                  </a:moveTo>
                  <a:lnTo>
                    <a:pt x="3365" y="215226"/>
                  </a:lnTo>
                  <a:lnTo>
                    <a:pt x="13093" y="175691"/>
                  </a:lnTo>
                  <a:lnTo>
                    <a:pt x="28676" y="138836"/>
                  </a:lnTo>
                  <a:lnTo>
                    <a:pt x="49580" y="105168"/>
                  </a:lnTo>
                  <a:lnTo>
                    <a:pt x="75260" y="75234"/>
                  </a:lnTo>
                  <a:lnTo>
                    <a:pt x="105194" y="49555"/>
                  </a:lnTo>
                  <a:lnTo>
                    <a:pt x="138861" y="28663"/>
                  </a:lnTo>
                  <a:lnTo>
                    <a:pt x="175729" y="13093"/>
                  </a:lnTo>
                  <a:lnTo>
                    <a:pt x="215277" y="3352"/>
                  </a:lnTo>
                  <a:lnTo>
                    <a:pt x="256946" y="0"/>
                  </a:lnTo>
                  <a:lnTo>
                    <a:pt x="1284732" y="0"/>
                  </a:lnTo>
                  <a:lnTo>
                    <a:pt x="1326413" y="3352"/>
                  </a:lnTo>
                  <a:lnTo>
                    <a:pt x="1365948" y="13093"/>
                  </a:lnTo>
                  <a:lnTo>
                    <a:pt x="1402816" y="28663"/>
                  </a:lnTo>
                  <a:lnTo>
                    <a:pt x="1436484" y="49555"/>
                  </a:lnTo>
                  <a:lnTo>
                    <a:pt x="1466418" y="75234"/>
                  </a:lnTo>
                  <a:lnTo>
                    <a:pt x="1492110" y="105168"/>
                  </a:lnTo>
                  <a:lnTo>
                    <a:pt x="1513001" y="138836"/>
                  </a:lnTo>
                  <a:lnTo>
                    <a:pt x="1528584" y="175691"/>
                  </a:lnTo>
                  <a:lnTo>
                    <a:pt x="1538312" y="215226"/>
                  </a:lnTo>
                  <a:lnTo>
                    <a:pt x="1541678" y="256895"/>
                  </a:lnTo>
                  <a:lnTo>
                    <a:pt x="1541678" y="3491356"/>
                  </a:lnTo>
                  <a:lnTo>
                    <a:pt x="1538312" y="3533025"/>
                  </a:lnTo>
                  <a:lnTo>
                    <a:pt x="1528584" y="3572548"/>
                  </a:lnTo>
                  <a:lnTo>
                    <a:pt x="1513001" y="3609416"/>
                  </a:lnTo>
                  <a:lnTo>
                    <a:pt x="1492110" y="3643071"/>
                  </a:lnTo>
                  <a:lnTo>
                    <a:pt x="1466418" y="3673005"/>
                  </a:lnTo>
                  <a:lnTo>
                    <a:pt x="1436484" y="3698684"/>
                  </a:lnTo>
                  <a:lnTo>
                    <a:pt x="1402816" y="3719576"/>
                  </a:lnTo>
                  <a:lnTo>
                    <a:pt x="1365948" y="3735158"/>
                  </a:lnTo>
                  <a:lnTo>
                    <a:pt x="1326413" y="3744887"/>
                  </a:lnTo>
                  <a:lnTo>
                    <a:pt x="1284732" y="3748252"/>
                  </a:lnTo>
                  <a:lnTo>
                    <a:pt x="256946" y="3748252"/>
                  </a:lnTo>
                  <a:lnTo>
                    <a:pt x="215277" y="3744887"/>
                  </a:lnTo>
                  <a:lnTo>
                    <a:pt x="175729" y="3735158"/>
                  </a:lnTo>
                  <a:lnTo>
                    <a:pt x="138861" y="3719576"/>
                  </a:lnTo>
                  <a:lnTo>
                    <a:pt x="105194" y="3698684"/>
                  </a:lnTo>
                  <a:lnTo>
                    <a:pt x="75260" y="3673005"/>
                  </a:lnTo>
                  <a:lnTo>
                    <a:pt x="49580" y="3643071"/>
                  </a:lnTo>
                  <a:lnTo>
                    <a:pt x="28676" y="3609416"/>
                  </a:lnTo>
                  <a:lnTo>
                    <a:pt x="13093" y="3572548"/>
                  </a:lnTo>
                  <a:lnTo>
                    <a:pt x="3365" y="3533025"/>
                  </a:lnTo>
                  <a:lnTo>
                    <a:pt x="0" y="3491356"/>
                  </a:lnTo>
                  <a:lnTo>
                    <a:pt x="0" y="256895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0361" y="1213887"/>
            <a:ext cx="1050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Low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Level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293864" y="1055370"/>
            <a:ext cx="2874645" cy="3840479"/>
            <a:chOff x="7293864" y="1055370"/>
            <a:chExt cx="2874645" cy="3840479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93864" y="1055370"/>
              <a:ext cx="2874263" cy="38404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39582" y="1079753"/>
              <a:ext cx="2782570" cy="3748404"/>
            </a:xfrm>
            <a:custGeom>
              <a:avLst/>
              <a:gdLst/>
              <a:ahLst/>
              <a:cxnLst/>
              <a:rect l="l" t="t" r="r" b="b"/>
              <a:pathLst>
                <a:path w="2782570" h="3748404">
                  <a:moveTo>
                    <a:pt x="2318296" y="0"/>
                  </a:moveTo>
                  <a:lnTo>
                    <a:pt x="463677" y="0"/>
                  </a:lnTo>
                  <a:lnTo>
                    <a:pt x="425640" y="1536"/>
                  </a:lnTo>
                  <a:lnTo>
                    <a:pt x="352247" y="13474"/>
                  </a:lnTo>
                  <a:lnTo>
                    <a:pt x="283184" y="36436"/>
                  </a:lnTo>
                  <a:lnTo>
                    <a:pt x="219430" y="69469"/>
                  </a:lnTo>
                  <a:lnTo>
                    <a:pt x="161925" y="111620"/>
                  </a:lnTo>
                  <a:lnTo>
                    <a:pt x="111620" y="161937"/>
                  </a:lnTo>
                  <a:lnTo>
                    <a:pt x="69468" y="219443"/>
                  </a:lnTo>
                  <a:lnTo>
                    <a:pt x="36436" y="283210"/>
                  </a:lnTo>
                  <a:lnTo>
                    <a:pt x="13474" y="352272"/>
                  </a:lnTo>
                  <a:lnTo>
                    <a:pt x="1536" y="425678"/>
                  </a:lnTo>
                  <a:lnTo>
                    <a:pt x="0" y="463715"/>
                  </a:lnTo>
                  <a:lnTo>
                    <a:pt x="0" y="3284550"/>
                  </a:lnTo>
                  <a:lnTo>
                    <a:pt x="6070" y="3359759"/>
                  </a:lnTo>
                  <a:lnTo>
                    <a:pt x="23634" y="3431120"/>
                  </a:lnTo>
                  <a:lnTo>
                    <a:pt x="51752" y="3497656"/>
                  </a:lnTo>
                  <a:lnTo>
                    <a:pt x="89458" y="3558413"/>
                  </a:lnTo>
                  <a:lnTo>
                    <a:pt x="135801" y="3612438"/>
                  </a:lnTo>
                  <a:lnTo>
                    <a:pt x="189826" y="3658793"/>
                  </a:lnTo>
                  <a:lnTo>
                    <a:pt x="250583" y="3696500"/>
                  </a:lnTo>
                  <a:lnTo>
                    <a:pt x="317119" y="3724617"/>
                  </a:lnTo>
                  <a:lnTo>
                    <a:pt x="388454" y="3742194"/>
                  </a:lnTo>
                  <a:lnTo>
                    <a:pt x="463677" y="3748265"/>
                  </a:lnTo>
                  <a:lnTo>
                    <a:pt x="2318296" y="3748265"/>
                  </a:lnTo>
                  <a:lnTo>
                    <a:pt x="2393505" y="3742194"/>
                  </a:lnTo>
                  <a:lnTo>
                    <a:pt x="2464854" y="3724617"/>
                  </a:lnTo>
                  <a:lnTo>
                    <a:pt x="2531376" y="3696500"/>
                  </a:lnTo>
                  <a:lnTo>
                    <a:pt x="2592133" y="3658793"/>
                  </a:lnTo>
                  <a:lnTo>
                    <a:pt x="2646159" y="3612438"/>
                  </a:lnTo>
                  <a:lnTo>
                    <a:pt x="2692501" y="3558413"/>
                  </a:lnTo>
                  <a:lnTo>
                    <a:pt x="2730207" y="3497656"/>
                  </a:lnTo>
                  <a:lnTo>
                    <a:pt x="2758325" y="3431120"/>
                  </a:lnTo>
                  <a:lnTo>
                    <a:pt x="2775902" y="3359759"/>
                  </a:lnTo>
                  <a:lnTo>
                    <a:pt x="2781960" y="3284550"/>
                  </a:lnTo>
                  <a:lnTo>
                    <a:pt x="2781960" y="463715"/>
                  </a:lnTo>
                  <a:lnTo>
                    <a:pt x="2775902" y="388493"/>
                  </a:lnTo>
                  <a:lnTo>
                    <a:pt x="2758325" y="317144"/>
                  </a:lnTo>
                  <a:lnTo>
                    <a:pt x="2730207" y="250609"/>
                  </a:lnTo>
                  <a:lnTo>
                    <a:pt x="2692501" y="189852"/>
                  </a:lnTo>
                  <a:lnTo>
                    <a:pt x="2646159" y="135813"/>
                  </a:lnTo>
                  <a:lnTo>
                    <a:pt x="2592133" y="89471"/>
                  </a:lnTo>
                  <a:lnTo>
                    <a:pt x="2531376" y="51752"/>
                  </a:lnTo>
                  <a:lnTo>
                    <a:pt x="2464854" y="23634"/>
                  </a:lnTo>
                  <a:lnTo>
                    <a:pt x="2393505" y="6070"/>
                  </a:lnTo>
                  <a:lnTo>
                    <a:pt x="2318296" y="0"/>
                  </a:lnTo>
                  <a:close/>
                </a:path>
              </a:pathLst>
            </a:custGeom>
            <a:solidFill>
              <a:srgbClr val="8DDEF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339965" y="1080131"/>
              <a:ext cx="2782570" cy="3748404"/>
            </a:xfrm>
            <a:custGeom>
              <a:avLst/>
              <a:gdLst/>
              <a:ahLst/>
              <a:cxnLst/>
              <a:rect l="l" t="t" r="r" b="b"/>
              <a:pathLst>
                <a:path w="2782570" h="3748404">
                  <a:moveTo>
                    <a:pt x="0" y="463715"/>
                  </a:moveTo>
                  <a:lnTo>
                    <a:pt x="6070" y="388492"/>
                  </a:lnTo>
                  <a:lnTo>
                    <a:pt x="23634" y="317144"/>
                  </a:lnTo>
                  <a:lnTo>
                    <a:pt x="51752" y="250609"/>
                  </a:lnTo>
                  <a:lnTo>
                    <a:pt x="89458" y="189852"/>
                  </a:lnTo>
                  <a:lnTo>
                    <a:pt x="135801" y="135826"/>
                  </a:lnTo>
                  <a:lnTo>
                    <a:pt x="189826" y="89471"/>
                  </a:lnTo>
                  <a:lnTo>
                    <a:pt x="250583" y="51765"/>
                  </a:lnTo>
                  <a:lnTo>
                    <a:pt x="317119" y="23647"/>
                  </a:lnTo>
                  <a:lnTo>
                    <a:pt x="388454" y="6070"/>
                  </a:lnTo>
                  <a:lnTo>
                    <a:pt x="463664" y="0"/>
                  </a:lnTo>
                  <a:lnTo>
                    <a:pt x="2318296" y="0"/>
                  </a:lnTo>
                  <a:lnTo>
                    <a:pt x="2393505" y="6070"/>
                  </a:lnTo>
                  <a:lnTo>
                    <a:pt x="2464854" y="23647"/>
                  </a:lnTo>
                  <a:lnTo>
                    <a:pt x="2531376" y="51765"/>
                  </a:lnTo>
                  <a:lnTo>
                    <a:pt x="2592133" y="89471"/>
                  </a:lnTo>
                  <a:lnTo>
                    <a:pt x="2646159" y="135826"/>
                  </a:lnTo>
                  <a:lnTo>
                    <a:pt x="2692501" y="189852"/>
                  </a:lnTo>
                  <a:lnTo>
                    <a:pt x="2730207" y="250609"/>
                  </a:lnTo>
                  <a:lnTo>
                    <a:pt x="2758325" y="317144"/>
                  </a:lnTo>
                  <a:lnTo>
                    <a:pt x="2775889" y="388492"/>
                  </a:lnTo>
                  <a:lnTo>
                    <a:pt x="2781960" y="463715"/>
                  </a:lnTo>
                  <a:lnTo>
                    <a:pt x="2781960" y="3284550"/>
                  </a:lnTo>
                  <a:lnTo>
                    <a:pt x="2775889" y="3359772"/>
                  </a:lnTo>
                  <a:lnTo>
                    <a:pt x="2758325" y="3431120"/>
                  </a:lnTo>
                  <a:lnTo>
                    <a:pt x="2730207" y="3497656"/>
                  </a:lnTo>
                  <a:lnTo>
                    <a:pt x="2692501" y="3558412"/>
                  </a:lnTo>
                  <a:lnTo>
                    <a:pt x="2646159" y="3612438"/>
                  </a:lnTo>
                  <a:lnTo>
                    <a:pt x="2592133" y="3658793"/>
                  </a:lnTo>
                  <a:lnTo>
                    <a:pt x="2531376" y="3696500"/>
                  </a:lnTo>
                  <a:lnTo>
                    <a:pt x="2464854" y="3724617"/>
                  </a:lnTo>
                  <a:lnTo>
                    <a:pt x="2393505" y="3742194"/>
                  </a:lnTo>
                  <a:lnTo>
                    <a:pt x="2318296" y="3748265"/>
                  </a:lnTo>
                  <a:lnTo>
                    <a:pt x="463664" y="3748265"/>
                  </a:lnTo>
                  <a:lnTo>
                    <a:pt x="388454" y="3742194"/>
                  </a:lnTo>
                  <a:lnTo>
                    <a:pt x="317119" y="3724617"/>
                  </a:lnTo>
                  <a:lnTo>
                    <a:pt x="250583" y="3696500"/>
                  </a:lnTo>
                  <a:lnTo>
                    <a:pt x="189826" y="3658793"/>
                  </a:lnTo>
                  <a:lnTo>
                    <a:pt x="135801" y="3612438"/>
                  </a:lnTo>
                  <a:lnTo>
                    <a:pt x="89458" y="3558412"/>
                  </a:lnTo>
                  <a:lnTo>
                    <a:pt x="51752" y="3497656"/>
                  </a:lnTo>
                  <a:lnTo>
                    <a:pt x="23634" y="3431120"/>
                  </a:lnTo>
                  <a:lnTo>
                    <a:pt x="6070" y="3359772"/>
                  </a:lnTo>
                  <a:lnTo>
                    <a:pt x="0" y="3284550"/>
                  </a:lnTo>
                  <a:lnTo>
                    <a:pt x="0" y="463715"/>
                  </a:lnTo>
                  <a:close/>
                </a:path>
              </a:pathLst>
            </a:custGeom>
            <a:ln w="9524">
              <a:solidFill>
                <a:srgbClr val="00B0F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27406" y="1274847"/>
            <a:ext cx="198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Just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Time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Details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71472" y="2634246"/>
            <a:ext cx="1530350" cy="542925"/>
            <a:chOff x="1871472" y="2634246"/>
            <a:chExt cx="1530350" cy="542925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1472" y="2634246"/>
              <a:ext cx="1530095" cy="5425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17192" y="2657094"/>
              <a:ext cx="1436370" cy="451484"/>
            </a:xfrm>
            <a:custGeom>
              <a:avLst/>
              <a:gdLst/>
              <a:ahLst/>
              <a:cxnLst/>
              <a:rect l="l" t="t" r="r" b="b"/>
              <a:pathLst>
                <a:path w="1436370" h="451485">
                  <a:moveTo>
                    <a:pt x="1436103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1436103" y="451015"/>
                  </a:lnTo>
                  <a:lnTo>
                    <a:pt x="1436103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917573" y="2657475"/>
              <a:ext cx="1436370" cy="451484"/>
            </a:xfrm>
            <a:custGeom>
              <a:avLst/>
              <a:gdLst/>
              <a:ahLst/>
              <a:cxnLst/>
              <a:rect l="l" t="t" r="r" b="b"/>
              <a:pathLst>
                <a:path w="1436370" h="451485">
                  <a:moveTo>
                    <a:pt x="0" y="0"/>
                  </a:moveTo>
                  <a:lnTo>
                    <a:pt x="1436103" y="0"/>
                  </a:lnTo>
                  <a:lnTo>
                    <a:pt x="1436103" y="451015"/>
                  </a:lnTo>
                  <a:lnTo>
                    <a:pt x="0" y="4510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81830" y="2756173"/>
            <a:ext cx="498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Epic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020311" y="2140470"/>
            <a:ext cx="1109980" cy="542925"/>
            <a:chOff x="4020311" y="2140470"/>
            <a:chExt cx="1109980" cy="542925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0311" y="2140470"/>
              <a:ext cx="1109471" cy="5425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66031" y="2164080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1017562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1017562" y="451015"/>
                  </a:lnTo>
                  <a:lnTo>
                    <a:pt x="10175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066412" y="2164461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0" y="0"/>
                  </a:moveTo>
                  <a:lnTo>
                    <a:pt x="1017562" y="0"/>
                  </a:lnTo>
                  <a:lnTo>
                    <a:pt x="1017562" y="451015"/>
                  </a:lnTo>
                  <a:lnTo>
                    <a:pt x="0" y="4510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066413" y="2164460"/>
            <a:ext cx="1017905" cy="451484"/>
          </a:xfrm>
          <a:prstGeom prst="rect">
            <a:avLst/>
          </a:prstGeom>
          <a:ln w="9525">
            <a:solidFill>
              <a:srgbClr val="00A677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95885" marR="0" lvl="0" indent="0" defTabSz="914400" eaLnBrk="1" fontAlgn="auto" latinLnBrk="0" hangingPunct="1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020311" y="3124961"/>
            <a:ext cx="1109980" cy="546100"/>
            <a:chOff x="4020311" y="3124961"/>
            <a:chExt cx="1109980" cy="546100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0311" y="3124961"/>
              <a:ext cx="1109471" cy="54559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066031" y="3150107"/>
              <a:ext cx="1017905" cy="450850"/>
            </a:xfrm>
            <a:custGeom>
              <a:avLst/>
              <a:gdLst/>
              <a:ahLst/>
              <a:cxnLst/>
              <a:rect l="l" t="t" r="r" b="b"/>
              <a:pathLst>
                <a:path w="1017904" h="450850">
                  <a:moveTo>
                    <a:pt x="1017562" y="0"/>
                  </a:moveTo>
                  <a:lnTo>
                    <a:pt x="0" y="0"/>
                  </a:lnTo>
                  <a:lnTo>
                    <a:pt x="0" y="450253"/>
                  </a:lnTo>
                  <a:lnTo>
                    <a:pt x="1017562" y="450253"/>
                  </a:lnTo>
                  <a:lnTo>
                    <a:pt x="10175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066413" y="3150488"/>
              <a:ext cx="1017905" cy="450850"/>
            </a:xfrm>
            <a:custGeom>
              <a:avLst/>
              <a:gdLst/>
              <a:ahLst/>
              <a:cxnLst/>
              <a:rect l="l" t="t" r="r" b="b"/>
              <a:pathLst>
                <a:path w="1017904" h="450850">
                  <a:moveTo>
                    <a:pt x="0" y="0"/>
                  </a:moveTo>
                  <a:lnTo>
                    <a:pt x="1017562" y="0"/>
                  </a:lnTo>
                  <a:lnTo>
                    <a:pt x="1017562" y="450253"/>
                  </a:lnTo>
                  <a:lnTo>
                    <a:pt x="0" y="45025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49699" y="3249950"/>
            <a:ext cx="846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782055" y="2783585"/>
            <a:ext cx="1109980" cy="542925"/>
            <a:chOff x="5782055" y="2783585"/>
            <a:chExt cx="1109980" cy="542925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2055" y="2783585"/>
              <a:ext cx="1109459" cy="54254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28537" y="2805683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1017562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1017562" y="451015"/>
                  </a:lnTo>
                  <a:lnTo>
                    <a:pt x="1017562" y="0"/>
                  </a:lnTo>
                  <a:close/>
                </a:path>
              </a:pathLst>
            </a:custGeom>
            <a:solidFill>
              <a:srgbClr val="027D5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828918" y="2806064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0" y="0"/>
                  </a:moveTo>
                  <a:lnTo>
                    <a:pt x="1017562" y="0"/>
                  </a:lnTo>
                  <a:lnTo>
                    <a:pt x="1017562" y="451015"/>
                  </a:lnTo>
                  <a:lnTo>
                    <a:pt x="0" y="4510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828919" y="2806064"/>
            <a:ext cx="1017905" cy="451484"/>
          </a:xfrm>
          <a:prstGeom prst="rect">
            <a:avLst/>
          </a:prstGeom>
          <a:ln w="9525">
            <a:solidFill>
              <a:srgbClr val="00A677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241300" marR="0" lvl="0" indent="0" defTabSz="914400" eaLnBrk="1" fontAlgn="auto" latinLnBrk="0" hangingPunct="1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782055" y="2140470"/>
            <a:ext cx="1109980" cy="542925"/>
            <a:chOff x="5782055" y="2140470"/>
            <a:chExt cx="1109980" cy="542925"/>
          </a:xfrm>
        </p:grpSpPr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2055" y="2140470"/>
              <a:ext cx="1109459" cy="54253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828537" y="2164080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1017562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1017562" y="451015"/>
                  </a:lnTo>
                  <a:lnTo>
                    <a:pt x="1017562" y="0"/>
                  </a:lnTo>
                  <a:close/>
                </a:path>
              </a:pathLst>
            </a:custGeom>
            <a:solidFill>
              <a:srgbClr val="027D5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828918" y="2164461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0" y="0"/>
                  </a:moveTo>
                  <a:lnTo>
                    <a:pt x="1017562" y="0"/>
                  </a:lnTo>
                  <a:lnTo>
                    <a:pt x="1017562" y="451015"/>
                  </a:lnTo>
                  <a:lnTo>
                    <a:pt x="0" y="4510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058011" y="2265447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782055" y="3469385"/>
            <a:ext cx="1109980" cy="542925"/>
            <a:chOff x="5782055" y="3469385"/>
            <a:chExt cx="1109980" cy="542925"/>
          </a:xfrm>
        </p:grpSpPr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82055" y="3469385"/>
              <a:ext cx="1109459" cy="54254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828537" y="3493769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1017562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1017562" y="451015"/>
                  </a:lnTo>
                  <a:lnTo>
                    <a:pt x="1017562" y="0"/>
                  </a:lnTo>
                  <a:close/>
                </a:path>
              </a:pathLst>
            </a:custGeom>
            <a:solidFill>
              <a:srgbClr val="027D5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5828918" y="3494150"/>
              <a:ext cx="1017905" cy="451484"/>
            </a:xfrm>
            <a:custGeom>
              <a:avLst/>
              <a:gdLst/>
              <a:ahLst/>
              <a:cxnLst/>
              <a:rect l="l" t="t" r="r" b="b"/>
              <a:pathLst>
                <a:path w="1017904" h="451485">
                  <a:moveTo>
                    <a:pt x="0" y="0"/>
                  </a:moveTo>
                  <a:lnTo>
                    <a:pt x="1017562" y="0"/>
                  </a:lnTo>
                  <a:lnTo>
                    <a:pt x="1017562" y="451015"/>
                  </a:lnTo>
                  <a:lnTo>
                    <a:pt x="0" y="4510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058011" y="3594374"/>
            <a:ext cx="55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650479" y="1582673"/>
            <a:ext cx="2173605" cy="546100"/>
            <a:chOff x="7650479" y="1582673"/>
            <a:chExt cx="2173605" cy="546100"/>
          </a:xfrm>
        </p:grpSpPr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50479" y="1582673"/>
              <a:ext cx="2173223" cy="54559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696961" y="1607819"/>
              <a:ext cx="2080260" cy="450850"/>
            </a:xfrm>
            <a:custGeom>
              <a:avLst/>
              <a:gdLst/>
              <a:ahLst/>
              <a:cxnLst/>
              <a:rect l="l" t="t" r="r" b="b"/>
              <a:pathLst>
                <a:path w="2080259" h="450850">
                  <a:moveTo>
                    <a:pt x="2079942" y="0"/>
                  </a:moveTo>
                  <a:lnTo>
                    <a:pt x="0" y="0"/>
                  </a:lnTo>
                  <a:lnTo>
                    <a:pt x="0" y="450253"/>
                  </a:lnTo>
                  <a:lnTo>
                    <a:pt x="2079942" y="450253"/>
                  </a:lnTo>
                  <a:lnTo>
                    <a:pt x="2079942" y="0"/>
                  </a:lnTo>
                  <a:close/>
                </a:path>
              </a:pathLst>
            </a:custGeom>
            <a:solidFill>
              <a:srgbClr val="E5D4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697343" y="1608200"/>
            <a:ext cx="2080260" cy="450850"/>
          </a:xfrm>
          <a:prstGeom prst="rect">
            <a:avLst/>
          </a:prstGeom>
          <a:ln w="9525">
            <a:solidFill>
              <a:srgbClr val="00A677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252095" marR="0" lvl="0" indent="0" defTabSz="914400" eaLnBrk="1" fontAlgn="auto" latinLnBrk="0" hangingPunct="1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Business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Rules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650480" y="2186190"/>
            <a:ext cx="2173605" cy="542925"/>
            <a:chOff x="7650480" y="2186190"/>
            <a:chExt cx="2173605" cy="542925"/>
          </a:xfrm>
        </p:grpSpPr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50480" y="2186190"/>
              <a:ext cx="2173223" cy="54253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696962" y="2209038"/>
              <a:ext cx="2080260" cy="450850"/>
            </a:xfrm>
            <a:custGeom>
              <a:avLst/>
              <a:gdLst/>
              <a:ahLst/>
              <a:cxnLst/>
              <a:rect l="l" t="t" r="r" b="b"/>
              <a:pathLst>
                <a:path w="2080259" h="450850">
                  <a:moveTo>
                    <a:pt x="2079942" y="0"/>
                  </a:moveTo>
                  <a:lnTo>
                    <a:pt x="0" y="0"/>
                  </a:lnTo>
                  <a:lnTo>
                    <a:pt x="0" y="450253"/>
                  </a:lnTo>
                  <a:lnTo>
                    <a:pt x="2079942" y="450253"/>
                  </a:lnTo>
                  <a:lnTo>
                    <a:pt x="2079942" y="0"/>
                  </a:lnTo>
                  <a:close/>
                </a:path>
              </a:pathLst>
            </a:custGeom>
            <a:solidFill>
              <a:srgbClr val="E5D4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7697343" y="2209419"/>
              <a:ext cx="2080260" cy="450850"/>
            </a:xfrm>
            <a:custGeom>
              <a:avLst/>
              <a:gdLst/>
              <a:ahLst/>
              <a:cxnLst/>
              <a:rect l="l" t="t" r="r" b="b"/>
              <a:pathLst>
                <a:path w="2080259" h="450850">
                  <a:moveTo>
                    <a:pt x="0" y="0"/>
                  </a:moveTo>
                  <a:lnTo>
                    <a:pt x="2079942" y="0"/>
                  </a:lnTo>
                  <a:lnTo>
                    <a:pt x="2079942" y="450253"/>
                  </a:lnTo>
                  <a:lnTo>
                    <a:pt x="0" y="45025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830950" y="2308118"/>
            <a:ext cx="1770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Acceptance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Tests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7650479" y="3990594"/>
            <a:ext cx="2173605" cy="542925"/>
            <a:chOff x="7650479" y="3990594"/>
            <a:chExt cx="2173605" cy="542925"/>
          </a:xfrm>
        </p:grpSpPr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50479" y="3990594"/>
              <a:ext cx="2173223" cy="54254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696961" y="4012692"/>
              <a:ext cx="2080260" cy="451484"/>
            </a:xfrm>
            <a:custGeom>
              <a:avLst/>
              <a:gdLst/>
              <a:ahLst/>
              <a:cxnLst/>
              <a:rect l="l" t="t" r="r" b="b"/>
              <a:pathLst>
                <a:path w="2080259" h="451485">
                  <a:moveTo>
                    <a:pt x="2079942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2079942" y="451015"/>
                  </a:lnTo>
                  <a:lnTo>
                    <a:pt x="2079942" y="0"/>
                  </a:lnTo>
                  <a:close/>
                </a:path>
              </a:pathLst>
            </a:custGeom>
            <a:solidFill>
              <a:srgbClr val="E5D4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697343" y="4013072"/>
            <a:ext cx="2080260" cy="451484"/>
          </a:xfrm>
          <a:prstGeom prst="rect">
            <a:avLst/>
          </a:prstGeom>
          <a:ln w="9525">
            <a:solidFill>
              <a:srgbClr val="00A677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436245" marR="0" lvl="0" indent="0" defTabSz="914400" eaLnBrk="1" fontAlgn="auto" latinLnBrk="0" hangingPunct="1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UI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Mockups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7650479" y="2786633"/>
            <a:ext cx="2173605" cy="542925"/>
            <a:chOff x="7650479" y="2786633"/>
            <a:chExt cx="2173605" cy="542925"/>
          </a:xfrm>
        </p:grpSpPr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50479" y="2786633"/>
              <a:ext cx="2173223" cy="542543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696961" y="2810255"/>
              <a:ext cx="2080260" cy="451484"/>
            </a:xfrm>
            <a:custGeom>
              <a:avLst/>
              <a:gdLst/>
              <a:ahLst/>
              <a:cxnLst/>
              <a:rect l="l" t="t" r="r" b="b"/>
              <a:pathLst>
                <a:path w="2080259" h="451485">
                  <a:moveTo>
                    <a:pt x="2079942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2079942" y="451015"/>
                  </a:lnTo>
                  <a:lnTo>
                    <a:pt x="2079942" y="0"/>
                  </a:lnTo>
                  <a:close/>
                </a:path>
              </a:pathLst>
            </a:custGeom>
            <a:solidFill>
              <a:srgbClr val="E5D4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7697342" y="2810637"/>
              <a:ext cx="2080260" cy="451484"/>
            </a:xfrm>
            <a:custGeom>
              <a:avLst/>
              <a:gdLst/>
              <a:ahLst/>
              <a:cxnLst/>
              <a:rect l="l" t="t" r="r" b="b"/>
              <a:pathLst>
                <a:path w="2080259" h="451485">
                  <a:moveTo>
                    <a:pt x="0" y="0"/>
                  </a:moveTo>
                  <a:lnTo>
                    <a:pt x="2079942" y="0"/>
                  </a:lnTo>
                  <a:lnTo>
                    <a:pt x="2079942" y="451015"/>
                  </a:lnTo>
                  <a:lnTo>
                    <a:pt x="0" y="4510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8273419" y="2911623"/>
            <a:ext cx="920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Activities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650479" y="3387089"/>
            <a:ext cx="2173605" cy="546100"/>
            <a:chOff x="7650479" y="3387089"/>
            <a:chExt cx="2173605" cy="546100"/>
          </a:xfrm>
        </p:grpSpPr>
        <p:pic>
          <p:nvPicPr>
            <p:cNvPr id="74" name="object 7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50479" y="3387089"/>
              <a:ext cx="2173223" cy="545591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696961" y="3411474"/>
              <a:ext cx="2080260" cy="451484"/>
            </a:xfrm>
            <a:custGeom>
              <a:avLst/>
              <a:gdLst/>
              <a:ahLst/>
              <a:cxnLst/>
              <a:rect l="l" t="t" r="r" b="b"/>
              <a:pathLst>
                <a:path w="2080259" h="451485">
                  <a:moveTo>
                    <a:pt x="2079942" y="0"/>
                  </a:moveTo>
                  <a:lnTo>
                    <a:pt x="0" y="0"/>
                  </a:lnTo>
                  <a:lnTo>
                    <a:pt x="0" y="451015"/>
                  </a:lnTo>
                  <a:lnTo>
                    <a:pt x="2079942" y="451015"/>
                  </a:lnTo>
                  <a:lnTo>
                    <a:pt x="2079942" y="0"/>
                  </a:lnTo>
                  <a:close/>
                </a:path>
              </a:pathLst>
            </a:custGeom>
            <a:solidFill>
              <a:srgbClr val="E5D4B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7697342" y="3411854"/>
              <a:ext cx="2080260" cy="451484"/>
            </a:xfrm>
            <a:custGeom>
              <a:avLst/>
              <a:gdLst/>
              <a:ahLst/>
              <a:cxnLst/>
              <a:rect l="l" t="t" r="r" b="b"/>
              <a:pathLst>
                <a:path w="2080259" h="451485">
                  <a:moveTo>
                    <a:pt x="0" y="0"/>
                  </a:moveTo>
                  <a:lnTo>
                    <a:pt x="2079942" y="0"/>
                  </a:lnTo>
                  <a:lnTo>
                    <a:pt x="2079942" y="451015"/>
                  </a:lnTo>
                  <a:lnTo>
                    <a:pt x="0" y="4510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8432138" y="3512079"/>
            <a:ext cx="581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Tasks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300983" y="1640585"/>
            <a:ext cx="4608830" cy="2828925"/>
            <a:chOff x="3300983" y="1640585"/>
            <a:chExt cx="4608830" cy="2828925"/>
          </a:xfrm>
        </p:grpSpPr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00983" y="2198369"/>
              <a:ext cx="975359" cy="76199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3342892" y="2432460"/>
              <a:ext cx="661670" cy="465455"/>
            </a:xfrm>
            <a:custGeom>
              <a:avLst/>
              <a:gdLst/>
              <a:ahLst/>
              <a:cxnLst/>
              <a:rect l="l" t="t" r="r" b="b"/>
              <a:pathLst>
                <a:path w="661670" h="465455">
                  <a:moveTo>
                    <a:pt x="661339" y="0"/>
                  </a:moveTo>
                  <a:lnTo>
                    <a:pt x="624078" y="2705"/>
                  </a:lnTo>
                  <a:lnTo>
                    <a:pt x="0" y="433971"/>
                  </a:lnTo>
                  <a:lnTo>
                    <a:pt x="21666" y="465277"/>
                  </a:lnTo>
                  <a:lnTo>
                    <a:pt x="645248" y="34366"/>
                  </a:lnTo>
                  <a:lnTo>
                    <a:pt x="661339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1" name="object 8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84325" y="2389633"/>
              <a:ext cx="182029" cy="15929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00984" y="2844558"/>
              <a:ext cx="975359" cy="76198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84330" y="3215974"/>
              <a:ext cx="182029" cy="159542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3342899" y="2866644"/>
              <a:ext cx="661670" cy="466090"/>
            </a:xfrm>
            <a:custGeom>
              <a:avLst/>
              <a:gdLst/>
              <a:ahLst/>
              <a:cxnLst/>
              <a:rect l="l" t="t" r="r" b="b"/>
              <a:pathLst>
                <a:path w="661670" h="466089">
                  <a:moveTo>
                    <a:pt x="21666" y="0"/>
                  </a:moveTo>
                  <a:lnTo>
                    <a:pt x="0" y="31356"/>
                  </a:lnTo>
                  <a:lnTo>
                    <a:pt x="624078" y="463270"/>
                  </a:lnTo>
                  <a:lnTo>
                    <a:pt x="661339" y="465975"/>
                  </a:lnTo>
                  <a:lnTo>
                    <a:pt x="645236" y="431558"/>
                  </a:lnTo>
                  <a:lnTo>
                    <a:pt x="216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5" name="object 8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41392" y="2198369"/>
              <a:ext cx="999731" cy="42367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57914" y="2304287"/>
              <a:ext cx="170814" cy="171170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5083302" y="2370797"/>
              <a:ext cx="708025" cy="38100"/>
            </a:xfrm>
            <a:custGeom>
              <a:avLst/>
              <a:gdLst/>
              <a:ahLst/>
              <a:cxnLst/>
              <a:rect l="l" t="t" r="r" b="b"/>
              <a:pathLst>
                <a:path w="708025" h="38100">
                  <a:moveTo>
                    <a:pt x="707580" y="0"/>
                  </a:moveTo>
                  <a:lnTo>
                    <a:pt x="637082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639508" y="38100"/>
                  </a:lnTo>
                  <a:lnTo>
                    <a:pt x="670331" y="19380"/>
                  </a:lnTo>
                  <a:lnTo>
                    <a:pt x="697979" y="2590"/>
                  </a:lnTo>
                  <a:lnTo>
                    <a:pt x="707580" y="2590"/>
                  </a:lnTo>
                  <a:lnTo>
                    <a:pt x="707580" y="0"/>
                  </a:lnTo>
                  <a:close/>
                </a:path>
                <a:path w="708025" h="38100">
                  <a:moveTo>
                    <a:pt x="707593" y="2603"/>
                  </a:moveTo>
                  <a:lnTo>
                    <a:pt x="697979" y="2603"/>
                  </a:lnTo>
                  <a:lnTo>
                    <a:pt x="670331" y="19392"/>
                  </a:lnTo>
                  <a:lnTo>
                    <a:pt x="697979" y="35509"/>
                  </a:lnTo>
                  <a:lnTo>
                    <a:pt x="707593" y="35509"/>
                  </a:lnTo>
                  <a:lnTo>
                    <a:pt x="707593" y="260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35295" y="2838450"/>
              <a:ext cx="1005839" cy="61569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075680" y="3058716"/>
              <a:ext cx="684530" cy="334010"/>
            </a:xfrm>
            <a:custGeom>
              <a:avLst/>
              <a:gdLst/>
              <a:ahLst/>
              <a:cxnLst/>
              <a:rect l="l" t="t" r="r" b="b"/>
              <a:pathLst>
                <a:path w="684529" h="334010">
                  <a:moveTo>
                    <a:pt x="647128" y="0"/>
                  </a:moveTo>
                  <a:lnTo>
                    <a:pt x="0" y="298958"/>
                  </a:lnTo>
                  <a:lnTo>
                    <a:pt x="15976" y="333540"/>
                  </a:lnTo>
                  <a:lnTo>
                    <a:pt x="662368" y="34925"/>
                  </a:lnTo>
                  <a:lnTo>
                    <a:pt x="684148" y="3759"/>
                  </a:lnTo>
                  <a:lnTo>
                    <a:pt x="647128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0" name="object 9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43929" y="3015233"/>
              <a:ext cx="184390" cy="15788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35295" y="3335273"/>
              <a:ext cx="1005839" cy="61569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43930" y="3577267"/>
              <a:ext cx="184391" cy="157896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5075682" y="3358133"/>
              <a:ext cx="723265" cy="334010"/>
            </a:xfrm>
            <a:custGeom>
              <a:avLst/>
              <a:gdLst/>
              <a:ahLst/>
              <a:cxnLst/>
              <a:rect l="l" t="t" r="r" b="b"/>
              <a:pathLst>
                <a:path w="723264" h="334010">
                  <a:moveTo>
                    <a:pt x="722693" y="326491"/>
                  </a:moveTo>
                  <a:lnTo>
                    <a:pt x="662355" y="298615"/>
                  </a:lnTo>
                  <a:lnTo>
                    <a:pt x="15963" y="0"/>
                  </a:lnTo>
                  <a:lnTo>
                    <a:pt x="0" y="34594"/>
                  </a:lnTo>
                  <a:lnTo>
                    <a:pt x="647128" y="333540"/>
                  </a:lnTo>
                  <a:lnTo>
                    <a:pt x="684136" y="329780"/>
                  </a:lnTo>
                  <a:lnTo>
                    <a:pt x="716508" y="326491"/>
                  </a:lnTo>
                  <a:lnTo>
                    <a:pt x="722693" y="32649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4" name="object 9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87895" y="1640585"/>
              <a:ext cx="1121663" cy="146303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830571" y="1893731"/>
              <a:ext cx="822960" cy="1148715"/>
            </a:xfrm>
            <a:custGeom>
              <a:avLst/>
              <a:gdLst/>
              <a:ahLst/>
              <a:cxnLst/>
              <a:rect l="l" t="t" r="r" b="b"/>
              <a:pathLst>
                <a:path w="822959" h="1148714">
                  <a:moveTo>
                    <a:pt x="822363" y="0"/>
                  </a:moveTo>
                  <a:lnTo>
                    <a:pt x="789063" y="14503"/>
                  </a:lnTo>
                  <a:lnTo>
                    <a:pt x="0" y="1126617"/>
                  </a:lnTo>
                  <a:lnTo>
                    <a:pt x="31051" y="1148676"/>
                  </a:lnTo>
                  <a:lnTo>
                    <a:pt x="818934" y="38214"/>
                  </a:lnTo>
                  <a:lnTo>
                    <a:pt x="82236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6" name="object 9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35391" y="1832610"/>
              <a:ext cx="161251" cy="18114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93991" y="2244090"/>
              <a:ext cx="1115567" cy="862583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835136" y="2477138"/>
              <a:ext cx="800100" cy="570230"/>
            </a:xfrm>
            <a:custGeom>
              <a:avLst/>
              <a:gdLst/>
              <a:ahLst/>
              <a:cxnLst/>
              <a:rect l="l" t="t" r="r" b="b"/>
              <a:pathLst>
                <a:path w="800100" h="570230">
                  <a:moveTo>
                    <a:pt x="799592" y="0"/>
                  </a:moveTo>
                  <a:lnTo>
                    <a:pt x="762393" y="2946"/>
                  </a:lnTo>
                  <a:lnTo>
                    <a:pt x="0" y="538670"/>
                  </a:lnTo>
                  <a:lnTo>
                    <a:pt x="21869" y="569887"/>
                  </a:lnTo>
                  <a:lnTo>
                    <a:pt x="783729" y="34544"/>
                  </a:lnTo>
                  <a:lnTo>
                    <a:pt x="79959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9" name="object 9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514807" y="2433826"/>
              <a:ext cx="181711" cy="16017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803135" y="2844545"/>
              <a:ext cx="1106423" cy="42062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526088" y="2948939"/>
              <a:ext cx="170403" cy="171151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845795" y="3011779"/>
              <a:ext cx="813435" cy="42545"/>
            </a:xfrm>
            <a:custGeom>
              <a:avLst/>
              <a:gdLst/>
              <a:ahLst/>
              <a:cxnLst/>
              <a:rect l="l" t="t" r="r" b="b"/>
              <a:pathLst>
                <a:path w="813434" h="42544">
                  <a:moveTo>
                    <a:pt x="775677" y="23456"/>
                  </a:moveTo>
                  <a:lnTo>
                    <a:pt x="742556" y="3898"/>
                  </a:lnTo>
                  <a:lnTo>
                    <a:pt x="203" y="0"/>
                  </a:lnTo>
                  <a:lnTo>
                    <a:pt x="0" y="38100"/>
                  </a:lnTo>
                  <a:lnTo>
                    <a:pt x="744791" y="42011"/>
                  </a:lnTo>
                  <a:lnTo>
                    <a:pt x="775677" y="23456"/>
                  </a:lnTo>
                  <a:close/>
                </a:path>
                <a:path w="813434" h="42544">
                  <a:moveTo>
                    <a:pt x="813003" y="4267"/>
                  </a:moveTo>
                  <a:lnTo>
                    <a:pt x="742569" y="3898"/>
                  </a:lnTo>
                  <a:lnTo>
                    <a:pt x="775677" y="23456"/>
                  </a:lnTo>
                  <a:lnTo>
                    <a:pt x="803211" y="39712"/>
                  </a:lnTo>
                  <a:lnTo>
                    <a:pt x="803389" y="6807"/>
                  </a:lnTo>
                  <a:lnTo>
                    <a:pt x="803224" y="39725"/>
                  </a:lnTo>
                  <a:lnTo>
                    <a:pt x="812812" y="39725"/>
                  </a:lnTo>
                  <a:lnTo>
                    <a:pt x="812990" y="6807"/>
                  </a:lnTo>
                  <a:lnTo>
                    <a:pt x="813003" y="4267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03" name="object 10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93991" y="2993897"/>
              <a:ext cx="1115567" cy="87477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515150" y="3476360"/>
              <a:ext cx="181482" cy="160441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6835141" y="3015996"/>
              <a:ext cx="800100" cy="577215"/>
            </a:xfrm>
            <a:custGeom>
              <a:avLst/>
              <a:gdLst/>
              <a:ahLst/>
              <a:cxnLst/>
              <a:rect l="l" t="t" r="r" b="b"/>
              <a:pathLst>
                <a:path w="800100" h="577214">
                  <a:moveTo>
                    <a:pt x="22085" y="0"/>
                  </a:moveTo>
                  <a:lnTo>
                    <a:pt x="0" y="31000"/>
                  </a:lnTo>
                  <a:lnTo>
                    <a:pt x="762850" y="573963"/>
                  </a:lnTo>
                  <a:lnTo>
                    <a:pt x="799998" y="577151"/>
                  </a:lnTo>
                  <a:lnTo>
                    <a:pt x="784390" y="542569"/>
                  </a:lnTo>
                  <a:lnTo>
                    <a:pt x="22085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06" name="object 10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787895" y="2996945"/>
              <a:ext cx="1121663" cy="1472183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535735" y="4057543"/>
              <a:ext cx="160947" cy="181208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6830567" y="3020567"/>
              <a:ext cx="822960" cy="1156970"/>
            </a:xfrm>
            <a:custGeom>
              <a:avLst/>
              <a:gdLst/>
              <a:ahLst/>
              <a:cxnLst/>
              <a:rect l="l" t="t" r="r" b="b"/>
              <a:pathLst>
                <a:path w="822959" h="1156970">
                  <a:moveTo>
                    <a:pt x="31127" y="0"/>
                  </a:moveTo>
                  <a:lnTo>
                    <a:pt x="0" y="21945"/>
                  </a:lnTo>
                  <a:lnTo>
                    <a:pt x="789368" y="1142326"/>
                  </a:lnTo>
                  <a:lnTo>
                    <a:pt x="822617" y="1156931"/>
                  </a:lnTo>
                  <a:lnTo>
                    <a:pt x="819327" y="1118717"/>
                  </a:lnTo>
                  <a:lnTo>
                    <a:pt x="31127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1816226" y="4967096"/>
            <a:ext cx="1676400" cy="1081405"/>
          </a:xfrm>
          <a:prstGeom prst="rect">
            <a:avLst/>
          </a:prstGeom>
          <a:ln w="9525">
            <a:solidFill>
              <a:srgbClr val="03A67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113664" lvl="0" indent="0" algn="ctr" defTabSz="91440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9535" marR="202565" lvl="0" indent="0" algn="ctr" defTabSz="914400" eaLnBrk="1" fontAlgn="auto" latinLnBrk="0" hangingPunct="1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Provides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ability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accomplish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goal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(deliver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VALUE)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851528" y="4954142"/>
            <a:ext cx="1501140" cy="861060"/>
          </a:xfrm>
          <a:prstGeom prst="rect">
            <a:avLst/>
          </a:prstGeom>
          <a:ln w="9525">
            <a:solidFill>
              <a:srgbClr val="03A67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5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43510" marR="127635" lvl="0" indent="0" algn="ctr" defTabSz="914400" eaLnBrk="1" fontAlgn="auto" latinLnBrk="0" hangingPunct="1">
              <a:lnSpc>
                <a:spcPts val="17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service needed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deliver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the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587365" y="4954142"/>
            <a:ext cx="1521460" cy="861060"/>
          </a:xfrm>
          <a:prstGeom prst="rect">
            <a:avLst/>
          </a:prstGeom>
          <a:ln w="9525">
            <a:solidFill>
              <a:srgbClr val="03A67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marR="0" lvl="0" indent="0" algn="ctr" defTabSz="914400" eaLnBrk="1" fontAlgn="auto" latinLnBrk="0" hangingPunct="1">
              <a:lnSpc>
                <a:spcPts val="15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04470" marR="189865" lvl="0" indent="33020" algn="just" defTabSz="914400" eaLnBrk="1" fontAlgn="auto" latinLnBrk="0" hangingPunct="1">
              <a:lnSpc>
                <a:spcPts val="17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conversation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desired functionality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333106" y="4961763"/>
            <a:ext cx="2828925" cy="1079500"/>
          </a:xfrm>
          <a:prstGeom prst="rect">
            <a:avLst/>
          </a:prstGeom>
          <a:ln w="9525">
            <a:solidFill>
              <a:srgbClr val="03A67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5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Scenario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37490" marR="220979" lvl="0" indent="37465" algn="just" defTabSz="914400" eaLnBrk="1" fontAlgn="auto" latinLnBrk="0" hangingPunct="1">
              <a:lnSpc>
                <a:spcPts val="17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contextual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(situation-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or 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user-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specific)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details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explain 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how,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why,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where,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the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desired functionality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27353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059" y="375573"/>
            <a:ext cx="2270125" cy="18300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algn="just">
              <a:lnSpc>
                <a:spcPts val="3460"/>
              </a:lnSpc>
              <a:spcBef>
                <a:spcPts val="530"/>
              </a:spcBef>
            </a:pPr>
            <a:r>
              <a:rPr sz="3200" dirty="0">
                <a:solidFill>
                  <a:srgbClr val="007373"/>
                </a:solidFill>
              </a:rPr>
              <a:t>How</a:t>
            </a:r>
            <a:r>
              <a:rPr sz="3200" spc="-65" dirty="0">
                <a:solidFill>
                  <a:srgbClr val="007373"/>
                </a:solidFill>
              </a:rPr>
              <a:t> </a:t>
            </a:r>
            <a:r>
              <a:rPr sz="3200" spc="-20" dirty="0">
                <a:solidFill>
                  <a:srgbClr val="007373"/>
                </a:solidFill>
              </a:rPr>
              <a:t>Features </a:t>
            </a:r>
            <a:r>
              <a:rPr sz="3200" dirty="0">
                <a:solidFill>
                  <a:srgbClr val="007373"/>
                </a:solidFill>
              </a:rPr>
              <a:t>(User</a:t>
            </a:r>
            <a:r>
              <a:rPr sz="3200" spc="-65" dirty="0">
                <a:solidFill>
                  <a:srgbClr val="007373"/>
                </a:solidFill>
              </a:rPr>
              <a:t> </a:t>
            </a:r>
            <a:r>
              <a:rPr sz="3200" spc="-10" dirty="0">
                <a:solidFill>
                  <a:srgbClr val="007373"/>
                </a:solidFill>
              </a:rPr>
              <a:t>Stories) </a:t>
            </a:r>
            <a:r>
              <a:rPr sz="3200" dirty="0">
                <a:solidFill>
                  <a:srgbClr val="007373"/>
                </a:solidFill>
              </a:rPr>
              <a:t>Feed</a:t>
            </a:r>
            <a:r>
              <a:rPr sz="3200" spc="-100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Into</a:t>
            </a:r>
            <a:r>
              <a:rPr sz="3200" spc="-105" dirty="0">
                <a:solidFill>
                  <a:srgbClr val="007373"/>
                </a:solidFill>
              </a:rPr>
              <a:t> </a:t>
            </a:r>
            <a:r>
              <a:rPr sz="3200" spc="-25" dirty="0">
                <a:solidFill>
                  <a:srgbClr val="007373"/>
                </a:solidFill>
              </a:rPr>
              <a:t>The </a:t>
            </a:r>
            <a:r>
              <a:rPr sz="3200" dirty="0">
                <a:solidFill>
                  <a:srgbClr val="007373"/>
                </a:solidFill>
              </a:rPr>
              <a:t>Agile</a:t>
            </a:r>
            <a:r>
              <a:rPr sz="3200" spc="-55" dirty="0">
                <a:solidFill>
                  <a:srgbClr val="007373"/>
                </a:solidFill>
              </a:rPr>
              <a:t> </a:t>
            </a:r>
            <a:r>
              <a:rPr sz="3200" spc="-10" dirty="0">
                <a:solidFill>
                  <a:srgbClr val="007373"/>
                </a:solidFill>
              </a:rPr>
              <a:t>Process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0014" y="249174"/>
            <a:ext cx="8388083" cy="619886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61391" y="2348864"/>
            <a:ext cx="1903730" cy="0"/>
          </a:xfrm>
          <a:custGeom>
            <a:avLst/>
            <a:gdLst/>
            <a:ahLst/>
            <a:cxnLst/>
            <a:rect l="l" t="t" r="r" b="b"/>
            <a:pathLst>
              <a:path w="1903730">
                <a:moveTo>
                  <a:pt x="0" y="0"/>
                </a:moveTo>
                <a:lnTo>
                  <a:pt x="1903450" y="0"/>
                </a:lnTo>
              </a:path>
            </a:pathLst>
          </a:custGeom>
          <a:ln w="19050">
            <a:solidFill>
              <a:srgbClr val="007373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2022,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slide</a:t>
            </a:r>
            <a:r>
              <a:rPr kumimoji="0" sz="1000" b="0" i="0" u="none" strike="noStrike" kern="0" cap="none" spc="204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572" y="934262"/>
            <a:ext cx="10477508" cy="284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1827" y="1411986"/>
            <a:ext cx="3700271" cy="221284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671840" y="2531983"/>
            <a:ext cx="5509895" cy="3638550"/>
            <a:chOff x="1671840" y="2531983"/>
            <a:chExt cx="5509895" cy="363855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1840" y="3938778"/>
              <a:ext cx="3723119" cy="22311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74373" y="3665219"/>
              <a:ext cx="1802764" cy="1792605"/>
            </a:xfrm>
            <a:custGeom>
              <a:avLst/>
              <a:gdLst/>
              <a:ahLst/>
              <a:cxnLst/>
              <a:rect l="l" t="t" r="r" b="b"/>
              <a:pathLst>
                <a:path w="1802765" h="1792604">
                  <a:moveTo>
                    <a:pt x="1660499" y="908011"/>
                  </a:moveTo>
                  <a:lnTo>
                    <a:pt x="595426" y="908011"/>
                  </a:lnTo>
                  <a:lnTo>
                    <a:pt x="613029" y="613257"/>
                  </a:lnTo>
                  <a:lnTo>
                    <a:pt x="0" y="1229436"/>
                  </a:lnTo>
                  <a:lnTo>
                    <a:pt x="542632" y="1792236"/>
                  </a:lnTo>
                  <a:lnTo>
                    <a:pt x="560235" y="1497482"/>
                  </a:lnTo>
                  <a:lnTo>
                    <a:pt x="663168" y="1479537"/>
                  </a:lnTo>
                  <a:lnTo>
                    <a:pt x="762711" y="1457858"/>
                  </a:lnTo>
                  <a:lnTo>
                    <a:pt x="858685" y="1432610"/>
                  </a:lnTo>
                  <a:lnTo>
                    <a:pt x="950912" y="1403934"/>
                  </a:lnTo>
                  <a:lnTo>
                    <a:pt x="1039202" y="1371942"/>
                  </a:lnTo>
                  <a:lnTo>
                    <a:pt x="1123365" y="1336789"/>
                  </a:lnTo>
                  <a:lnTo>
                    <a:pt x="1203236" y="1298613"/>
                  </a:lnTo>
                  <a:lnTo>
                    <a:pt x="1278623" y="1257554"/>
                  </a:lnTo>
                  <a:lnTo>
                    <a:pt x="1349336" y="1213726"/>
                  </a:lnTo>
                  <a:lnTo>
                    <a:pt x="1415211" y="1167295"/>
                  </a:lnTo>
                  <a:lnTo>
                    <a:pt x="1476044" y="1118387"/>
                  </a:lnTo>
                  <a:lnTo>
                    <a:pt x="1531670" y="1067142"/>
                  </a:lnTo>
                  <a:lnTo>
                    <a:pt x="1581886" y="1013701"/>
                  </a:lnTo>
                  <a:lnTo>
                    <a:pt x="1626527" y="958189"/>
                  </a:lnTo>
                  <a:lnTo>
                    <a:pt x="1660499" y="908011"/>
                  </a:lnTo>
                  <a:close/>
                </a:path>
                <a:path w="1802765" h="1792604">
                  <a:moveTo>
                    <a:pt x="1802142" y="0"/>
                  </a:moveTo>
                  <a:lnTo>
                    <a:pt x="1794827" y="64998"/>
                  </a:lnTo>
                  <a:lnTo>
                    <a:pt x="1780832" y="128765"/>
                  </a:lnTo>
                  <a:lnTo>
                    <a:pt x="1760347" y="191160"/>
                  </a:lnTo>
                  <a:lnTo>
                    <a:pt x="1733537" y="252031"/>
                  </a:lnTo>
                  <a:lnTo>
                    <a:pt x="1700606" y="311264"/>
                  </a:lnTo>
                  <a:lnTo>
                    <a:pt x="1661731" y="368693"/>
                  </a:lnTo>
                  <a:lnTo>
                    <a:pt x="1617091" y="424205"/>
                  </a:lnTo>
                  <a:lnTo>
                    <a:pt x="1566875" y="477659"/>
                  </a:lnTo>
                  <a:lnTo>
                    <a:pt x="1511249" y="528904"/>
                  </a:lnTo>
                  <a:lnTo>
                    <a:pt x="1450416" y="577811"/>
                  </a:lnTo>
                  <a:lnTo>
                    <a:pt x="1384541" y="624243"/>
                  </a:lnTo>
                  <a:lnTo>
                    <a:pt x="1313827" y="668058"/>
                  </a:lnTo>
                  <a:lnTo>
                    <a:pt x="1238440" y="709129"/>
                  </a:lnTo>
                  <a:lnTo>
                    <a:pt x="1158570" y="747306"/>
                  </a:lnTo>
                  <a:lnTo>
                    <a:pt x="1074407" y="782459"/>
                  </a:lnTo>
                  <a:lnTo>
                    <a:pt x="986116" y="814438"/>
                  </a:lnTo>
                  <a:lnTo>
                    <a:pt x="893889" y="843127"/>
                  </a:lnTo>
                  <a:lnTo>
                    <a:pt x="797915" y="868375"/>
                  </a:lnTo>
                  <a:lnTo>
                    <a:pt x="698373" y="890041"/>
                  </a:lnTo>
                  <a:lnTo>
                    <a:pt x="595439" y="907999"/>
                  </a:lnTo>
                  <a:lnTo>
                    <a:pt x="1660499" y="907999"/>
                  </a:lnTo>
                  <a:lnTo>
                    <a:pt x="1698345" y="841514"/>
                  </a:lnTo>
                  <a:lnTo>
                    <a:pt x="1725142" y="780643"/>
                  </a:lnTo>
                  <a:lnTo>
                    <a:pt x="1745640" y="718248"/>
                  </a:lnTo>
                  <a:lnTo>
                    <a:pt x="1759635" y="654481"/>
                  </a:lnTo>
                  <a:lnTo>
                    <a:pt x="1766951" y="589483"/>
                  </a:lnTo>
                  <a:lnTo>
                    <a:pt x="1802142" y="0"/>
                  </a:lnTo>
                  <a:close/>
                </a:path>
              </a:pathLst>
            </a:custGeom>
            <a:solidFill>
              <a:srgbClr val="C6E6E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480301" y="2536698"/>
              <a:ext cx="1696720" cy="1419860"/>
            </a:xfrm>
            <a:custGeom>
              <a:avLst/>
              <a:gdLst/>
              <a:ahLst/>
              <a:cxnLst/>
              <a:rect l="l" t="t" r="r" b="b"/>
              <a:pathLst>
                <a:path w="1696720" h="1419860">
                  <a:moveTo>
                    <a:pt x="35191" y="0"/>
                  </a:moveTo>
                  <a:lnTo>
                    <a:pt x="0" y="589648"/>
                  </a:lnTo>
                  <a:lnTo>
                    <a:pt x="113411" y="598271"/>
                  </a:lnTo>
                  <a:lnTo>
                    <a:pt x="224942" y="611162"/>
                  </a:lnTo>
                  <a:lnTo>
                    <a:pt x="334302" y="628205"/>
                  </a:lnTo>
                  <a:lnTo>
                    <a:pt x="441248" y="649262"/>
                  </a:lnTo>
                  <a:lnTo>
                    <a:pt x="545515" y="674192"/>
                  </a:lnTo>
                  <a:lnTo>
                    <a:pt x="646823" y="702856"/>
                  </a:lnTo>
                  <a:lnTo>
                    <a:pt x="744918" y="735114"/>
                  </a:lnTo>
                  <a:lnTo>
                    <a:pt x="839533" y="770839"/>
                  </a:lnTo>
                  <a:lnTo>
                    <a:pt x="930402" y="809879"/>
                  </a:lnTo>
                  <a:lnTo>
                    <a:pt x="1017244" y="852119"/>
                  </a:lnTo>
                  <a:lnTo>
                    <a:pt x="1099832" y="897394"/>
                  </a:lnTo>
                  <a:lnTo>
                    <a:pt x="1177861" y="945591"/>
                  </a:lnTo>
                  <a:lnTo>
                    <a:pt x="1251089" y="996569"/>
                  </a:lnTo>
                  <a:lnTo>
                    <a:pt x="1319250" y="1050175"/>
                  </a:lnTo>
                  <a:lnTo>
                    <a:pt x="1382064" y="1106297"/>
                  </a:lnTo>
                  <a:lnTo>
                    <a:pt x="1439278" y="1164767"/>
                  </a:lnTo>
                  <a:lnTo>
                    <a:pt x="1490624" y="1225473"/>
                  </a:lnTo>
                  <a:lnTo>
                    <a:pt x="1535836" y="1288275"/>
                  </a:lnTo>
                  <a:lnTo>
                    <a:pt x="1574660" y="1353032"/>
                  </a:lnTo>
                  <a:lnTo>
                    <a:pt x="1606816" y="1419606"/>
                  </a:lnTo>
                  <a:lnTo>
                    <a:pt x="1614639" y="1405623"/>
                  </a:lnTo>
                  <a:lnTo>
                    <a:pt x="1636014" y="1363243"/>
                  </a:lnTo>
                  <a:lnTo>
                    <a:pt x="1654238" y="1320266"/>
                  </a:lnTo>
                  <a:lnTo>
                    <a:pt x="1669275" y="1276781"/>
                  </a:lnTo>
                  <a:lnTo>
                    <a:pt x="1681124" y="1232827"/>
                  </a:lnTo>
                  <a:lnTo>
                    <a:pt x="1689747" y="1188478"/>
                  </a:lnTo>
                  <a:lnTo>
                    <a:pt x="1695145" y="1143787"/>
                  </a:lnTo>
                  <a:lnTo>
                    <a:pt x="1696212" y="1128826"/>
                  </a:lnTo>
                  <a:lnTo>
                    <a:pt x="1695551" y="1043863"/>
                  </a:lnTo>
                  <a:lnTo>
                    <a:pt x="1683651" y="960170"/>
                  </a:lnTo>
                  <a:lnTo>
                    <a:pt x="1660944" y="878027"/>
                  </a:lnTo>
                  <a:lnTo>
                    <a:pt x="1627860" y="797725"/>
                  </a:lnTo>
                  <a:lnTo>
                    <a:pt x="1584820" y="719543"/>
                  </a:lnTo>
                  <a:lnTo>
                    <a:pt x="1532242" y="643788"/>
                  </a:lnTo>
                  <a:lnTo>
                    <a:pt x="1470571" y="570738"/>
                  </a:lnTo>
                  <a:lnTo>
                    <a:pt x="1400225" y="500697"/>
                  </a:lnTo>
                  <a:lnTo>
                    <a:pt x="1321625" y="433946"/>
                  </a:lnTo>
                  <a:lnTo>
                    <a:pt x="1235214" y="370776"/>
                  </a:lnTo>
                  <a:lnTo>
                    <a:pt x="1141425" y="311480"/>
                  </a:lnTo>
                  <a:lnTo>
                    <a:pt x="1040663" y="256336"/>
                  </a:lnTo>
                  <a:lnTo>
                    <a:pt x="933361" y="205663"/>
                  </a:lnTo>
                  <a:lnTo>
                    <a:pt x="819950" y="159727"/>
                  </a:lnTo>
                  <a:lnTo>
                    <a:pt x="700862" y="118821"/>
                  </a:lnTo>
                  <a:lnTo>
                    <a:pt x="576529" y="83248"/>
                  </a:lnTo>
                  <a:lnTo>
                    <a:pt x="447370" y="53289"/>
                  </a:lnTo>
                  <a:lnTo>
                    <a:pt x="313804" y="29222"/>
                  </a:lnTo>
                  <a:lnTo>
                    <a:pt x="176263" y="11366"/>
                  </a:lnTo>
                  <a:lnTo>
                    <a:pt x="35191" y="0"/>
                  </a:lnTo>
                  <a:close/>
                </a:path>
              </a:pathLst>
            </a:custGeom>
            <a:solidFill>
              <a:srgbClr val="A6C1C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374387" y="2536695"/>
              <a:ext cx="1802130" cy="2921000"/>
            </a:xfrm>
            <a:custGeom>
              <a:avLst/>
              <a:gdLst/>
              <a:ahLst/>
              <a:cxnLst/>
              <a:rect l="l" t="t" r="r" b="b"/>
              <a:pathLst>
                <a:path w="1802129" h="2921000">
                  <a:moveTo>
                    <a:pt x="1712709" y="1419212"/>
                  </a:moveTo>
                  <a:lnTo>
                    <a:pt x="1680552" y="1352664"/>
                  </a:lnTo>
                  <a:lnTo>
                    <a:pt x="1641729" y="1287919"/>
                  </a:lnTo>
                  <a:lnTo>
                    <a:pt x="1596504" y="1225143"/>
                  </a:lnTo>
                  <a:lnTo>
                    <a:pt x="1545145" y="1164450"/>
                  </a:lnTo>
                  <a:lnTo>
                    <a:pt x="1487919" y="1105979"/>
                  </a:lnTo>
                  <a:lnTo>
                    <a:pt x="1425092" y="1049883"/>
                  </a:lnTo>
                  <a:lnTo>
                    <a:pt x="1356918" y="996289"/>
                  </a:lnTo>
                  <a:lnTo>
                    <a:pt x="1283677" y="945337"/>
                  </a:lnTo>
                  <a:lnTo>
                    <a:pt x="1205623" y="897153"/>
                  </a:lnTo>
                  <a:lnTo>
                    <a:pt x="1123035" y="851877"/>
                  </a:lnTo>
                  <a:lnTo>
                    <a:pt x="1036167" y="809663"/>
                  </a:lnTo>
                  <a:lnTo>
                    <a:pt x="945286" y="770623"/>
                  </a:lnTo>
                  <a:lnTo>
                    <a:pt x="850646" y="734910"/>
                  </a:lnTo>
                  <a:lnTo>
                    <a:pt x="752538" y="702665"/>
                  </a:lnTo>
                  <a:lnTo>
                    <a:pt x="651205" y="674001"/>
                  </a:lnTo>
                  <a:lnTo>
                    <a:pt x="546925" y="649084"/>
                  </a:lnTo>
                  <a:lnTo>
                    <a:pt x="439966" y="628040"/>
                  </a:lnTo>
                  <a:lnTo>
                    <a:pt x="330568" y="610996"/>
                  </a:lnTo>
                  <a:lnTo>
                    <a:pt x="219024" y="598106"/>
                  </a:lnTo>
                  <a:lnTo>
                    <a:pt x="105587" y="589483"/>
                  </a:lnTo>
                  <a:lnTo>
                    <a:pt x="140792" y="0"/>
                  </a:lnTo>
                  <a:lnTo>
                    <a:pt x="281889" y="11366"/>
                  </a:lnTo>
                  <a:lnTo>
                    <a:pt x="419455" y="29222"/>
                  </a:lnTo>
                  <a:lnTo>
                    <a:pt x="553034" y="53263"/>
                  </a:lnTo>
                  <a:lnTo>
                    <a:pt x="682231" y="83223"/>
                  </a:lnTo>
                  <a:lnTo>
                    <a:pt x="806589" y="118795"/>
                  </a:lnTo>
                  <a:lnTo>
                    <a:pt x="925703" y="159677"/>
                  </a:lnTo>
                  <a:lnTo>
                    <a:pt x="1039126" y="205600"/>
                  </a:lnTo>
                  <a:lnTo>
                    <a:pt x="1146441" y="256273"/>
                  </a:lnTo>
                  <a:lnTo>
                    <a:pt x="1247228" y="311391"/>
                  </a:lnTo>
                  <a:lnTo>
                    <a:pt x="1341043" y="370674"/>
                  </a:lnTo>
                  <a:lnTo>
                    <a:pt x="1427467" y="433831"/>
                  </a:lnTo>
                  <a:lnTo>
                    <a:pt x="1506080" y="500557"/>
                  </a:lnTo>
                  <a:lnTo>
                    <a:pt x="1576438" y="570585"/>
                  </a:lnTo>
                  <a:lnTo>
                    <a:pt x="1638122" y="643610"/>
                  </a:lnTo>
                  <a:lnTo>
                    <a:pt x="1690712" y="719353"/>
                  </a:lnTo>
                  <a:lnTo>
                    <a:pt x="1733765" y="797509"/>
                  </a:lnTo>
                  <a:lnTo>
                    <a:pt x="1766862" y="877785"/>
                  </a:lnTo>
                  <a:lnTo>
                    <a:pt x="1789569" y="959904"/>
                  </a:lnTo>
                  <a:lnTo>
                    <a:pt x="1801469" y="1043584"/>
                  </a:lnTo>
                  <a:lnTo>
                    <a:pt x="1802130" y="1128509"/>
                  </a:lnTo>
                  <a:lnTo>
                    <a:pt x="1766925" y="1717992"/>
                  </a:lnTo>
                  <a:lnTo>
                    <a:pt x="1759610" y="1783003"/>
                  </a:lnTo>
                  <a:lnTo>
                    <a:pt x="1745627" y="1846757"/>
                  </a:lnTo>
                  <a:lnTo>
                    <a:pt x="1725129" y="1909152"/>
                  </a:lnTo>
                  <a:lnTo>
                    <a:pt x="1698332" y="1970024"/>
                  </a:lnTo>
                  <a:lnTo>
                    <a:pt x="1665401" y="2029256"/>
                  </a:lnTo>
                  <a:lnTo>
                    <a:pt x="1626527" y="2086698"/>
                  </a:lnTo>
                  <a:lnTo>
                    <a:pt x="1581886" y="2142210"/>
                  </a:lnTo>
                  <a:lnTo>
                    <a:pt x="1531658" y="2195652"/>
                  </a:lnTo>
                  <a:lnTo>
                    <a:pt x="1476044" y="2246896"/>
                  </a:lnTo>
                  <a:lnTo>
                    <a:pt x="1415199" y="2295804"/>
                  </a:lnTo>
                  <a:lnTo>
                    <a:pt x="1349336" y="2342248"/>
                  </a:lnTo>
                  <a:lnTo>
                    <a:pt x="1278610" y="2386063"/>
                  </a:lnTo>
                  <a:lnTo>
                    <a:pt x="1203236" y="2427122"/>
                  </a:lnTo>
                  <a:lnTo>
                    <a:pt x="1123365" y="2465311"/>
                  </a:lnTo>
                  <a:lnTo>
                    <a:pt x="1039190" y="2500452"/>
                  </a:lnTo>
                  <a:lnTo>
                    <a:pt x="950899" y="2532443"/>
                  </a:lnTo>
                  <a:lnTo>
                    <a:pt x="858685" y="2561132"/>
                  </a:lnTo>
                  <a:lnTo>
                    <a:pt x="762711" y="2586380"/>
                  </a:lnTo>
                  <a:lnTo>
                    <a:pt x="663155" y="2608046"/>
                  </a:lnTo>
                  <a:lnTo>
                    <a:pt x="560235" y="2626004"/>
                  </a:lnTo>
                  <a:lnTo>
                    <a:pt x="542632" y="2920746"/>
                  </a:lnTo>
                  <a:lnTo>
                    <a:pt x="0" y="2357958"/>
                  </a:lnTo>
                  <a:lnTo>
                    <a:pt x="613029" y="1741766"/>
                  </a:lnTo>
                  <a:lnTo>
                    <a:pt x="595426" y="2036508"/>
                  </a:lnTo>
                  <a:lnTo>
                    <a:pt x="698360" y="2018563"/>
                  </a:lnTo>
                  <a:lnTo>
                    <a:pt x="797902" y="1996897"/>
                  </a:lnTo>
                  <a:lnTo>
                    <a:pt x="893876" y="1971649"/>
                  </a:lnTo>
                  <a:lnTo>
                    <a:pt x="986104" y="1942960"/>
                  </a:lnTo>
                  <a:lnTo>
                    <a:pt x="1074394" y="1910969"/>
                  </a:lnTo>
                  <a:lnTo>
                    <a:pt x="1158557" y="1875828"/>
                  </a:lnTo>
                  <a:lnTo>
                    <a:pt x="1238427" y="1837639"/>
                  </a:lnTo>
                  <a:lnTo>
                    <a:pt x="1313815" y="1796580"/>
                  </a:lnTo>
                  <a:lnTo>
                    <a:pt x="1384528" y="1752752"/>
                  </a:lnTo>
                  <a:lnTo>
                    <a:pt x="1450403" y="1706321"/>
                  </a:lnTo>
                  <a:lnTo>
                    <a:pt x="1511236" y="1657413"/>
                  </a:lnTo>
                  <a:lnTo>
                    <a:pt x="1566849" y="1606169"/>
                  </a:lnTo>
                  <a:lnTo>
                    <a:pt x="1617078" y="1552727"/>
                  </a:lnTo>
                  <a:lnTo>
                    <a:pt x="1661718" y="1497215"/>
                  </a:lnTo>
                  <a:lnTo>
                    <a:pt x="1700593" y="1439773"/>
                  </a:lnTo>
                  <a:lnTo>
                    <a:pt x="1733524" y="1380540"/>
                  </a:lnTo>
                  <a:lnTo>
                    <a:pt x="1760334" y="1319669"/>
                  </a:lnTo>
                  <a:lnTo>
                    <a:pt x="1780819" y="1257274"/>
                  </a:lnTo>
                  <a:lnTo>
                    <a:pt x="1794814" y="1193507"/>
                  </a:lnTo>
                  <a:lnTo>
                    <a:pt x="1802130" y="1128509"/>
                  </a:lnTo>
                </a:path>
              </a:pathLst>
            </a:custGeom>
            <a:ln w="9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28223" y="1550395"/>
            <a:ext cx="2853055" cy="12630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lvl="0" indent="0" algn="just" defTabSz="914400" eaLnBrk="1" fontAlgn="auto" latinLnBrk="0" hangingPunct="1">
              <a:lnSpc>
                <a:spcPct val="102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Acceptance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criteria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written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 of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card.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basis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test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cases.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8223" y="4409859"/>
            <a:ext cx="3199765" cy="12630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2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Passing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test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cases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aren’t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enough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indicate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acceptance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Owner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accept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92311" y="3540252"/>
            <a:ext cx="745235" cy="799337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150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Scope</a:t>
            </a:r>
            <a:r>
              <a:rPr sz="4400" spc="-95" dirty="0"/>
              <a:t> </a:t>
            </a:r>
            <a:r>
              <a:rPr sz="4400" spc="-30" dirty="0"/>
              <a:t>Verification</a:t>
            </a:r>
            <a:r>
              <a:rPr sz="4400" spc="-70" dirty="0"/>
              <a:t> </a:t>
            </a:r>
            <a:r>
              <a:rPr sz="4400" dirty="0"/>
              <a:t>–</a:t>
            </a:r>
            <a:r>
              <a:rPr sz="4400" spc="-110" dirty="0"/>
              <a:t> </a:t>
            </a:r>
            <a:r>
              <a:rPr sz="4400" dirty="0"/>
              <a:t>Via</a:t>
            </a:r>
            <a:r>
              <a:rPr sz="4400" spc="-95" dirty="0"/>
              <a:t> </a:t>
            </a:r>
            <a:r>
              <a:rPr sz="4400" dirty="0"/>
              <a:t>Story</a:t>
            </a:r>
            <a:r>
              <a:rPr sz="4400" spc="-100" dirty="0"/>
              <a:t> </a:t>
            </a:r>
            <a:r>
              <a:rPr sz="4400" spc="-10" dirty="0"/>
              <a:t>Cards</a:t>
            </a:r>
            <a:endParaRPr sz="44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2022,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slide</a:t>
            </a:r>
            <a:r>
              <a:rPr kumimoji="0" sz="1000" b="0" i="0" u="none" strike="noStrike" kern="0" cap="none" spc="204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815" y="976998"/>
            <a:ext cx="11172441" cy="640079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06464" y="970649"/>
          <a:ext cx="11185525" cy="4902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286385" marR="127635" indent="-1511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Capabilities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Delivered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Epics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 marR="236220" indent="531495">
                        <a:lnSpc>
                          <a:spcPts val="232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Delivered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Releases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860" marR="396240" indent="531495">
                        <a:lnSpc>
                          <a:spcPts val="232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Stories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Delivered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Sprints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8870" marR="1109980" indent="580390">
                        <a:lnSpc>
                          <a:spcPts val="232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Scenarios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Explored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during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Sprints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3880">
                <a:tc>
                  <a:txBody>
                    <a:bodyPr/>
                    <a:lstStyle/>
                    <a:p>
                      <a:pPr marL="45720" marR="9461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Capture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start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enrollment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4C4BB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10033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Allow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 Profile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45720" marR="68707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Allow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Maintain</a:t>
                      </a:r>
                      <a:r>
                        <a:rPr sz="1600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6B8A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508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 User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want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enter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my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Information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start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enrollment application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720" marR="7937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want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privacy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settings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my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45720" marR="7874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want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choose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enroll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C9E95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40005">
                        <a:lnSpc>
                          <a:spcPts val="151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who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unfamiliar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guided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5720" marR="528320">
                        <a:lnSpc>
                          <a:spcPts val="151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logs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into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their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</a:t>
                      </a:r>
                      <a:r>
                        <a:rPr sz="1400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5720" marR="40005">
                        <a:lnSpc>
                          <a:spcPts val="1510"/>
                        </a:lnSpc>
                        <a:spcBef>
                          <a:spcPts val="409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who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unfamiliar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guided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5720" marR="93345">
                        <a:lnSpc>
                          <a:spcPts val="151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student,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who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familiar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how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works,</a:t>
                      </a:r>
                      <a:r>
                        <a:rPr sz="14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rapid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way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changing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privacy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settings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5720" marR="40005">
                        <a:lnSpc>
                          <a:spcPts val="151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who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unfamiliar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guided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walkthrough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courses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open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them,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one,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then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register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5720" marR="401955">
                        <a:lnSpc>
                          <a:spcPts val="1510"/>
                        </a:lnSpc>
                        <a:spcBef>
                          <a:spcPts val="409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student,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who</a:t>
                      </a:r>
                      <a:r>
                        <a:rPr sz="14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familiar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system,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shortcuts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selection,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course registration.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F7D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9510">
                <a:tc>
                  <a:txBody>
                    <a:bodyPr/>
                    <a:lstStyle/>
                    <a:p>
                      <a:pPr marL="45720" marR="62230" algn="just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Capabilities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spaced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across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multiple releases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4C4BB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17335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delivered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Release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6B8A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35115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Stories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delivered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Sprint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(or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broken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down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into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lower-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backlog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items)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C9E95"/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259079">
                        <a:lnSpc>
                          <a:spcPts val="1540"/>
                        </a:lnSpc>
                        <a:spcBef>
                          <a:spcPts val="2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Scenarios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delivered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Sprint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(these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lower-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backlog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items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that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use-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case)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F7D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9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14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Elaboration</a:t>
            </a:r>
            <a:r>
              <a:rPr spc="-10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-10" dirty="0"/>
              <a:t>Decomposition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5501" y="6604373"/>
            <a:ext cx="89903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Adapted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:</a:t>
            </a:r>
            <a:r>
              <a:rPr kumimoji="0" sz="1100" b="0" i="0" u="none" strike="noStrike" kern="0" cap="none" spc="2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“Agile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Requirements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Decomposition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‒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Epic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Mapping,”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Rick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Austin,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Duluth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Georgia,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</a:rPr>
              <a:t> Coach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48525" y="6677659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26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513" y="-86388"/>
            <a:ext cx="11378565" cy="147828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pc="-30" dirty="0"/>
              <a:t>Requirements</a:t>
            </a:r>
            <a:r>
              <a:rPr spc="-130" dirty="0"/>
              <a:t> </a:t>
            </a:r>
            <a:r>
              <a:rPr spc="-20" dirty="0"/>
              <a:t>Estimating</a:t>
            </a:r>
            <a:r>
              <a:rPr spc="-120" dirty="0"/>
              <a:t> </a:t>
            </a:r>
            <a:r>
              <a:rPr dirty="0"/>
              <a:t>Using</a:t>
            </a:r>
            <a:r>
              <a:rPr spc="-120" dirty="0"/>
              <a:t> </a:t>
            </a:r>
            <a:r>
              <a:rPr dirty="0"/>
              <a:t>the</a:t>
            </a:r>
            <a:r>
              <a:rPr spc="-120" dirty="0"/>
              <a:t> </a:t>
            </a:r>
            <a:r>
              <a:rPr dirty="0"/>
              <a:t>Cone</a:t>
            </a:r>
            <a:r>
              <a:rPr spc="-12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Uncertainty</a:t>
            </a:r>
          </a:p>
          <a:p>
            <a:pPr marL="21590" marR="5080" indent="-635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solidFill>
                  <a:srgbClr val="007373"/>
                </a:solidFill>
                <a:latin typeface="Calibri"/>
                <a:cs typeface="Calibri"/>
              </a:rPr>
              <a:t>Rolling-</a:t>
            </a:r>
            <a:r>
              <a:rPr sz="1800" b="1" dirty="0">
                <a:solidFill>
                  <a:srgbClr val="007373"/>
                </a:solidFill>
                <a:latin typeface="Calibri"/>
                <a:cs typeface="Calibri"/>
              </a:rPr>
              <a:t>wave</a:t>
            </a:r>
            <a:r>
              <a:rPr sz="1800" b="1" spc="-5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373"/>
                </a:solidFill>
                <a:latin typeface="Calibri"/>
                <a:cs typeface="Calibri"/>
              </a:rPr>
              <a:t>planning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:</a:t>
            </a:r>
            <a:r>
              <a:rPr sz="1800" b="0" spc="-3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we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decompose</a:t>
            </a:r>
            <a:r>
              <a:rPr sz="1800" b="0" spc="-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near-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term</a:t>
            </a:r>
            <a:r>
              <a:rPr sz="1800" b="0" spc="-2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activities</a:t>
            </a:r>
            <a:r>
              <a:rPr sz="1800" b="0" spc="-2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down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to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the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detail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needed</a:t>
            </a:r>
            <a:r>
              <a:rPr sz="1800" b="0" spc="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to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develop those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features,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but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spc="-20" dirty="0">
                <a:solidFill>
                  <a:srgbClr val="007373"/>
                </a:solidFill>
                <a:latin typeface="Calibri"/>
                <a:cs typeface="Calibri"/>
              </a:rPr>
              <a:t>only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plan</a:t>
            </a:r>
            <a:r>
              <a:rPr sz="1800" b="0" spc="-2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for</a:t>
            </a:r>
            <a:r>
              <a:rPr sz="1800" b="0" spc="-2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future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activities</a:t>
            </a:r>
            <a:r>
              <a:rPr sz="1800" b="0" spc="-2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at</a:t>
            </a:r>
            <a:r>
              <a:rPr sz="1800" b="0" spc="-2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a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i="1" dirty="0">
                <a:solidFill>
                  <a:srgbClr val="007373"/>
                </a:solidFill>
                <a:latin typeface="Calibri"/>
                <a:cs typeface="Calibri"/>
              </a:rPr>
              <a:t>high</a:t>
            </a:r>
            <a:r>
              <a:rPr sz="1800" b="0" i="1" spc="-2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i="1" dirty="0">
                <a:solidFill>
                  <a:srgbClr val="007373"/>
                </a:solidFill>
                <a:latin typeface="Calibri"/>
                <a:cs typeface="Calibri"/>
              </a:rPr>
              <a:t>level</a:t>
            </a:r>
            <a:r>
              <a:rPr sz="1800" b="0" i="1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(as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we</a:t>
            </a:r>
            <a:r>
              <a:rPr sz="1800" b="0" spc="-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may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change</a:t>
            </a:r>
            <a:r>
              <a:rPr sz="1800" b="0" spc="-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direction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in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the</a:t>
            </a:r>
            <a:r>
              <a:rPr sz="1800" b="0" spc="-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meantime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and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never</a:t>
            </a:r>
            <a:r>
              <a:rPr sz="1800" b="0" spc="-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implement</a:t>
            </a:r>
            <a:r>
              <a:rPr sz="1800" b="0" spc="-15" dirty="0">
                <a:solidFill>
                  <a:srgbClr val="007373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007373"/>
                </a:solidFill>
                <a:latin typeface="Calibri"/>
                <a:cs typeface="Calibri"/>
              </a:rPr>
              <a:t>these </a:t>
            </a:r>
            <a:r>
              <a:rPr sz="1800" b="0" spc="-10" dirty="0">
                <a:solidFill>
                  <a:srgbClr val="007373"/>
                </a:solidFill>
                <a:latin typeface="Calibri"/>
                <a:cs typeface="Calibri"/>
              </a:rPr>
              <a:t>features)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75000"/>
              <a:buFont typeface="Wingdings 3"/>
              <a:buChar char=""/>
              <a:tabLst>
                <a:tab pos="297815" algn="l"/>
                <a:tab pos="298450" algn="l"/>
              </a:tabLst>
            </a:pPr>
            <a:r>
              <a:rPr dirty="0"/>
              <a:t>Epics</a:t>
            </a:r>
            <a:r>
              <a:rPr spc="-3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Capabilities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Features</a:t>
            </a:r>
            <a:r>
              <a:rPr spc="-15" dirty="0"/>
              <a:t> </a:t>
            </a:r>
            <a:r>
              <a:rPr dirty="0"/>
              <a:t>they</a:t>
            </a:r>
            <a:r>
              <a:rPr spc="-5" dirty="0"/>
              <a:t> </a:t>
            </a:r>
            <a:r>
              <a:rPr spc="-10" dirty="0"/>
              <a:t>contain </a:t>
            </a:r>
            <a:r>
              <a:rPr dirty="0"/>
              <a:t>are</a:t>
            </a:r>
            <a:r>
              <a:rPr spc="-25" dirty="0"/>
              <a:t> </a:t>
            </a:r>
            <a:r>
              <a:rPr i="1" dirty="0">
                <a:latin typeface="Calibri"/>
                <a:cs typeface="Calibri"/>
              </a:rPr>
              <a:t>big</a:t>
            </a:r>
            <a:r>
              <a:rPr i="1" spc="-1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ideas</a:t>
            </a:r>
            <a:r>
              <a:rPr i="1" spc="-10" dirty="0">
                <a:latin typeface="Calibri"/>
                <a:cs typeface="Calibri"/>
              </a:rPr>
              <a:t> </a:t>
            </a:r>
            <a:r>
              <a:rPr dirty="0"/>
              <a:t>but</a:t>
            </a:r>
            <a:r>
              <a:rPr spc="-5" dirty="0"/>
              <a:t> </a:t>
            </a:r>
            <a:r>
              <a:rPr dirty="0"/>
              <a:t>there</a:t>
            </a:r>
            <a:r>
              <a:rPr spc="-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usually</a:t>
            </a:r>
            <a:r>
              <a:rPr spc="-15" dirty="0"/>
              <a:t> </a:t>
            </a:r>
            <a:r>
              <a:rPr dirty="0"/>
              <a:t>enough</a:t>
            </a:r>
            <a:r>
              <a:rPr spc="15" dirty="0"/>
              <a:t> </a:t>
            </a:r>
            <a:r>
              <a:rPr spc="-10" dirty="0"/>
              <a:t>understanding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get</a:t>
            </a:r>
            <a:r>
              <a:rPr spc="-10" dirty="0"/>
              <a:t> </a:t>
            </a:r>
            <a:r>
              <a:rPr dirty="0"/>
              <a:t>some</a:t>
            </a:r>
            <a:r>
              <a:rPr spc="-15" dirty="0"/>
              <a:t> </a:t>
            </a:r>
            <a:r>
              <a:rPr i="1" dirty="0">
                <a:latin typeface="Calibri"/>
                <a:cs typeface="Calibri"/>
              </a:rPr>
              <a:t>Rough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Order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of</a:t>
            </a:r>
            <a:r>
              <a:rPr i="1" spc="-2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Magnitude</a:t>
            </a:r>
            <a:r>
              <a:rPr i="1" spc="-10" dirty="0">
                <a:latin typeface="Calibri"/>
                <a:cs typeface="Calibri"/>
              </a:rPr>
              <a:t> </a:t>
            </a:r>
            <a:r>
              <a:rPr spc="-10" dirty="0"/>
              <a:t>estimate</a:t>
            </a:r>
          </a:p>
          <a:p>
            <a:pPr marL="298450" marR="639445" indent="-285750" algn="just">
              <a:lnSpc>
                <a:spcPct val="99000"/>
              </a:lnSpc>
              <a:spcBef>
                <a:spcPts val="595"/>
              </a:spcBef>
              <a:buClr>
                <a:srgbClr val="009999"/>
              </a:buClr>
              <a:buSzPct val="75000"/>
              <a:buFont typeface="Wingdings 3"/>
              <a:buChar char=""/>
              <a:tabLst>
                <a:tab pos="298450" algn="l"/>
              </a:tabLst>
            </a:pPr>
            <a:r>
              <a:rPr dirty="0"/>
              <a:t>User</a:t>
            </a:r>
            <a:r>
              <a:rPr spc="-30" dirty="0"/>
              <a:t> </a:t>
            </a:r>
            <a:r>
              <a:rPr dirty="0"/>
              <a:t>Stories</a:t>
            </a:r>
            <a:r>
              <a:rPr spc="-25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created</a:t>
            </a:r>
            <a:r>
              <a:rPr spc="-1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refined</a:t>
            </a:r>
            <a:r>
              <a:rPr spc="-5" dirty="0"/>
              <a:t> </a:t>
            </a:r>
            <a:r>
              <a:rPr spc="-20" dirty="0"/>
              <a:t>from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Features</a:t>
            </a:r>
            <a:r>
              <a:rPr spc="-3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enough</a:t>
            </a:r>
            <a:r>
              <a:rPr spc="-15" dirty="0"/>
              <a:t> </a:t>
            </a:r>
            <a:r>
              <a:rPr dirty="0"/>
              <a:t>details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i="1" spc="-10" dirty="0">
                <a:latin typeface="Calibri"/>
                <a:cs typeface="Calibri"/>
              </a:rPr>
              <a:t>relative </a:t>
            </a:r>
            <a:r>
              <a:rPr dirty="0"/>
              <a:t>sizing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i="1" dirty="0">
                <a:latin typeface="Calibri"/>
                <a:cs typeface="Calibri"/>
              </a:rPr>
              <a:t>chunks</a:t>
            </a:r>
            <a:r>
              <a:rPr i="1" spc="-5" dirty="0">
                <a:latin typeface="Calibri"/>
                <a:cs typeface="Calibri"/>
              </a:rPr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0" dirty="0"/>
              <a:t>hours</a:t>
            </a:r>
          </a:p>
          <a:p>
            <a:pPr marL="298450" marR="453390" indent="-285750">
              <a:lnSpc>
                <a:spcPts val="2140"/>
              </a:lnSpc>
              <a:spcBef>
                <a:spcPts val="670"/>
              </a:spcBef>
              <a:buClr>
                <a:srgbClr val="009999"/>
              </a:buClr>
              <a:buSzPct val="75000"/>
              <a:buFont typeface="Wingdings 3"/>
              <a:buChar char=""/>
              <a:tabLst>
                <a:tab pos="297815" algn="l"/>
                <a:tab pos="298450" algn="l"/>
              </a:tabLst>
            </a:pPr>
            <a:r>
              <a:rPr dirty="0"/>
              <a:t>Development</a:t>
            </a:r>
            <a:r>
              <a:rPr spc="-20" dirty="0"/>
              <a:t> </a:t>
            </a:r>
            <a:r>
              <a:rPr spc="-25" dirty="0"/>
              <a:t>Tasks</a:t>
            </a:r>
            <a:r>
              <a:rPr spc="-55" dirty="0"/>
              <a:t> </a:t>
            </a:r>
            <a:r>
              <a:rPr dirty="0"/>
              <a:t>created</a:t>
            </a:r>
            <a:r>
              <a:rPr spc="-30" dirty="0"/>
              <a:t> </a:t>
            </a:r>
            <a:r>
              <a:rPr dirty="0"/>
              <a:t>at</a:t>
            </a:r>
            <a:r>
              <a:rPr spc="-4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planning </a:t>
            </a:r>
            <a:r>
              <a:rPr dirty="0"/>
              <a:t>session</a:t>
            </a:r>
            <a:r>
              <a:rPr spc="-45" dirty="0"/>
              <a:t> </a:t>
            </a:r>
            <a:r>
              <a:rPr dirty="0"/>
              <a:t>before</a:t>
            </a:r>
            <a:r>
              <a:rPr spc="-35" dirty="0"/>
              <a:t> </a:t>
            </a:r>
            <a:r>
              <a:rPr dirty="0"/>
              <a:t>cycle</a:t>
            </a:r>
            <a:r>
              <a:rPr spc="-35" dirty="0"/>
              <a:t> </a:t>
            </a:r>
            <a:r>
              <a:rPr dirty="0"/>
              <a:t>build</a:t>
            </a:r>
            <a:r>
              <a:rPr spc="-40" dirty="0"/>
              <a:t> </a:t>
            </a:r>
            <a:r>
              <a:rPr dirty="0"/>
              <a:t>(development)</a:t>
            </a:r>
            <a:r>
              <a:rPr spc="-10" dirty="0"/>
              <a:t> </a:t>
            </a:r>
            <a:r>
              <a:rPr dirty="0"/>
              <a:t>starts</a:t>
            </a:r>
            <a:r>
              <a:rPr spc="-50" dirty="0"/>
              <a:t> </a:t>
            </a:r>
            <a:r>
              <a:rPr spc="-25" dirty="0"/>
              <a:t>can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estimates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much</a:t>
            </a:r>
            <a:r>
              <a:rPr spc="-10" dirty="0"/>
              <a:t> </a:t>
            </a:r>
            <a:r>
              <a:rPr dirty="0"/>
              <a:t>finer</a:t>
            </a:r>
            <a:r>
              <a:rPr spc="-20" dirty="0"/>
              <a:t> </a:t>
            </a:r>
            <a:r>
              <a:rPr dirty="0"/>
              <a:t>accuracy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precision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7835" y="1808226"/>
            <a:ext cx="5193791" cy="34495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18326" y="2183994"/>
            <a:ext cx="3708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Epic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768" y="2470554"/>
            <a:ext cx="875030" cy="5283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1484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75582" y="2957740"/>
            <a:ext cx="368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8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Task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17675" y="4580125"/>
            <a:ext cx="2491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Cone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34001"/>
                </a:solidFill>
                <a:effectLst/>
                <a:uLnTx/>
                <a:uFillTx/>
                <a:latin typeface="Arial"/>
                <a:cs typeface="Arial"/>
              </a:rPr>
              <a:t>Uncertainty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44435" y="6582737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27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205" y="168234"/>
            <a:ext cx="108813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Release-</a:t>
            </a:r>
            <a:r>
              <a:rPr dirty="0"/>
              <a:t>Planning:</a:t>
            </a:r>
            <a:r>
              <a:rPr spc="-60" dirty="0"/>
              <a:t> </a:t>
            </a:r>
            <a:r>
              <a:rPr dirty="0"/>
              <a:t>How</a:t>
            </a:r>
            <a:r>
              <a:rPr spc="-35" dirty="0"/>
              <a:t> </a:t>
            </a:r>
            <a:r>
              <a:rPr dirty="0"/>
              <a:t>Process</a:t>
            </a:r>
            <a:r>
              <a:rPr spc="-40" dirty="0"/>
              <a:t> </a:t>
            </a:r>
            <a:r>
              <a:rPr dirty="0"/>
              <a:t>Elements</a:t>
            </a:r>
            <a:r>
              <a:rPr spc="-45" dirty="0"/>
              <a:t> </a:t>
            </a:r>
            <a:r>
              <a:rPr dirty="0"/>
              <a:t>Fit</a:t>
            </a:r>
            <a:r>
              <a:rPr spc="-40" dirty="0"/>
              <a:t> </a:t>
            </a:r>
            <a:r>
              <a:rPr spc="-35" dirty="0"/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514" y="6600387"/>
            <a:ext cx="90963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Slide</a:t>
            </a:r>
            <a:r>
              <a:rPr kumimoji="0" sz="1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adapted</a:t>
            </a:r>
            <a:r>
              <a:rPr kumimoji="0" sz="1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Dean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Leffingwell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(2010),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Scaling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Agility: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Requirements,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Presented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Denver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942" y="914402"/>
            <a:ext cx="4119879" cy="52165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drives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devt.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245745" lvl="0" indent="-170180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(a.k.a.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versions)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developed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packages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add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functionality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 product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5080" lvl="0" indent="-170180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Planned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around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increments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focus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support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(as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functional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components)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stability,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scalability,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system-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wide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38735" lvl="0" indent="-170180" defTabSz="914400" eaLnBrk="1" fontAlgn="auto" latinLnBrk="0" hangingPunct="1">
              <a:lnSpc>
                <a:spcPts val="1730"/>
              </a:lnSpc>
              <a:spcBef>
                <a:spcPts val="585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vision,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roadmap,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drives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scope: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organizational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functions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supported,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extent,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goals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release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accomplishes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11430" lvl="0" indent="-170180" defTabSz="914400" eaLnBrk="1" fontAlgn="auto" latinLnBrk="0" hangingPunct="1">
              <a:lnSpc>
                <a:spcPct val="80000"/>
              </a:lnSpc>
              <a:spcBef>
                <a:spcPts val="610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high-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system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capabilities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decomposed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sets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(EPICs)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65405" lvl="1" indent="-170180" defTabSz="914400" eaLnBrk="1" fontAlgn="auto" latinLnBrk="0" hangingPunct="1">
              <a:lnSpc>
                <a:spcPts val="1540"/>
              </a:lnSpc>
              <a:spcBef>
                <a:spcPts val="489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explored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series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50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define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low-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features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acceptance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criteria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2425" marR="107950" lvl="1" indent="-170180" algn="just" defTabSz="914400" eaLnBrk="1" fontAlgn="auto" latinLnBrk="0" hangingPunct="1">
              <a:lnSpc>
                <a:spcPts val="1540"/>
              </a:lnSpc>
              <a:spcBef>
                <a:spcPts val="49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306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decomposed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into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functional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requirements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developed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600" b="0" i="0" u="none" strike="noStrike" kern="0" cap="none" spc="-7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tested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according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acceptance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criteria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7028" y="1239012"/>
            <a:ext cx="6820753" cy="49665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312630" y="6547820"/>
            <a:ext cx="16351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2022,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slide</a:t>
            </a:r>
            <a:r>
              <a:rPr kumimoji="0" sz="1000" b="0" i="0" u="none" strike="noStrike" kern="0" cap="none" spc="204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001978"/>
                </a:solidFill>
                <a:effectLst/>
                <a:uLnTx/>
                <a:uFillTx/>
                <a:latin typeface="Calibri"/>
                <a:cs typeface="Calibri"/>
              </a:rPr>
              <a:t>28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9354" y="1315974"/>
            <a:ext cx="2996946" cy="42182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94892" y="1706276"/>
            <a:ext cx="4892675" cy="35064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294640" lvl="0" indent="635" defTabSz="914400" eaLnBrk="1" fontAlgn="auto" latinLnBrk="0" hangingPunct="1">
              <a:lnSpc>
                <a:spcPct val="100899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primary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purpose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software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project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Planning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Estimating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predict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project’s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outcome.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99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determine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whether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project’s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targets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realistic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enough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project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controlled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outcomes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planned.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Steve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McConnell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3424" rIns="0" bIns="0" rtlCol="0">
            <a:spAutoFit/>
          </a:bodyPr>
          <a:lstStyle/>
          <a:p>
            <a:pPr marL="379095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79095" marR="0" lvl="0" indent="0" defTabSz="914400" eaLnBrk="1" fontAlgn="auto" latinLnBrk="0" hangingPunct="1">
                <a:lnSpc>
                  <a:spcPts val="9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840"/>
              </a:spcBef>
            </a:pPr>
            <a:r>
              <a:rPr sz="3200" spc="-10" dirty="0">
                <a:solidFill>
                  <a:srgbClr val="007373"/>
                </a:solidFill>
              </a:rPr>
              <a:t>Estimation</a:t>
            </a:r>
            <a:r>
              <a:rPr sz="3200" spc="-95" dirty="0">
                <a:solidFill>
                  <a:srgbClr val="007373"/>
                </a:solidFill>
              </a:rPr>
              <a:t> </a:t>
            </a:r>
            <a:r>
              <a:rPr sz="3200" spc="-30" dirty="0">
                <a:solidFill>
                  <a:srgbClr val="007373"/>
                </a:solidFill>
              </a:rPr>
              <a:t>Techniques</a:t>
            </a:r>
            <a:r>
              <a:rPr sz="3200" spc="-100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When</a:t>
            </a:r>
            <a:r>
              <a:rPr sz="3200" spc="-100" dirty="0">
                <a:solidFill>
                  <a:srgbClr val="007373"/>
                </a:solidFill>
              </a:rPr>
              <a:t> </a:t>
            </a:r>
            <a:r>
              <a:rPr sz="3200" spc="-45" dirty="0">
                <a:solidFill>
                  <a:srgbClr val="007373"/>
                </a:solidFill>
              </a:rPr>
              <a:t>You</a:t>
            </a:r>
            <a:r>
              <a:rPr sz="3200" spc="-110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Have</a:t>
            </a:r>
            <a:r>
              <a:rPr sz="3200" spc="-100" dirty="0">
                <a:solidFill>
                  <a:srgbClr val="007373"/>
                </a:solidFill>
              </a:rPr>
              <a:t> </a:t>
            </a:r>
            <a:r>
              <a:rPr sz="3200" spc="-10" dirty="0">
                <a:solidFill>
                  <a:srgbClr val="007373"/>
                </a:solidFill>
              </a:rPr>
              <a:t>Historical</a:t>
            </a:r>
            <a:r>
              <a:rPr sz="3200" spc="-90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Data</a:t>
            </a:r>
            <a:r>
              <a:rPr sz="3200" spc="-110" dirty="0">
                <a:solidFill>
                  <a:srgbClr val="007373"/>
                </a:solidFill>
              </a:rPr>
              <a:t> </a:t>
            </a:r>
            <a:r>
              <a:rPr sz="3200" dirty="0">
                <a:solidFill>
                  <a:srgbClr val="007373"/>
                </a:solidFill>
              </a:rPr>
              <a:t>or</a:t>
            </a:r>
            <a:r>
              <a:rPr sz="3200" spc="-120" dirty="0">
                <a:solidFill>
                  <a:srgbClr val="007373"/>
                </a:solidFill>
              </a:rPr>
              <a:t> </a:t>
            </a:r>
            <a:r>
              <a:rPr sz="3200" spc="-10" dirty="0">
                <a:solidFill>
                  <a:srgbClr val="007373"/>
                </a:solidFill>
              </a:rPr>
              <a:t>Experience: </a:t>
            </a:r>
            <a:r>
              <a:rPr sz="3200" spc="-20" dirty="0">
                <a:solidFill>
                  <a:srgbClr val="007373"/>
                </a:solidFill>
              </a:rPr>
              <a:t>Planning</a:t>
            </a:r>
            <a:r>
              <a:rPr sz="3200" spc="-140" dirty="0">
                <a:solidFill>
                  <a:srgbClr val="007373"/>
                </a:solidFill>
              </a:rPr>
              <a:t> </a:t>
            </a:r>
            <a:r>
              <a:rPr sz="3200" spc="-20" dirty="0">
                <a:solidFill>
                  <a:srgbClr val="007373"/>
                </a:solidFill>
              </a:rPr>
              <a:t>Poker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02675" y="944853"/>
            <a:ext cx="8411210" cy="57772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7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most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popular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technique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estimation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Poker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Fibonacci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number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sequence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assign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item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8140" marR="151130" lvl="0" indent="-173355" defTabSz="914400" eaLnBrk="1" fontAlgn="auto" latinLnBrk="0" hangingPunct="1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877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mathematical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series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numbers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introduced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13th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century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explain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aspects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nature,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branching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trees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8140" marR="407034" lvl="0" indent="-173355" defTabSz="914400" eaLnBrk="1" fontAlgn="auto" latinLnBrk="0" hangingPunct="1">
              <a:lnSpc>
                <a:spcPct val="70000"/>
              </a:lnSpc>
              <a:spcBef>
                <a:spcPts val="505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877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Series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generated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adding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numbers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together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sequence: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0,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2, 3,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5,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8,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13,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21,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 so</a:t>
            </a:r>
            <a:r>
              <a:rPr kumimoji="0" sz="1600" b="0" i="1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600" b="0" i="1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8140" marR="778510" lvl="0" indent="-173355" defTabSz="914400" eaLnBrk="1" fontAlgn="auto" latinLnBrk="0" hangingPunct="1">
              <a:lnSpc>
                <a:spcPct val="70000"/>
              </a:lnSpc>
              <a:spcBef>
                <a:spcPts val="495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877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estimation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purposes,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numbers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changed,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resulting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series: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2,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3,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5,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8,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13,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20,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40,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100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6055" marR="86360" lvl="0" indent="-173990" defTabSz="914400" eaLnBrk="1" fontAlgn="auto" latinLnBrk="0" hangingPunct="1">
              <a:lnSpc>
                <a:spcPts val="1540"/>
              </a:lnSpc>
              <a:spcBef>
                <a:spcPts val="535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8669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Fibonacci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series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chosen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1600" b="0" i="1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enough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1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1600" b="0" i="1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one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600" b="0" i="1" u="none" strike="noStrike" kern="0" cap="none" spc="-4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series</a:t>
            </a:r>
            <a:r>
              <a:rPr kumimoji="0" sz="1600" b="0" i="1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people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really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“bucket”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place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task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436880" lvl="0" indent="0" defTabSz="914400" eaLnBrk="1" fontAlgn="auto" latinLnBrk="0" hangingPunct="1">
              <a:lnSpc>
                <a:spcPct val="7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play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“Planning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Poker”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(see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photo)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provide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item.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Here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steps: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gets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cards.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business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owner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(who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estimate)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presents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discussed.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privately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card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representing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his/her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everyone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ready,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selected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cards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revealed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selected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card,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650240" lvl="0" indent="-228600" defTabSz="914400" eaLnBrk="1" fontAlgn="auto" latinLnBrk="0" hangingPunct="1">
              <a:lnSpc>
                <a:spcPts val="1540"/>
              </a:lnSpc>
              <a:spcBef>
                <a:spcPts val="275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cards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same,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discusses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emphasis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placed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outlying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values: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8140" marR="0" lvl="1" indent="-111760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877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selected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lowest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explains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why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he/she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selected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8140" marR="0" lvl="1" indent="-111760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5877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selected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highest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explains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why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he/she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selected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again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until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converge.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377825" lvl="0" indent="-228600" defTabSz="914400" eaLnBrk="1" fontAlgn="auto" latinLnBrk="0" hangingPunct="1">
              <a:lnSpc>
                <a:spcPts val="1540"/>
              </a:lnSpc>
              <a:spcBef>
                <a:spcPts val="275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lengthy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“in-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the-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weeds”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conversations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result,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two-minute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timebox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discussion,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selecting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again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runs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out,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until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conversion.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9235" defTabSz="91440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Tx/>
              <a:buAutoNum type="arabicPeriod"/>
              <a:tabLst>
                <a:tab pos="24193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Repeat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(Cohn,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2006,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pp.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56–57).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Cohn,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M.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(2006).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estimating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planning.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Upper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Saddle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River,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NJ: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Prentice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Calibri"/>
                <a:cs typeface="Calibri"/>
              </a:rPr>
              <a:t>Hall.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8854" y="896111"/>
            <a:ext cx="2962655" cy="15803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27997" y="2577083"/>
            <a:ext cx="2953511" cy="19469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8854" y="4652009"/>
            <a:ext cx="1737358" cy="194691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3424" rIns="0" bIns="0" rtlCol="0">
            <a:spAutoFit/>
          </a:bodyPr>
          <a:lstStyle/>
          <a:p>
            <a:pPr marL="379095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79095" marR="0" lvl="0" indent="0" defTabSz="914400" eaLnBrk="1" fontAlgn="auto" latinLnBrk="0" hangingPunct="1">
                <a:lnSpc>
                  <a:spcPts val="9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038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883447" y="31750"/>
            <a:ext cx="664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Estimating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893" y="1547902"/>
            <a:ext cx="1513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Sassy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says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it’s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5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111" y="1993444"/>
            <a:ext cx="1640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Maia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says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it’s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8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7674" y="1824737"/>
            <a:ext cx="383032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938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agrees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Sassy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2195195" lvl="0" indent="0" defTabSz="91440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Bailey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says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it’s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13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8499" y="4979416"/>
            <a:ext cx="1459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marR="5080" lvl="0" indent="-17335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Wiggly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agrees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Sassy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4237" y="4893235"/>
            <a:ext cx="1741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 marR="5080" lvl="0" indent="-501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Meatloaf</a:t>
            </a:r>
            <a:r>
              <a:rPr kumimoji="0" sz="1800" b="0" i="0" u="none" strike="noStrike" kern="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says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it’s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20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46987" y="1625169"/>
            <a:ext cx="1722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29845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Bad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Penny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agrees</a:t>
            </a:r>
            <a:r>
              <a:rPr kumimoji="0" sz="1800" b="0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Maia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77782" y="736372"/>
            <a:ext cx="2028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20" dirty="0">
                <a:solidFill>
                  <a:srgbClr val="FFFFFF"/>
                </a:solidFill>
                <a:latin typeface="Arial"/>
                <a:cs typeface="Arial"/>
              </a:rPr>
              <a:t>PLANNING</a:t>
            </a:r>
            <a:r>
              <a:rPr sz="1800" b="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Arial"/>
                <a:cs typeface="Arial"/>
              </a:rPr>
              <a:t>POKER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44435" y="6582737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31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004" y="-118579"/>
            <a:ext cx="10843260" cy="99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45"/>
              </a:lnSpc>
              <a:spcBef>
                <a:spcPts val="95"/>
              </a:spcBef>
            </a:pPr>
            <a:r>
              <a:rPr sz="3200" spc="-10" dirty="0">
                <a:solidFill>
                  <a:srgbClr val="C00000"/>
                </a:solidFill>
              </a:rPr>
              <a:t>Estimation</a:t>
            </a:r>
            <a:r>
              <a:rPr sz="3200" spc="-105" dirty="0">
                <a:solidFill>
                  <a:srgbClr val="C00000"/>
                </a:solidFill>
              </a:rPr>
              <a:t> </a:t>
            </a:r>
            <a:r>
              <a:rPr sz="3200" spc="-30" dirty="0">
                <a:solidFill>
                  <a:srgbClr val="C00000"/>
                </a:solidFill>
              </a:rPr>
              <a:t>Techniques</a:t>
            </a:r>
            <a:r>
              <a:rPr sz="3200" spc="-110" dirty="0">
                <a:solidFill>
                  <a:srgbClr val="C00000"/>
                </a:solidFill>
              </a:rPr>
              <a:t> </a:t>
            </a:r>
            <a:r>
              <a:rPr sz="3200" dirty="0">
                <a:solidFill>
                  <a:srgbClr val="C00000"/>
                </a:solidFill>
              </a:rPr>
              <a:t>When</a:t>
            </a:r>
            <a:r>
              <a:rPr sz="3200" spc="-114" dirty="0">
                <a:solidFill>
                  <a:srgbClr val="C00000"/>
                </a:solidFill>
              </a:rPr>
              <a:t> </a:t>
            </a:r>
            <a:r>
              <a:rPr sz="3200" spc="-45" dirty="0">
                <a:solidFill>
                  <a:srgbClr val="C00000"/>
                </a:solidFill>
              </a:rPr>
              <a:t>You</a:t>
            </a:r>
            <a:r>
              <a:rPr sz="3200" spc="-120" dirty="0">
                <a:solidFill>
                  <a:srgbClr val="C00000"/>
                </a:solidFill>
              </a:rPr>
              <a:t> </a:t>
            </a:r>
            <a:r>
              <a:rPr sz="3200" dirty="0">
                <a:solidFill>
                  <a:srgbClr val="C00000"/>
                </a:solidFill>
              </a:rPr>
              <a:t>Have</a:t>
            </a:r>
            <a:r>
              <a:rPr sz="3200" spc="-105" dirty="0">
                <a:solidFill>
                  <a:srgbClr val="C00000"/>
                </a:solidFill>
              </a:rPr>
              <a:t> </a:t>
            </a:r>
            <a:r>
              <a:rPr sz="3200" spc="-10" dirty="0">
                <a:solidFill>
                  <a:srgbClr val="C00000"/>
                </a:solidFill>
              </a:rPr>
              <a:t>Historical</a:t>
            </a:r>
            <a:r>
              <a:rPr sz="3200" spc="-105" dirty="0">
                <a:solidFill>
                  <a:srgbClr val="C00000"/>
                </a:solidFill>
              </a:rPr>
              <a:t> </a:t>
            </a:r>
            <a:r>
              <a:rPr sz="3200" spc="-10" dirty="0">
                <a:solidFill>
                  <a:srgbClr val="C00000"/>
                </a:solidFill>
              </a:rPr>
              <a:t>Data/Experience:</a:t>
            </a:r>
            <a:endParaRPr sz="3200"/>
          </a:p>
          <a:p>
            <a:pPr marL="12700">
              <a:lnSpc>
                <a:spcPts val="4305"/>
              </a:lnSpc>
            </a:pPr>
            <a:r>
              <a:rPr dirty="0"/>
              <a:t>Affinity</a:t>
            </a:r>
            <a:r>
              <a:rPr spc="-85" dirty="0"/>
              <a:t> </a:t>
            </a:r>
            <a:r>
              <a:rPr spc="-10" dirty="0"/>
              <a:t>Grouping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4230623"/>
            <a:ext cx="3525773" cy="20086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0569" y="1402841"/>
            <a:ext cx="3385565" cy="25351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8027" y="943526"/>
            <a:ext cx="10840720" cy="546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06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Affinity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grouping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faster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poker,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large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3408679" lvl="0" indent="-170180" defTabSz="914400" eaLnBrk="1" fontAlgn="auto" latinLnBrk="0" hangingPunct="1">
              <a:lnSpc>
                <a:spcPct val="80000"/>
              </a:lnSpc>
              <a:spcBef>
                <a:spcPts val="31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simply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together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like-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sized,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resulting</a:t>
            </a:r>
            <a:r>
              <a:rPr kumimoji="0" sz="1700" b="0" i="0" u="none" strike="noStrike" kern="0" cap="none" spc="-6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configuration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similar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photo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below.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method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fast: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6666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placed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wall.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3354070" lvl="1" indent="-118110" defTabSz="914400" eaLnBrk="1" fontAlgn="auto" latinLnBrk="0" hangingPunct="1">
              <a:lnSpc>
                <a:spcPct val="80000"/>
              </a:lnSpc>
              <a:spcBef>
                <a:spcPts val="330"/>
              </a:spcBef>
              <a:spcAft>
                <a:spcPts val="0"/>
              </a:spcAft>
              <a:buClr>
                <a:srgbClr val="8A2514"/>
              </a:buClr>
              <a:buSzPct val="76666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asked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smaller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larger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item;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placement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wall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corresponds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team's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response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(larger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right,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smaller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left).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3180080" lvl="1" indent="-118110" defTabSz="914400" eaLnBrk="1" fontAlgn="auto" latinLnBrk="0" hangingPunct="1">
              <a:lnSpc>
                <a:spcPts val="1440"/>
              </a:lnSpc>
              <a:spcBef>
                <a:spcPts val="290"/>
              </a:spcBef>
              <a:spcAft>
                <a:spcPts val="0"/>
              </a:spcAft>
              <a:buClr>
                <a:srgbClr val="8A2514"/>
              </a:buClr>
              <a:buSzPct val="76666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third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asked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smaller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larger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and/or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items;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placed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wall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accordingly.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6666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then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turned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remainder</a:t>
            </a:r>
            <a:r>
              <a:rPr kumimoji="0" sz="15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3396615" lvl="0" indent="-170180" defTabSz="914400" eaLnBrk="1" fontAlgn="auto" latinLnBrk="0" hangingPunct="1">
              <a:lnSpc>
                <a:spcPct val="80000"/>
              </a:lnSpc>
              <a:spcBef>
                <a:spcPts val="59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continue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placing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wall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discussion </a:t>
            </a:r>
            <a:r>
              <a:rPr kumimoji="0" sz="17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700" b="0" i="1" u="none" strike="noStrike" kern="0" cap="none" spc="-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(faster)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select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place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based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own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understanding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4126865" lvl="1" indent="-118110" defTabSz="914400" eaLnBrk="1" fontAlgn="auto" latinLnBrk="0" hangingPunct="1">
              <a:lnSpc>
                <a:spcPct val="80000"/>
              </a:lnSpc>
              <a:spcBef>
                <a:spcPts val="315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done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parallel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until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been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assessed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placed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wall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Several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hundred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estimated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relatively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short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645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wall,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reviews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groupings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believes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wrong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discussed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moved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appropriate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2245" marR="0" lvl="0" indent="-17018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7373"/>
              </a:buClr>
              <a:buSzPct val="76470"/>
              <a:buFont typeface="Wingdings 3"/>
              <a:buChar char=""/>
              <a:tabLst>
                <a:tab pos="182880" algn="l"/>
              </a:tabLst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affinity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grouping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complete,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estimation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unit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values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(points)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assigned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6923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 on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far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left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 the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photo would be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labeled as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having a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value of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1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6923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13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 2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points,</a:t>
            </a:r>
            <a:r>
              <a:rPr kumimoji="0" sz="13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third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points, The fourth set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points,</a:t>
            </a:r>
            <a:r>
              <a:rPr kumimoji="0" sz="13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300" b="0" i="0" u="none" strike="noStrike" kern="0" cap="none" spc="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8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9539" marR="3422015" lvl="0" indent="-117475" defTabSz="914400" eaLnBrk="1" fontAlgn="auto" latinLnBrk="0" hangingPunct="1">
              <a:lnSpc>
                <a:spcPct val="80000"/>
              </a:lnSpc>
              <a:spcBef>
                <a:spcPts val="359"/>
              </a:spcBef>
              <a:spcAft>
                <a:spcPts val="0"/>
              </a:spcAft>
              <a:buClr>
                <a:srgbClr val="007373"/>
              </a:buClr>
              <a:buSzPct val="75000"/>
              <a:buFont typeface="Wingdings 3"/>
              <a:buChar char=""/>
              <a:tabLst>
                <a:tab pos="130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photo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shows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example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affinity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grouped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labeled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T-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shirt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sizes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instead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unit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doesn’t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matter;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thinking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size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helpful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0355" marR="0" lvl="1" indent="-118745" defTabSz="914400" eaLnBrk="1" fontAlgn="auto" latinLnBrk="0" hangingPunct="1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Clr>
                <a:srgbClr val="8A2514"/>
              </a:buClr>
              <a:buSzPct val="75000"/>
              <a:buFont typeface="Wingdings 3"/>
              <a:buChar char=""/>
              <a:tabLst>
                <a:tab pos="30099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example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shown,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T-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shirt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sizes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help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differentiate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 estimate-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ranges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9131" y="6624484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32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215654"/>
            <a:ext cx="99263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Story</a:t>
            </a:r>
            <a:r>
              <a:rPr sz="4400" spc="-155" dirty="0"/>
              <a:t> </a:t>
            </a:r>
            <a:r>
              <a:rPr sz="4400" spc="-30" dirty="0"/>
              <a:t>Points</a:t>
            </a:r>
            <a:r>
              <a:rPr sz="4400" spc="-125" dirty="0"/>
              <a:t> </a:t>
            </a:r>
            <a:r>
              <a:rPr sz="4400" dirty="0"/>
              <a:t>are</a:t>
            </a:r>
            <a:r>
              <a:rPr sz="4400" spc="-155" dirty="0"/>
              <a:t> </a:t>
            </a:r>
            <a:r>
              <a:rPr sz="4400" dirty="0"/>
              <a:t>the</a:t>
            </a:r>
            <a:r>
              <a:rPr sz="4400" spc="-160" dirty="0"/>
              <a:t> </a:t>
            </a:r>
            <a:r>
              <a:rPr sz="4400" i="1" dirty="0">
                <a:latin typeface="Calibri Light"/>
                <a:cs typeface="Calibri Light"/>
              </a:rPr>
              <a:t>de</a:t>
            </a:r>
            <a:r>
              <a:rPr sz="4400" i="1" spc="-155" dirty="0">
                <a:latin typeface="Calibri Light"/>
                <a:cs typeface="Calibri Light"/>
              </a:rPr>
              <a:t> </a:t>
            </a:r>
            <a:r>
              <a:rPr sz="4400" i="1" spc="-10" dirty="0">
                <a:latin typeface="Calibri Light"/>
                <a:cs typeface="Calibri Light"/>
              </a:rPr>
              <a:t>facto</a:t>
            </a:r>
            <a:r>
              <a:rPr sz="4400" i="1" spc="-145" dirty="0">
                <a:latin typeface="Calibri Light"/>
                <a:cs typeface="Calibri Light"/>
              </a:rPr>
              <a:t> </a:t>
            </a:r>
            <a:r>
              <a:rPr sz="4400" spc="-25" dirty="0"/>
              <a:t>standard,</a:t>
            </a:r>
            <a:r>
              <a:rPr sz="4400" spc="-125" dirty="0"/>
              <a:t> </a:t>
            </a:r>
            <a:r>
              <a:rPr sz="4400" dirty="0"/>
              <a:t>but</a:t>
            </a:r>
            <a:r>
              <a:rPr sz="4400" spc="-140" dirty="0"/>
              <a:t> </a:t>
            </a:r>
            <a:r>
              <a:rPr sz="4400" spc="-50" dirty="0"/>
              <a:t>…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8122" y="890601"/>
            <a:ext cx="10746740" cy="222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measures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1" u="none" strike="noStrike" kern="0" cap="none" spc="-6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duration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actual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cost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67640" marR="0" lvl="0" indent="-15557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682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67640" marR="0" lvl="0" indent="-155575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682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Ordinal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units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67640" marR="0" lvl="0" indent="-155575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682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Hours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well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67640" marR="0" lvl="0" indent="-155575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682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Hours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Scope: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5440" marR="0" lvl="1" indent="-178435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 3"/>
              <a:buChar char=""/>
              <a:tabLst>
                <a:tab pos="3460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breakdown,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deliverable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assigned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size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5440" marR="0" lvl="1" indent="-178435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 3"/>
              <a:buChar char=""/>
              <a:tabLst>
                <a:tab pos="3460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labor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rate,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size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converted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hours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well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material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(for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budget)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56054" y="4528566"/>
            <a:ext cx="1447800" cy="546735"/>
            <a:chOff x="1956054" y="4528566"/>
            <a:chExt cx="1447800" cy="5467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6054" y="4528566"/>
              <a:ext cx="1447799" cy="546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02529" y="4544568"/>
              <a:ext cx="1355725" cy="482600"/>
            </a:xfrm>
            <a:custGeom>
              <a:avLst/>
              <a:gdLst/>
              <a:ahLst/>
              <a:cxnLst/>
              <a:rect l="l" t="t" r="r" b="b"/>
              <a:pathLst>
                <a:path w="1355725" h="482600">
                  <a:moveTo>
                    <a:pt x="1238808" y="0"/>
                  </a:moveTo>
                  <a:lnTo>
                    <a:pt x="102209" y="596"/>
                  </a:lnTo>
                  <a:lnTo>
                    <a:pt x="61937" y="9347"/>
                  </a:lnTo>
                  <a:lnTo>
                    <a:pt x="7873" y="51257"/>
                  </a:lnTo>
                  <a:lnTo>
                    <a:pt x="0" y="80327"/>
                  </a:lnTo>
                  <a:lnTo>
                    <a:pt x="850" y="401650"/>
                  </a:lnTo>
                  <a:lnTo>
                    <a:pt x="29311" y="454926"/>
                  </a:lnTo>
                  <a:lnTo>
                    <a:pt x="101892" y="481355"/>
                  </a:lnTo>
                  <a:lnTo>
                    <a:pt x="116535" y="481990"/>
                  </a:lnTo>
                  <a:lnTo>
                    <a:pt x="1253134" y="481380"/>
                  </a:lnTo>
                  <a:lnTo>
                    <a:pt x="1293406" y="472643"/>
                  </a:lnTo>
                  <a:lnTo>
                    <a:pt x="1325841" y="455079"/>
                  </a:lnTo>
                  <a:lnTo>
                    <a:pt x="1347469" y="430733"/>
                  </a:lnTo>
                  <a:lnTo>
                    <a:pt x="1355343" y="401650"/>
                  </a:lnTo>
                  <a:lnTo>
                    <a:pt x="1354493" y="80327"/>
                  </a:lnTo>
                  <a:lnTo>
                    <a:pt x="1326045" y="27063"/>
                  </a:lnTo>
                  <a:lnTo>
                    <a:pt x="1253451" y="622"/>
                  </a:lnTo>
                  <a:lnTo>
                    <a:pt x="12388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02917" y="4544954"/>
              <a:ext cx="1355725" cy="482600"/>
            </a:xfrm>
            <a:custGeom>
              <a:avLst/>
              <a:gdLst/>
              <a:ahLst/>
              <a:cxnLst/>
              <a:rect l="l" t="t" r="r" b="b"/>
              <a:pathLst>
                <a:path w="1355725" h="482600">
                  <a:moveTo>
                    <a:pt x="0" y="80327"/>
                  </a:moveTo>
                  <a:lnTo>
                    <a:pt x="29502" y="26898"/>
                  </a:lnTo>
                  <a:lnTo>
                    <a:pt x="102209" y="596"/>
                  </a:lnTo>
                  <a:lnTo>
                    <a:pt x="1238808" y="0"/>
                  </a:lnTo>
                  <a:lnTo>
                    <a:pt x="1253439" y="622"/>
                  </a:lnTo>
                  <a:lnTo>
                    <a:pt x="1293672" y="9436"/>
                  </a:lnTo>
                  <a:lnTo>
                    <a:pt x="1326032" y="27063"/>
                  </a:lnTo>
                  <a:lnTo>
                    <a:pt x="1347571" y="51447"/>
                  </a:lnTo>
                  <a:lnTo>
                    <a:pt x="1355331" y="401650"/>
                  </a:lnTo>
                  <a:lnTo>
                    <a:pt x="1354429" y="411746"/>
                  </a:lnTo>
                  <a:lnTo>
                    <a:pt x="1341640" y="439470"/>
                  </a:lnTo>
                  <a:lnTo>
                    <a:pt x="1316075" y="461784"/>
                  </a:lnTo>
                  <a:lnTo>
                    <a:pt x="1280693" y="476630"/>
                  </a:lnTo>
                  <a:lnTo>
                    <a:pt x="116535" y="481977"/>
                  </a:lnTo>
                  <a:lnTo>
                    <a:pt x="101892" y="481355"/>
                  </a:lnTo>
                  <a:lnTo>
                    <a:pt x="61671" y="472541"/>
                  </a:lnTo>
                  <a:lnTo>
                    <a:pt x="29298" y="454913"/>
                  </a:lnTo>
                  <a:lnTo>
                    <a:pt x="7759" y="430529"/>
                  </a:lnTo>
                  <a:lnTo>
                    <a:pt x="0" y="80327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5390" y="4684447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49DD9"/>
                </a:solidFill>
                <a:effectLst/>
                <a:uLnTx/>
                <a:uFillTx/>
                <a:latin typeface="Calibri"/>
                <a:cs typeface="Calibri"/>
              </a:rPr>
              <a:t>Epic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87317" y="3741420"/>
            <a:ext cx="1447800" cy="546100"/>
            <a:chOff x="3687317" y="3741420"/>
            <a:chExt cx="1447800" cy="5461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7317" y="3741420"/>
              <a:ext cx="1447799" cy="5455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34555" y="3757422"/>
              <a:ext cx="1355725" cy="482600"/>
            </a:xfrm>
            <a:custGeom>
              <a:avLst/>
              <a:gdLst/>
              <a:ahLst/>
              <a:cxnLst/>
              <a:rect l="l" t="t" r="r" b="b"/>
              <a:pathLst>
                <a:path w="1355725" h="482600">
                  <a:moveTo>
                    <a:pt x="1238808" y="0"/>
                  </a:moveTo>
                  <a:lnTo>
                    <a:pt x="102222" y="596"/>
                  </a:lnTo>
                  <a:lnTo>
                    <a:pt x="61937" y="9347"/>
                  </a:lnTo>
                  <a:lnTo>
                    <a:pt x="7873" y="51257"/>
                  </a:lnTo>
                  <a:lnTo>
                    <a:pt x="0" y="80327"/>
                  </a:lnTo>
                  <a:lnTo>
                    <a:pt x="850" y="401650"/>
                  </a:lnTo>
                  <a:lnTo>
                    <a:pt x="29311" y="454914"/>
                  </a:lnTo>
                  <a:lnTo>
                    <a:pt x="101892" y="481355"/>
                  </a:lnTo>
                  <a:lnTo>
                    <a:pt x="116535" y="481990"/>
                  </a:lnTo>
                  <a:lnTo>
                    <a:pt x="1253134" y="481380"/>
                  </a:lnTo>
                  <a:lnTo>
                    <a:pt x="1293406" y="472643"/>
                  </a:lnTo>
                  <a:lnTo>
                    <a:pt x="1325841" y="455079"/>
                  </a:lnTo>
                  <a:lnTo>
                    <a:pt x="1347469" y="430733"/>
                  </a:lnTo>
                  <a:lnTo>
                    <a:pt x="1355343" y="401650"/>
                  </a:lnTo>
                  <a:lnTo>
                    <a:pt x="1354493" y="80327"/>
                  </a:lnTo>
                  <a:lnTo>
                    <a:pt x="1326045" y="27063"/>
                  </a:lnTo>
                  <a:lnTo>
                    <a:pt x="1253451" y="622"/>
                  </a:lnTo>
                  <a:lnTo>
                    <a:pt x="1238808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734942" y="3757808"/>
              <a:ext cx="1355725" cy="482600"/>
            </a:xfrm>
            <a:custGeom>
              <a:avLst/>
              <a:gdLst/>
              <a:ahLst/>
              <a:cxnLst/>
              <a:rect l="l" t="t" r="r" b="b"/>
              <a:pathLst>
                <a:path w="1355725" h="482600">
                  <a:moveTo>
                    <a:pt x="0" y="80327"/>
                  </a:moveTo>
                  <a:lnTo>
                    <a:pt x="29502" y="26898"/>
                  </a:lnTo>
                  <a:lnTo>
                    <a:pt x="102209" y="596"/>
                  </a:lnTo>
                  <a:lnTo>
                    <a:pt x="1238808" y="0"/>
                  </a:lnTo>
                  <a:lnTo>
                    <a:pt x="1253439" y="622"/>
                  </a:lnTo>
                  <a:lnTo>
                    <a:pt x="1293672" y="9436"/>
                  </a:lnTo>
                  <a:lnTo>
                    <a:pt x="1326032" y="27063"/>
                  </a:lnTo>
                  <a:lnTo>
                    <a:pt x="1347571" y="51447"/>
                  </a:lnTo>
                  <a:lnTo>
                    <a:pt x="1355331" y="401650"/>
                  </a:lnTo>
                  <a:lnTo>
                    <a:pt x="1354429" y="411746"/>
                  </a:lnTo>
                  <a:lnTo>
                    <a:pt x="1341640" y="439470"/>
                  </a:lnTo>
                  <a:lnTo>
                    <a:pt x="1316075" y="461784"/>
                  </a:lnTo>
                  <a:lnTo>
                    <a:pt x="1280693" y="476630"/>
                  </a:lnTo>
                  <a:lnTo>
                    <a:pt x="116535" y="481977"/>
                  </a:lnTo>
                  <a:lnTo>
                    <a:pt x="101892" y="481355"/>
                  </a:lnTo>
                  <a:lnTo>
                    <a:pt x="61671" y="472541"/>
                  </a:lnTo>
                  <a:lnTo>
                    <a:pt x="29298" y="454913"/>
                  </a:lnTo>
                  <a:lnTo>
                    <a:pt x="7759" y="430529"/>
                  </a:lnTo>
                  <a:lnTo>
                    <a:pt x="0" y="80327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05927" y="3898897"/>
            <a:ext cx="72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87317" y="5297423"/>
            <a:ext cx="1447800" cy="546735"/>
            <a:chOff x="3687317" y="5297423"/>
            <a:chExt cx="1447800" cy="5467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7317" y="5297423"/>
              <a:ext cx="1447799" cy="5463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34555" y="5314187"/>
              <a:ext cx="1355725" cy="482600"/>
            </a:xfrm>
            <a:custGeom>
              <a:avLst/>
              <a:gdLst/>
              <a:ahLst/>
              <a:cxnLst/>
              <a:rect l="l" t="t" r="r" b="b"/>
              <a:pathLst>
                <a:path w="1355725" h="482600">
                  <a:moveTo>
                    <a:pt x="1238808" y="0"/>
                  </a:moveTo>
                  <a:lnTo>
                    <a:pt x="102222" y="596"/>
                  </a:lnTo>
                  <a:lnTo>
                    <a:pt x="61937" y="9347"/>
                  </a:lnTo>
                  <a:lnTo>
                    <a:pt x="7873" y="51257"/>
                  </a:lnTo>
                  <a:lnTo>
                    <a:pt x="0" y="80327"/>
                  </a:lnTo>
                  <a:lnTo>
                    <a:pt x="850" y="401650"/>
                  </a:lnTo>
                  <a:lnTo>
                    <a:pt x="29311" y="454914"/>
                  </a:lnTo>
                  <a:lnTo>
                    <a:pt x="101892" y="481355"/>
                  </a:lnTo>
                  <a:lnTo>
                    <a:pt x="116535" y="481990"/>
                  </a:lnTo>
                  <a:lnTo>
                    <a:pt x="1253134" y="481380"/>
                  </a:lnTo>
                  <a:lnTo>
                    <a:pt x="1293406" y="472643"/>
                  </a:lnTo>
                  <a:lnTo>
                    <a:pt x="1325841" y="455079"/>
                  </a:lnTo>
                  <a:lnTo>
                    <a:pt x="1347469" y="430733"/>
                  </a:lnTo>
                  <a:lnTo>
                    <a:pt x="1355343" y="401650"/>
                  </a:lnTo>
                  <a:lnTo>
                    <a:pt x="1354493" y="80327"/>
                  </a:lnTo>
                  <a:lnTo>
                    <a:pt x="1326045" y="27063"/>
                  </a:lnTo>
                  <a:lnTo>
                    <a:pt x="1253451" y="622"/>
                  </a:lnTo>
                  <a:lnTo>
                    <a:pt x="1238808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942" y="5314573"/>
              <a:ext cx="1355725" cy="482600"/>
            </a:xfrm>
            <a:custGeom>
              <a:avLst/>
              <a:gdLst/>
              <a:ahLst/>
              <a:cxnLst/>
              <a:rect l="l" t="t" r="r" b="b"/>
              <a:pathLst>
                <a:path w="1355725" h="482600">
                  <a:moveTo>
                    <a:pt x="0" y="80327"/>
                  </a:moveTo>
                  <a:lnTo>
                    <a:pt x="29502" y="26898"/>
                  </a:lnTo>
                  <a:lnTo>
                    <a:pt x="102209" y="596"/>
                  </a:lnTo>
                  <a:lnTo>
                    <a:pt x="1238808" y="0"/>
                  </a:lnTo>
                  <a:lnTo>
                    <a:pt x="1253439" y="622"/>
                  </a:lnTo>
                  <a:lnTo>
                    <a:pt x="1293672" y="9436"/>
                  </a:lnTo>
                  <a:lnTo>
                    <a:pt x="1326032" y="27063"/>
                  </a:lnTo>
                  <a:lnTo>
                    <a:pt x="1347571" y="51447"/>
                  </a:lnTo>
                  <a:lnTo>
                    <a:pt x="1355331" y="401650"/>
                  </a:lnTo>
                  <a:lnTo>
                    <a:pt x="1354429" y="411746"/>
                  </a:lnTo>
                  <a:lnTo>
                    <a:pt x="1341640" y="439470"/>
                  </a:lnTo>
                  <a:lnTo>
                    <a:pt x="1316075" y="461784"/>
                  </a:lnTo>
                  <a:lnTo>
                    <a:pt x="1280693" y="476631"/>
                  </a:lnTo>
                  <a:lnTo>
                    <a:pt x="116535" y="481977"/>
                  </a:lnTo>
                  <a:lnTo>
                    <a:pt x="101892" y="481355"/>
                  </a:lnTo>
                  <a:lnTo>
                    <a:pt x="61671" y="472541"/>
                  </a:lnTo>
                  <a:lnTo>
                    <a:pt x="29298" y="454914"/>
                  </a:lnTo>
                  <a:lnTo>
                    <a:pt x="7759" y="430530"/>
                  </a:lnTo>
                  <a:lnTo>
                    <a:pt x="0" y="80327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05927" y="5455294"/>
            <a:ext cx="72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97117" y="3259836"/>
            <a:ext cx="1447800" cy="546735"/>
            <a:chOff x="5897117" y="3259836"/>
            <a:chExt cx="1447800" cy="54673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7117" y="3259836"/>
              <a:ext cx="1447799" cy="54635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42843" y="3275837"/>
              <a:ext cx="1356360" cy="482600"/>
            </a:xfrm>
            <a:custGeom>
              <a:avLst/>
              <a:gdLst/>
              <a:ahLst/>
              <a:cxnLst/>
              <a:rect l="l" t="t" r="r" b="b"/>
              <a:pathLst>
                <a:path w="1356359" h="482600">
                  <a:moveTo>
                    <a:pt x="1239494" y="0"/>
                  </a:moveTo>
                  <a:lnTo>
                    <a:pt x="102260" y="596"/>
                  </a:lnTo>
                  <a:lnTo>
                    <a:pt x="61963" y="9347"/>
                  </a:lnTo>
                  <a:lnTo>
                    <a:pt x="7874" y="51257"/>
                  </a:lnTo>
                  <a:lnTo>
                    <a:pt x="0" y="80327"/>
                  </a:lnTo>
                  <a:lnTo>
                    <a:pt x="838" y="401650"/>
                  </a:lnTo>
                  <a:lnTo>
                    <a:pt x="29311" y="454926"/>
                  </a:lnTo>
                  <a:lnTo>
                    <a:pt x="101942" y="481355"/>
                  </a:lnTo>
                  <a:lnTo>
                    <a:pt x="116598" y="481990"/>
                  </a:lnTo>
                  <a:lnTo>
                    <a:pt x="1253820" y="481380"/>
                  </a:lnTo>
                  <a:lnTo>
                    <a:pt x="1294117" y="472643"/>
                  </a:lnTo>
                  <a:lnTo>
                    <a:pt x="1326578" y="455079"/>
                  </a:lnTo>
                  <a:lnTo>
                    <a:pt x="1348219" y="430733"/>
                  </a:lnTo>
                  <a:lnTo>
                    <a:pt x="1356093" y="401650"/>
                  </a:lnTo>
                  <a:lnTo>
                    <a:pt x="1355242" y="80327"/>
                  </a:lnTo>
                  <a:lnTo>
                    <a:pt x="1326769" y="27063"/>
                  </a:lnTo>
                  <a:lnTo>
                    <a:pt x="1254150" y="622"/>
                  </a:lnTo>
                  <a:lnTo>
                    <a:pt x="1239494" y="0"/>
                  </a:lnTo>
                  <a:close/>
                </a:path>
              </a:pathLst>
            </a:custGeom>
            <a:solidFill>
              <a:srgbClr val="0376A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943218" y="3276224"/>
              <a:ext cx="1356360" cy="482600"/>
            </a:xfrm>
            <a:custGeom>
              <a:avLst/>
              <a:gdLst/>
              <a:ahLst/>
              <a:cxnLst/>
              <a:rect l="l" t="t" r="r" b="b"/>
              <a:pathLst>
                <a:path w="1356359" h="482600">
                  <a:moveTo>
                    <a:pt x="0" y="80327"/>
                  </a:moveTo>
                  <a:lnTo>
                    <a:pt x="29514" y="26898"/>
                  </a:lnTo>
                  <a:lnTo>
                    <a:pt x="102273" y="596"/>
                  </a:lnTo>
                  <a:lnTo>
                    <a:pt x="1239494" y="0"/>
                  </a:lnTo>
                  <a:lnTo>
                    <a:pt x="1254150" y="622"/>
                  </a:lnTo>
                  <a:lnTo>
                    <a:pt x="1294396" y="9436"/>
                  </a:lnTo>
                  <a:lnTo>
                    <a:pt x="1326781" y="27063"/>
                  </a:lnTo>
                  <a:lnTo>
                    <a:pt x="1348333" y="51447"/>
                  </a:lnTo>
                  <a:lnTo>
                    <a:pt x="1356093" y="401650"/>
                  </a:lnTo>
                  <a:lnTo>
                    <a:pt x="1355178" y="411746"/>
                  </a:lnTo>
                  <a:lnTo>
                    <a:pt x="1342390" y="439470"/>
                  </a:lnTo>
                  <a:lnTo>
                    <a:pt x="1316812" y="461784"/>
                  </a:lnTo>
                  <a:lnTo>
                    <a:pt x="1281417" y="476630"/>
                  </a:lnTo>
                  <a:lnTo>
                    <a:pt x="116598" y="481977"/>
                  </a:lnTo>
                  <a:lnTo>
                    <a:pt x="101942" y="481355"/>
                  </a:lnTo>
                  <a:lnTo>
                    <a:pt x="61696" y="472541"/>
                  </a:lnTo>
                  <a:lnTo>
                    <a:pt x="29311" y="454913"/>
                  </a:lnTo>
                  <a:lnTo>
                    <a:pt x="7759" y="430529"/>
                  </a:lnTo>
                  <a:lnTo>
                    <a:pt x="0" y="80327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68719" y="3415804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97117" y="5297423"/>
            <a:ext cx="1447800" cy="546735"/>
            <a:chOff x="5897117" y="5297423"/>
            <a:chExt cx="1447800" cy="546735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97117" y="5297423"/>
              <a:ext cx="1447799" cy="54635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2843" y="5314187"/>
              <a:ext cx="1356360" cy="482600"/>
            </a:xfrm>
            <a:custGeom>
              <a:avLst/>
              <a:gdLst/>
              <a:ahLst/>
              <a:cxnLst/>
              <a:rect l="l" t="t" r="r" b="b"/>
              <a:pathLst>
                <a:path w="1356359" h="482600">
                  <a:moveTo>
                    <a:pt x="1239494" y="0"/>
                  </a:moveTo>
                  <a:lnTo>
                    <a:pt x="102260" y="596"/>
                  </a:lnTo>
                  <a:lnTo>
                    <a:pt x="61963" y="9347"/>
                  </a:lnTo>
                  <a:lnTo>
                    <a:pt x="7874" y="51257"/>
                  </a:lnTo>
                  <a:lnTo>
                    <a:pt x="0" y="80327"/>
                  </a:lnTo>
                  <a:lnTo>
                    <a:pt x="838" y="401650"/>
                  </a:lnTo>
                  <a:lnTo>
                    <a:pt x="29311" y="454914"/>
                  </a:lnTo>
                  <a:lnTo>
                    <a:pt x="101942" y="481355"/>
                  </a:lnTo>
                  <a:lnTo>
                    <a:pt x="116598" y="481990"/>
                  </a:lnTo>
                  <a:lnTo>
                    <a:pt x="1253820" y="481380"/>
                  </a:lnTo>
                  <a:lnTo>
                    <a:pt x="1294117" y="472643"/>
                  </a:lnTo>
                  <a:lnTo>
                    <a:pt x="1326578" y="455079"/>
                  </a:lnTo>
                  <a:lnTo>
                    <a:pt x="1348219" y="430733"/>
                  </a:lnTo>
                  <a:lnTo>
                    <a:pt x="1356093" y="401650"/>
                  </a:lnTo>
                  <a:lnTo>
                    <a:pt x="1355242" y="80327"/>
                  </a:lnTo>
                  <a:lnTo>
                    <a:pt x="1326769" y="27063"/>
                  </a:lnTo>
                  <a:lnTo>
                    <a:pt x="1254150" y="622"/>
                  </a:lnTo>
                  <a:lnTo>
                    <a:pt x="1239494" y="0"/>
                  </a:lnTo>
                  <a:close/>
                </a:path>
              </a:pathLst>
            </a:custGeom>
            <a:solidFill>
              <a:srgbClr val="0376A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5943218" y="5314573"/>
              <a:ext cx="1356360" cy="482600"/>
            </a:xfrm>
            <a:custGeom>
              <a:avLst/>
              <a:gdLst/>
              <a:ahLst/>
              <a:cxnLst/>
              <a:rect l="l" t="t" r="r" b="b"/>
              <a:pathLst>
                <a:path w="1356359" h="482600">
                  <a:moveTo>
                    <a:pt x="0" y="80327"/>
                  </a:moveTo>
                  <a:lnTo>
                    <a:pt x="29514" y="26898"/>
                  </a:lnTo>
                  <a:lnTo>
                    <a:pt x="102273" y="596"/>
                  </a:lnTo>
                  <a:lnTo>
                    <a:pt x="1239494" y="0"/>
                  </a:lnTo>
                  <a:lnTo>
                    <a:pt x="1254150" y="622"/>
                  </a:lnTo>
                  <a:lnTo>
                    <a:pt x="1294396" y="9436"/>
                  </a:lnTo>
                  <a:lnTo>
                    <a:pt x="1326781" y="27063"/>
                  </a:lnTo>
                  <a:lnTo>
                    <a:pt x="1348333" y="51447"/>
                  </a:lnTo>
                  <a:lnTo>
                    <a:pt x="1356093" y="401650"/>
                  </a:lnTo>
                  <a:lnTo>
                    <a:pt x="1355178" y="411746"/>
                  </a:lnTo>
                  <a:lnTo>
                    <a:pt x="1342390" y="439470"/>
                  </a:lnTo>
                  <a:lnTo>
                    <a:pt x="1316812" y="461784"/>
                  </a:lnTo>
                  <a:lnTo>
                    <a:pt x="1281417" y="476631"/>
                  </a:lnTo>
                  <a:lnTo>
                    <a:pt x="116598" y="481977"/>
                  </a:lnTo>
                  <a:lnTo>
                    <a:pt x="101942" y="481355"/>
                  </a:lnTo>
                  <a:lnTo>
                    <a:pt x="61696" y="472541"/>
                  </a:lnTo>
                  <a:lnTo>
                    <a:pt x="29311" y="454914"/>
                  </a:lnTo>
                  <a:lnTo>
                    <a:pt x="7759" y="430530"/>
                  </a:lnTo>
                  <a:lnTo>
                    <a:pt x="0" y="80327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68719" y="5455294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897117" y="4278629"/>
            <a:ext cx="1447800" cy="546735"/>
            <a:chOff x="5897117" y="4278629"/>
            <a:chExt cx="1447800" cy="54673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97117" y="4278629"/>
              <a:ext cx="1447799" cy="54635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42843" y="4295393"/>
              <a:ext cx="1356360" cy="481330"/>
            </a:xfrm>
            <a:custGeom>
              <a:avLst/>
              <a:gdLst/>
              <a:ahLst/>
              <a:cxnLst/>
              <a:rect l="l" t="t" r="r" b="b"/>
              <a:pathLst>
                <a:path w="1356359" h="481329">
                  <a:moveTo>
                    <a:pt x="1239494" y="0"/>
                  </a:moveTo>
                  <a:lnTo>
                    <a:pt x="102260" y="596"/>
                  </a:lnTo>
                  <a:lnTo>
                    <a:pt x="61963" y="9321"/>
                  </a:lnTo>
                  <a:lnTo>
                    <a:pt x="7874" y="51168"/>
                  </a:lnTo>
                  <a:lnTo>
                    <a:pt x="0" y="80200"/>
                  </a:lnTo>
                  <a:lnTo>
                    <a:pt x="838" y="401015"/>
                  </a:lnTo>
                  <a:lnTo>
                    <a:pt x="29311" y="454202"/>
                  </a:lnTo>
                  <a:lnTo>
                    <a:pt x="101942" y="480593"/>
                  </a:lnTo>
                  <a:lnTo>
                    <a:pt x="116598" y="481228"/>
                  </a:lnTo>
                  <a:lnTo>
                    <a:pt x="1253820" y="480618"/>
                  </a:lnTo>
                  <a:lnTo>
                    <a:pt x="1294117" y="471893"/>
                  </a:lnTo>
                  <a:lnTo>
                    <a:pt x="1326578" y="454355"/>
                  </a:lnTo>
                  <a:lnTo>
                    <a:pt x="1348219" y="430047"/>
                  </a:lnTo>
                  <a:lnTo>
                    <a:pt x="1356093" y="401015"/>
                  </a:lnTo>
                  <a:lnTo>
                    <a:pt x="1355242" y="80200"/>
                  </a:lnTo>
                  <a:lnTo>
                    <a:pt x="1326769" y="27025"/>
                  </a:lnTo>
                  <a:lnTo>
                    <a:pt x="1254150" y="622"/>
                  </a:lnTo>
                  <a:lnTo>
                    <a:pt x="1239494" y="0"/>
                  </a:lnTo>
                  <a:close/>
                </a:path>
              </a:pathLst>
            </a:custGeom>
            <a:solidFill>
              <a:srgbClr val="0376A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943218" y="4295780"/>
              <a:ext cx="1356360" cy="481330"/>
            </a:xfrm>
            <a:custGeom>
              <a:avLst/>
              <a:gdLst/>
              <a:ahLst/>
              <a:cxnLst/>
              <a:rect l="l" t="t" r="r" b="b"/>
              <a:pathLst>
                <a:path w="1356359" h="481329">
                  <a:moveTo>
                    <a:pt x="0" y="80200"/>
                  </a:moveTo>
                  <a:lnTo>
                    <a:pt x="29514" y="26860"/>
                  </a:lnTo>
                  <a:lnTo>
                    <a:pt x="102273" y="596"/>
                  </a:lnTo>
                  <a:lnTo>
                    <a:pt x="1239494" y="0"/>
                  </a:lnTo>
                  <a:lnTo>
                    <a:pt x="1254150" y="622"/>
                  </a:lnTo>
                  <a:lnTo>
                    <a:pt x="1294396" y="9423"/>
                  </a:lnTo>
                  <a:lnTo>
                    <a:pt x="1326781" y="27012"/>
                  </a:lnTo>
                  <a:lnTo>
                    <a:pt x="1348333" y="51371"/>
                  </a:lnTo>
                  <a:lnTo>
                    <a:pt x="1356093" y="401015"/>
                  </a:lnTo>
                  <a:lnTo>
                    <a:pt x="1355178" y="411086"/>
                  </a:lnTo>
                  <a:lnTo>
                    <a:pt x="1342390" y="438772"/>
                  </a:lnTo>
                  <a:lnTo>
                    <a:pt x="1316812" y="461048"/>
                  </a:lnTo>
                  <a:lnTo>
                    <a:pt x="1281417" y="475881"/>
                  </a:lnTo>
                  <a:lnTo>
                    <a:pt x="116598" y="481215"/>
                  </a:lnTo>
                  <a:lnTo>
                    <a:pt x="101942" y="480593"/>
                  </a:lnTo>
                  <a:lnTo>
                    <a:pt x="61696" y="471792"/>
                  </a:lnTo>
                  <a:lnTo>
                    <a:pt x="29311" y="454190"/>
                  </a:lnTo>
                  <a:lnTo>
                    <a:pt x="7759" y="429844"/>
                  </a:lnTo>
                  <a:lnTo>
                    <a:pt x="0" y="8020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068719" y="4434499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625333" y="3197352"/>
            <a:ext cx="2395855" cy="645160"/>
            <a:chOff x="7625333" y="3197352"/>
            <a:chExt cx="2395855" cy="64516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25333" y="3197352"/>
              <a:ext cx="1176526" cy="3040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670291" y="3211829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1086015" y="0"/>
                  </a:moveTo>
                  <a:lnTo>
                    <a:pt x="0" y="0"/>
                  </a:lnTo>
                  <a:lnTo>
                    <a:pt x="0" y="241376"/>
                  </a:lnTo>
                  <a:lnTo>
                    <a:pt x="1086015" y="241376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670672" y="3212210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0" y="0"/>
                  </a:moveTo>
                  <a:lnTo>
                    <a:pt x="1086015" y="0"/>
                  </a:lnTo>
                  <a:lnTo>
                    <a:pt x="1086015" y="241376"/>
                  </a:lnTo>
                  <a:lnTo>
                    <a:pt x="0" y="24137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44533" y="3197352"/>
              <a:ext cx="1176527" cy="30403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889491" y="3211829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1086015" y="0"/>
                  </a:moveTo>
                  <a:lnTo>
                    <a:pt x="0" y="0"/>
                  </a:lnTo>
                  <a:lnTo>
                    <a:pt x="0" y="241376"/>
                  </a:lnTo>
                  <a:lnTo>
                    <a:pt x="1086015" y="241376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8889872" y="3212210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0" y="0"/>
                  </a:moveTo>
                  <a:lnTo>
                    <a:pt x="1086015" y="0"/>
                  </a:lnTo>
                  <a:lnTo>
                    <a:pt x="1086015" y="241376"/>
                  </a:lnTo>
                  <a:lnTo>
                    <a:pt x="0" y="24137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44533" y="3537204"/>
              <a:ext cx="1176527" cy="30478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889491" y="3553206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1086015" y="0"/>
                  </a:moveTo>
                  <a:lnTo>
                    <a:pt x="0" y="0"/>
                  </a:lnTo>
                  <a:lnTo>
                    <a:pt x="0" y="240614"/>
                  </a:lnTo>
                  <a:lnTo>
                    <a:pt x="1086015" y="240614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8889872" y="3553586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0" y="0"/>
                  </a:moveTo>
                  <a:lnTo>
                    <a:pt x="1086015" y="0"/>
                  </a:lnTo>
                  <a:lnTo>
                    <a:pt x="1086015" y="240614"/>
                  </a:lnTo>
                  <a:lnTo>
                    <a:pt x="0" y="2406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25333" y="3533394"/>
              <a:ext cx="1176526" cy="30403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670291" y="3549395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1086015" y="0"/>
                  </a:moveTo>
                  <a:lnTo>
                    <a:pt x="0" y="0"/>
                  </a:lnTo>
                  <a:lnTo>
                    <a:pt x="0" y="240614"/>
                  </a:lnTo>
                  <a:lnTo>
                    <a:pt x="1086015" y="240614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670672" y="3549777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0" y="0"/>
                  </a:moveTo>
                  <a:lnTo>
                    <a:pt x="1086015" y="0"/>
                  </a:lnTo>
                  <a:lnTo>
                    <a:pt x="1086015" y="240614"/>
                  </a:lnTo>
                  <a:lnTo>
                    <a:pt x="0" y="2406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908835" y="3093627"/>
            <a:ext cx="1643380" cy="7061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1265" algn="l"/>
              </a:tabLst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1265" algn="l"/>
              </a:tabLst>
              <a:defRPr/>
            </a:pPr>
            <a:r>
              <a:rPr kumimoji="0" sz="2400" b="0" i="0" u="none" strike="noStrike" kern="0" cap="none" spc="-15" normalizeH="0" baseline="173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sz="2400" b="0" i="0" u="none" strike="noStrike" kern="0" cap="none" spc="0" normalizeH="0" baseline="173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303270" y="3308603"/>
            <a:ext cx="5641975" cy="2297430"/>
            <a:chOff x="3303270" y="3308603"/>
            <a:chExt cx="5641975" cy="2297430"/>
          </a:xfrm>
        </p:grpSpPr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03270" y="3974591"/>
              <a:ext cx="484631" cy="85648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358514" y="3999361"/>
              <a:ext cx="376555" cy="786765"/>
            </a:xfrm>
            <a:custGeom>
              <a:avLst/>
              <a:gdLst/>
              <a:ahLst/>
              <a:cxnLst/>
              <a:rect l="l" t="t" r="r" b="b"/>
              <a:pathLst>
                <a:path w="376554" h="786764">
                  <a:moveTo>
                    <a:pt x="0" y="786714"/>
                  </a:moveTo>
                  <a:lnTo>
                    <a:pt x="376402" y="0"/>
                  </a:lnTo>
                </a:path>
              </a:pathLst>
            </a:custGeom>
            <a:ln w="25399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03270" y="4767833"/>
              <a:ext cx="484631" cy="8381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358514" y="4785740"/>
              <a:ext cx="376555" cy="770255"/>
            </a:xfrm>
            <a:custGeom>
              <a:avLst/>
              <a:gdLst/>
              <a:ahLst/>
              <a:cxnLst/>
              <a:rect l="l" t="t" r="r" b="b"/>
              <a:pathLst>
                <a:path w="376554" h="770254">
                  <a:moveTo>
                    <a:pt x="0" y="0"/>
                  </a:moveTo>
                  <a:lnTo>
                    <a:pt x="376402" y="770216"/>
                  </a:lnTo>
                </a:path>
              </a:pathLst>
            </a:custGeom>
            <a:ln w="25399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40630" y="3493007"/>
              <a:ext cx="957071" cy="55473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090541" y="3517007"/>
              <a:ext cx="853440" cy="482600"/>
            </a:xfrm>
            <a:custGeom>
              <a:avLst/>
              <a:gdLst/>
              <a:ahLst/>
              <a:cxnLst/>
              <a:rect l="l" t="t" r="r" b="b"/>
              <a:pathLst>
                <a:path w="853439" h="482600">
                  <a:moveTo>
                    <a:pt x="0" y="481990"/>
                  </a:moveTo>
                  <a:lnTo>
                    <a:pt x="853376" y="0"/>
                  </a:lnTo>
                </a:path>
              </a:pathLst>
            </a:custGeom>
            <a:ln w="25399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40629" y="3976115"/>
              <a:ext cx="957071" cy="61112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090541" y="3998594"/>
              <a:ext cx="853440" cy="537845"/>
            </a:xfrm>
            <a:custGeom>
              <a:avLst/>
              <a:gdLst/>
              <a:ahLst/>
              <a:cxnLst/>
              <a:rect l="l" t="t" r="r" b="b"/>
              <a:pathLst>
                <a:path w="853439" h="537845">
                  <a:moveTo>
                    <a:pt x="0" y="0"/>
                  </a:moveTo>
                  <a:lnTo>
                    <a:pt x="853376" y="537641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49773" y="5532881"/>
              <a:ext cx="947927" cy="7315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090541" y="5556122"/>
              <a:ext cx="853440" cy="0"/>
            </a:xfrm>
            <a:custGeom>
              <a:avLst/>
              <a:gdLst/>
              <a:ahLst/>
              <a:cxnLst/>
              <a:rect l="l" t="t" r="r" b="b"/>
              <a:pathLst>
                <a:path w="853439">
                  <a:moveTo>
                    <a:pt x="0" y="0"/>
                  </a:moveTo>
                  <a:lnTo>
                    <a:pt x="853376" y="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50429" y="3308603"/>
              <a:ext cx="475487" cy="25831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298816" y="3333368"/>
              <a:ext cx="372110" cy="183515"/>
            </a:xfrm>
            <a:custGeom>
              <a:avLst/>
              <a:gdLst/>
              <a:ahLst/>
              <a:cxnLst/>
              <a:rect l="l" t="t" r="r" b="b"/>
              <a:pathLst>
                <a:path w="372109" h="183514">
                  <a:moveTo>
                    <a:pt x="0" y="183514"/>
                  </a:moveTo>
                  <a:lnTo>
                    <a:pt x="372021" y="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50429" y="3495294"/>
              <a:ext cx="475487" cy="22478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298816" y="3517010"/>
              <a:ext cx="372110" cy="153035"/>
            </a:xfrm>
            <a:custGeom>
              <a:avLst/>
              <a:gdLst/>
              <a:ahLst/>
              <a:cxnLst/>
              <a:rect l="l" t="t" r="r" b="b"/>
              <a:pathLst>
                <a:path w="372109" h="153035">
                  <a:moveTo>
                    <a:pt x="0" y="0"/>
                  </a:moveTo>
                  <a:lnTo>
                    <a:pt x="372021" y="152781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16518" y="3308603"/>
              <a:ext cx="228599" cy="7543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8757284" y="3333368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0" y="0"/>
                  </a:moveTo>
                  <a:lnTo>
                    <a:pt x="132549" y="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713470" y="3646931"/>
              <a:ext cx="231647" cy="7772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757284" y="3670172"/>
              <a:ext cx="132715" cy="3810"/>
            </a:xfrm>
            <a:custGeom>
              <a:avLst/>
              <a:gdLst/>
              <a:ahLst/>
              <a:cxnLst/>
              <a:rect l="l" t="t" r="r" b="b"/>
              <a:pathLst>
                <a:path w="132715" h="3810">
                  <a:moveTo>
                    <a:pt x="0" y="0"/>
                  </a:moveTo>
                  <a:lnTo>
                    <a:pt x="132549" y="3492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25334" y="4190238"/>
              <a:ext cx="1176526" cy="307085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670291" y="4207763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1086015" y="0"/>
                  </a:moveTo>
                  <a:lnTo>
                    <a:pt x="0" y="0"/>
                  </a:lnTo>
                  <a:lnTo>
                    <a:pt x="0" y="240614"/>
                  </a:lnTo>
                  <a:lnTo>
                    <a:pt x="1086015" y="240614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7670672" y="4208144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0" y="0"/>
                  </a:moveTo>
                  <a:lnTo>
                    <a:pt x="1086015" y="0"/>
                  </a:lnTo>
                  <a:lnTo>
                    <a:pt x="1086015" y="240614"/>
                  </a:lnTo>
                  <a:lnTo>
                    <a:pt x="0" y="2406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7902336" y="4200415"/>
            <a:ext cx="4241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8844533" y="4190238"/>
            <a:ext cx="1176655" cy="307340"/>
            <a:chOff x="8844533" y="4190238"/>
            <a:chExt cx="1176655" cy="307340"/>
          </a:xfrm>
        </p:grpSpPr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44533" y="4190238"/>
              <a:ext cx="1176527" cy="30708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8889491" y="4207763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1086015" y="0"/>
                  </a:moveTo>
                  <a:lnTo>
                    <a:pt x="0" y="0"/>
                  </a:lnTo>
                  <a:lnTo>
                    <a:pt x="0" y="240614"/>
                  </a:lnTo>
                  <a:lnTo>
                    <a:pt x="1086015" y="240614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8889872" y="4208144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0" y="0"/>
                  </a:moveTo>
                  <a:lnTo>
                    <a:pt x="1086015" y="0"/>
                  </a:lnTo>
                  <a:lnTo>
                    <a:pt x="1086015" y="240614"/>
                  </a:lnTo>
                  <a:lnTo>
                    <a:pt x="0" y="2406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121536" y="4200415"/>
            <a:ext cx="4241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8844533" y="4533138"/>
            <a:ext cx="1176655" cy="304165"/>
            <a:chOff x="8844533" y="4533138"/>
            <a:chExt cx="1176655" cy="304165"/>
          </a:xfrm>
        </p:grpSpPr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44533" y="4533138"/>
              <a:ext cx="1176527" cy="30403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8889491" y="4548378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1086015" y="0"/>
                  </a:moveTo>
                  <a:lnTo>
                    <a:pt x="0" y="0"/>
                  </a:lnTo>
                  <a:lnTo>
                    <a:pt x="0" y="241376"/>
                  </a:lnTo>
                  <a:lnTo>
                    <a:pt x="1086015" y="241376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8889872" y="4548759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0" y="0"/>
                  </a:moveTo>
                  <a:lnTo>
                    <a:pt x="1086015" y="0"/>
                  </a:lnTo>
                  <a:lnTo>
                    <a:pt x="1086015" y="241376"/>
                  </a:lnTo>
                  <a:lnTo>
                    <a:pt x="0" y="24137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9121536" y="4542779"/>
            <a:ext cx="4241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7625333" y="4528566"/>
            <a:ext cx="1176655" cy="304800"/>
            <a:chOff x="7625333" y="4528566"/>
            <a:chExt cx="1176655" cy="304800"/>
          </a:xfrm>
        </p:grpSpPr>
        <p:pic>
          <p:nvPicPr>
            <p:cNvPr id="82" name="object 8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25333" y="4528566"/>
              <a:ext cx="1176526" cy="30479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670291" y="4544568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1086015" y="0"/>
                  </a:moveTo>
                  <a:lnTo>
                    <a:pt x="0" y="0"/>
                  </a:lnTo>
                  <a:lnTo>
                    <a:pt x="0" y="240614"/>
                  </a:lnTo>
                  <a:lnTo>
                    <a:pt x="1086015" y="240614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7670672" y="4544949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0" y="0"/>
                  </a:moveTo>
                  <a:lnTo>
                    <a:pt x="1086015" y="0"/>
                  </a:lnTo>
                  <a:lnTo>
                    <a:pt x="1086015" y="240614"/>
                  </a:lnTo>
                  <a:lnTo>
                    <a:pt x="0" y="2406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7902336" y="4538579"/>
            <a:ext cx="4241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7250430" y="4303776"/>
            <a:ext cx="1694814" cy="1231900"/>
            <a:chOff x="7250430" y="4303776"/>
            <a:chExt cx="1694814" cy="1231900"/>
          </a:xfrm>
        </p:grpSpPr>
        <p:pic>
          <p:nvPicPr>
            <p:cNvPr id="87" name="object 8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50430" y="4303776"/>
              <a:ext cx="475487" cy="25831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298817" y="4328539"/>
              <a:ext cx="372110" cy="184785"/>
            </a:xfrm>
            <a:custGeom>
              <a:avLst/>
              <a:gdLst/>
              <a:ahLst/>
              <a:cxnLst/>
              <a:rect l="l" t="t" r="r" b="b"/>
              <a:pathLst>
                <a:path w="372109" h="184785">
                  <a:moveTo>
                    <a:pt x="0" y="184276"/>
                  </a:moveTo>
                  <a:lnTo>
                    <a:pt x="372021" y="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9" name="object 8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716518" y="4303776"/>
              <a:ext cx="228599" cy="76199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8757285" y="4328540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0" y="0"/>
                  </a:moveTo>
                  <a:lnTo>
                    <a:pt x="132549" y="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1" name="object 9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13470" y="4642104"/>
              <a:ext cx="231647" cy="77723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8757285" y="4665345"/>
              <a:ext cx="132715" cy="4445"/>
            </a:xfrm>
            <a:custGeom>
              <a:avLst/>
              <a:gdLst/>
              <a:ahLst/>
              <a:cxnLst/>
              <a:rect l="l" t="t" r="r" b="b"/>
              <a:pathLst>
                <a:path w="132715" h="4445">
                  <a:moveTo>
                    <a:pt x="0" y="0"/>
                  </a:moveTo>
                  <a:lnTo>
                    <a:pt x="132549" y="419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3" name="object 9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25334" y="5228082"/>
              <a:ext cx="1176526" cy="307085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670292" y="5244846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1086015" y="0"/>
                  </a:moveTo>
                  <a:lnTo>
                    <a:pt x="0" y="0"/>
                  </a:lnTo>
                  <a:lnTo>
                    <a:pt x="0" y="241376"/>
                  </a:lnTo>
                  <a:lnTo>
                    <a:pt x="1086015" y="241376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7670673" y="5245227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0" y="0"/>
                  </a:moveTo>
                  <a:lnTo>
                    <a:pt x="1086015" y="0"/>
                  </a:lnTo>
                  <a:lnTo>
                    <a:pt x="1086015" y="241376"/>
                  </a:lnTo>
                  <a:lnTo>
                    <a:pt x="0" y="24137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7926403" y="5247651"/>
            <a:ext cx="4241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844533" y="5228082"/>
            <a:ext cx="1176655" cy="307340"/>
            <a:chOff x="8844533" y="5228082"/>
            <a:chExt cx="1176655" cy="307340"/>
          </a:xfrm>
        </p:grpSpPr>
        <p:pic>
          <p:nvPicPr>
            <p:cNvPr id="98" name="object 9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844533" y="5228082"/>
              <a:ext cx="1176527" cy="307085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8889491" y="5244846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1086015" y="0"/>
                  </a:moveTo>
                  <a:lnTo>
                    <a:pt x="0" y="0"/>
                  </a:lnTo>
                  <a:lnTo>
                    <a:pt x="0" y="241376"/>
                  </a:lnTo>
                  <a:lnTo>
                    <a:pt x="1086015" y="241376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8889872" y="5245227"/>
              <a:ext cx="1086485" cy="241935"/>
            </a:xfrm>
            <a:custGeom>
              <a:avLst/>
              <a:gdLst/>
              <a:ahLst/>
              <a:cxnLst/>
              <a:rect l="l" t="t" r="r" b="b"/>
              <a:pathLst>
                <a:path w="1086484" h="241935">
                  <a:moveTo>
                    <a:pt x="0" y="0"/>
                  </a:moveTo>
                  <a:lnTo>
                    <a:pt x="1086015" y="0"/>
                  </a:lnTo>
                  <a:lnTo>
                    <a:pt x="1086015" y="241376"/>
                  </a:lnTo>
                  <a:lnTo>
                    <a:pt x="0" y="24137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9145603" y="5247651"/>
            <a:ext cx="4241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7625333" y="5566409"/>
            <a:ext cx="2395855" cy="308610"/>
            <a:chOff x="7625333" y="5566409"/>
            <a:chExt cx="2395855" cy="308610"/>
          </a:xfrm>
        </p:grpSpPr>
        <p:pic>
          <p:nvPicPr>
            <p:cNvPr id="103" name="object 10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844533" y="5570219"/>
              <a:ext cx="1176527" cy="30479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8889491" y="5586221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1086015" y="0"/>
                  </a:moveTo>
                  <a:lnTo>
                    <a:pt x="0" y="0"/>
                  </a:lnTo>
                  <a:lnTo>
                    <a:pt x="0" y="240614"/>
                  </a:lnTo>
                  <a:lnTo>
                    <a:pt x="1086015" y="240614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8889872" y="5586602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0" y="0"/>
                  </a:moveTo>
                  <a:lnTo>
                    <a:pt x="1086015" y="0"/>
                  </a:lnTo>
                  <a:lnTo>
                    <a:pt x="1086015" y="240614"/>
                  </a:lnTo>
                  <a:lnTo>
                    <a:pt x="0" y="2406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06" name="object 10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25333" y="5566409"/>
              <a:ext cx="1176526" cy="304799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7670291" y="5582411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1086015" y="0"/>
                  </a:moveTo>
                  <a:lnTo>
                    <a:pt x="0" y="0"/>
                  </a:lnTo>
                  <a:lnTo>
                    <a:pt x="0" y="240614"/>
                  </a:lnTo>
                  <a:lnTo>
                    <a:pt x="1086015" y="240614"/>
                  </a:lnTo>
                  <a:lnTo>
                    <a:pt x="1086015" y="0"/>
                  </a:lnTo>
                  <a:close/>
                </a:path>
              </a:pathLst>
            </a:custGeom>
            <a:solidFill>
              <a:srgbClr val="55CDF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7670672" y="5582792"/>
              <a:ext cx="1086485" cy="240665"/>
            </a:xfrm>
            <a:custGeom>
              <a:avLst/>
              <a:gdLst/>
              <a:ahLst/>
              <a:cxnLst/>
              <a:rect l="l" t="t" r="r" b="b"/>
              <a:pathLst>
                <a:path w="1086484" h="240664">
                  <a:moveTo>
                    <a:pt x="0" y="0"/>
                  </a:moveTo>
                  <a:lnTo>
                    <a:pt x="1086015" y="0"/>
                  </a:lnTo>
                  <a:lnTo>
                    <a:pt x="1086015" y="240614"/>
                  </a:lnTo>
                  <a:lnTo>
                    <a:pt x="0" y="2406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A67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7926403" y="5590016"/>
            <a:ext cx="1643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1265" algn="l"/>
              </a:tabLst>
              <a:defRPr/>
            </a:pPr>
            <a:r>
              <a:rPr kumimoji="0" sz="2400" b="0" i="0" u="none" strike="noStrike" kern="0" cap="none" spc="-15" normalizeH="0" baseline="173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sz="2400" b="0" i="0" u="none" strike="noStrike" kern="0" cap="none" spc="0" normalizeH="0" baseline="173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1934717" y="4514088"/>
            <a:ext cx="7010400" cy="1682750"/>
            <a:chOff x="1934717" y="4514088"/>
            <a:chExt cx="7010400" cy="1682750"/>
          </a:xfrm>
        </p:grpSpPr>
        <p:pic>
          <p:nvPicPr>
            <p:cNvPr id="111" name="object 11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250429" y="5341619"/>
              <a:ext cx="475487" cy="258317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7298816" y="5366383"/>
              <a:ext cx="372110" cy="183515"/>
            </a:xfrm>
            <a:custGeom>
              <a:avLst/>
              <a:gdLst/>
              <a:ahLst/>
              <a:cxnLst/>
              <a:rect l="l" t="t" r="r" b="b"/>
              <a:pathLst>
                <a:path w="372109" h="183514">
                  <a:moveTo>
                    <a:pt x="0" y="183515"/>
                  </a:moveTo>
                  <a:lnTo>
                    <a:pt x="372021" y="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3" name="object 11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716517" y="5341619"/>
              <a:ext cx="228599" cy="75437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8757285" y="5366385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0" y="0"/>
                  </a:moveTo>
                  <a:lnTo>
                    <a:pt x="132549" y="0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5" name="object 11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713470" y="5679947"/>
              <a:ext cx="231647" cy="77723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8757285" y="5703188"/>
              <a:ext cx="132715" cy="3810"/>
            </a:xfrm>
            <a:custGeom>
              <a:avLst/>
              <a:gdLst/>
              <a:ahLst/>
              <a:cxnLst/>
              <a:rect l="l" t="t" r="r" b="b"/>
              <a:pathLst>
                <a:path w="132715" h="3810">
                  <a:moveTo>
                    <a:pt x="0" y="0"/>
                  </a:moveTo>
                  <a:lnTo>
                    <a:pt x="132549" y="3492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7" name="object 11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50429" y="4514088"/>
              <a:ext cx="475487" cy="201929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298816" y="4536566"/>
              <a:ext cx="372110" cy="128905"/>
            </a:xfrm>
            <a:custGeom>
              <a:avLst/>
              <a:gdLst/>
              <a:ahLst/>
              <a:cxnLst/>
              <a:rect l="l" t="t" r="r" b="b"/>
              <a:pathLst>
                <a:path w="372109" h="128904">
                  <a:moveTo>
                    <a:pt x="0" y="0"/>
                  </a:moveTo>
                  <a:lnTo>
                    <a:pt x="372021" y="128562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9" name="object 11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50429" y="5532882"/>
              <a:ext cx="475487" cy="220205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7298816" y="5556122"/>
              <a:ext cx="372110" cy="147320"/>
            </a:xfrm>
            <a:custGeom>
              <a:avLst/>
              <a:gdLst/>
              <a:ahLst/>
              <a:cxnLst/>
              <a:rect l="l" t="t" r="r" b="b"/>
              <a:pathLst>
                <a:path w="372109" h="147320">
                  <a:moveTo>
                    <a:pt x="0" y="0"/>
                  </a:moveTo>
                  <a:lnTo>
                    <a:pt x="372008" y="146786"/>
                  </a:lnTo>
                </a:path>
              </a:pathLst>
            </a:custGeom>
            <a:ln w="25400">
              <a:solidFill>
                <a:srgbClr val="03A6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21" name="object 12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934717" y="5894069"/>
              <a:ext cx="4751831" cy="302501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1989960" y="5909691"/>
              <a:ext cx="4644390" cy="226695"/>
            </a:xfrm>
            <a:custGeom>
              <a:avLst/>
              <a:gdLst/>
              <a:ahLst/>
              <a:cxnLst/>
              <a:rect l="l" t="t" r="r" b="b"/>
              <a:pathLst>
                <a:path w="4644390" h="226695">
                  <a:moveTo>
                    <a:pt x="4644047" y="0"/>
                  </a:moveTo>
                  <a:lnTo>
                    <a:pt x="4643259" y="27647"/>
                  </a:lnTo>
                  <a:lnTo>
                    <a:pt x="4639398" y="64490"/>
                  </a:lnTo>
                  <a:lnTo>
                    <a:pt x="4632896" y="93522"/>
                  </a:lnTo>
                  <a:lnTo>
                    <a:pt x="2334018" y="117983"/>
                  </a:lnTo>
                  <a:lnTo>
                    <a:pt x="2330615" y="118808"/>
                  </a:lnTo>
                  <a:lnTo>
                    <a:pt x="2315819" y="145021"/>
                  </a:lnTo>
                  <a:lnTo>
                    <a:pt x="2309545" y="174980"/>
                  </a:lnTo>
                  <a:lnTo>
                    <a:pt x="2306002" y="212483"/>
                  </a:lnTo>
                  <a:lnTo>
                    <a:pt x="2305532" y="226225"/>
                  </a:lnTo>
                  <a:lnTo>
                    <a:pt x="2305278" y="213093"/>
                  </a:lnTo>
                  <a:lnTo>
                    <a:pt x="2301913" y="175806"/>
                  </a:lnTo>
                  <a:lnTo>
                    <a:pt x="2295271" y="144843"/>
                  </a:lnTo>
                  <a:lnTo>
                    <a:pt x="2279065" y="118325"/>
                  </a:lnTo>
                  <a:lnTo>
                    <a:pt x="28486" y="117983"/>
                  </a:lnTo>
                  <a:lnTo>
                    <a:pt x="25082" y="117157"/>
                  </a:lnTo>
                  <a:lnTo>
                    <a:pt x="10287" y="90944"/>
                  </a:lnTo>
                  <a:lnTo>
                    <a:pt x="4013" y="60985"/>
                  </a:lnTo>
                  <a:lnTo>
                    <a:pt x="469" y="23469"/>
                  </a:lnTo>
                  <a:lnTo>
                    <a:pt x="0" y="9728"/>
                  </a:lnTo>
                </a:path>
              </a:pathLst>
            </a:custGeom>
            <a:ln w="25400">
              <a:solidFill>
                <a:srgbClr val="00205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3493561" y="6187757"/>
            <a:ext cx="21463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(relative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size)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6671309" y="5894070"/>
            <a:ext cx="3359150" cy="317500"/>
            <a:chOff x="6671309" y="5894070"/>
            <a:chExt cx="3359150" cy="317500"/>
          </a:xfrm>
        </p:grpSpPr>
        <p:pic>
          <p:nvPicPr>
            <p:cNvPr id="125" name="object 12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71309" y="5894070"/>
              <a:ext cx="3358883" cy="316991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6725030" y="5909691"/>
              <a:ext cx="3251200" cy="243840"/>
            </a:xfrm>
            <a:custGeom>
              <a:avLst/>
              <a:gdLst/>
              <a:ahLst/>
              <a:cxnLst/>
              <a:rect l="l" t="t" r="r" b="b"/>
              <a:pathLst>
                <a:path w="3251200" h="243839">
                  <a:moveTo>
                    <a:pt x="3251174" y="0"/>
                  </a:moveTo>
                  <a:lnTo>
                    <a:pt x="3246767" y="65125"/>
                  </a:lnTo>
                  <a:lnTo>
                    <a:pt x="3229241" y="120586"/>
                  </a:lnTo>
                  <a:lnTo>
                    <a:pt x="1655889" y="125463"/>
                  </a:lnTo>
                  <a:lnTo>
                    <a:pt x="1652473" y="126238"/>
                  </a:lnTo>
                  <a:lnTo>
                    <a:pt x="1637487" y="151168"/>
                  </a:lnTo>
                  <a:lnTo>
                    <a:pt x="1630883" y="179895"/>
                  </a:lnTo>
                  <a:lnTo>
                    <a:pt x="1626743" y="216179"/>
                  </a:lnTo>
                  <a:lnTo>
                    <a:pt x="1625612" y="243433"/>
                  </a:lnTo>
                  <a:lnTo>
                    <a:pt x="1625384" y="229997"/>
                  </a:lnTo>
                  <a:lnTo>
                    <a:pt x="1622361" y="191947"/>
                  </a:lnTo>
                  <a:lnTo>
                    <a:pt x="1616303" y="159778"/>
                  </a:lnTo>
                  <a:lnTo>
                    <a:pt x="1604645" y="131559"/>
                  </a:lnTo>
                  <a:lnTo>
                    <a:pt x="30276" y="125463"/>
                  </a:lnTo>
                  <a:lnTo>
                    <a:pt x="26860" y="124675"/>
                  </a:lnTo>
                  <a:lnTo>
                    <a:pt x="11874" y="99745"/>
                  </a:lnTo>
                  <a:lnTo>
                    <a:pt x="5270" y="71018"/>
                  </a:lnTo>
                  <a:lnTo>
                    <a:pt x="1130" y="34734"/>
                  </a:lnTo>
                  <a:lnTo>
                    <a:pt x="381" y="21361"/>
                  </a:lnTo>
                  <a:lnTo>
                    <a:pt x="0" y="7480"/>
                  </a:lnTo>
                </a:path>
              </a:pathLst>
            </a:custGeom>
            <a:ln w="25400">
              <a:solidFill>
                <a:srgbClr val="00205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6946955" y="6187757"/>
            <a:ext cx="41370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Hours</a:t>
            </a:r>
            <a:r>
              <a:rPr kumimoji="0" sz="16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(derived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946752" y="6431495"/>
            <a:ext cx="26543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detailed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breakdown)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0444435" y="6582737"/>
            <a:ext cx="12338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33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9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/>
              <a:t>Leveling:</a:t>
            </a:r>
            <a:r>
              <a:rPr spc="-70" dirty="0"/>
              <a:t> </a:t>
            </a:r>
            <a:r>
              <a:rPr dirty="0"/>
              <a:t>Using</a:t>
            </a:r>
            <a:r>
              <a:rPr spc="-7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Bucket</a:t>
            </a:r>
            <a:r>
              <a:rPr spc="-85" dirty="0"/>
              <a:t> </a:t>
            </a:r>
            <a:r>
              <a:rPr dirty="0"/>
              <a:t>Plan</a:t>
            </a:r>
            <a:r>
              <a:rPr spc="-6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Releases</a:t>
            </a:r>
            <a:r>
              <a:rPr spc="-70" dirty="0"/>
              <a:t> </a:t>
            </a:r>
            <a:r>
              <a:rPr spc="-25" dirty="0"/>
              <a:t>#1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855" y="3968111"/>
            <a:ext cx="10521950" cy="2487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61160" algn="l"/>
                <a:tab pos="2674620" algn="l"/>
                <a:tab pos="3803650" algn="l"/>
                <a:tab pos="4933315" algn="l"/>
                <a:tab pos="6062345" algn="l"/>
                <a:tab pos="7191375" algn="l"/>
                <a:tab pos="8320405" algn="l"/>
                <a:tab pos="945007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6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9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Sprints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capacity of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(or</a:t>
            </a:r>
            <a:r>
              <a:rPr kumimoji="0" sz="1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Sprint/Iteration/Timebox)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0975" marR="0" lvl="0" indent="-16891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816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capacity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limits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09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81610" algn="l"/>
              </a:tabLst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Stories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buckets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can’t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09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816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Product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can’t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overfill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buckets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move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overflow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discard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it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traditional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sz="18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making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capacity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sufficient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assigned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period,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Levelling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748" y="2359914"/>
            <a:ext cx="1656182" cy="16032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0894" y="3497579"/>
            <a:ext cx="489965" cy="4655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3429" y="2791967"/>
            <a:ext cx="1209798" cy="11711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0452" y="2791967"/>
            <a:ext cx="1210546" cy="11711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5581" y="2791967"/>
            <a:ext cx="1209798" cy="117119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2604" y="2791967"/>
            <a:ext cx="1210546" cy="11711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980" y="3134105"/>
            <a:ext cx="856877" cy="8290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060" y="3144773"/>
            <a:ext cx="845662" cy="81838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3989" y="3144773"/>
            <a:ext cx="846398" cy="81838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17855" y="948533"/>
            <a:ext cx="1051750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Agile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09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816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assumes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09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1816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capacity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expected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productivity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whether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velocity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throughput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planned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cycle,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plan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probably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look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this: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930" y="6532642"/>
            <a:ext cx="72339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400" b="0" i="0" u="none" strike="noStrike" kern="0" cap="none" spc="48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https://itsadeliverything.com/bucket-planning-helpful-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metaphor-</a:t>
            </a:r>
            <a:r>
              <a:rPr kumimoji="0" sz="1400" b="0" i="0" u="sng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for-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agile-release-planning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145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44145" marR="0" lvl="0" indent="0" defTabSz="914400" eaLnBrk="1" fontAlgn="auto" latinLnBrk="0" hangingPunct="1">
                <a:lnSpc>
                  <a:spcPts val="9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9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/>
              <a:t>Leveling:</a:t>
            </a:r>
            <a:r>
              <a:rPr spc="-70" dirty="0"/>
              <a:t> </a:t>
            </a:r>
            <a:r>
              <a:rPr dirty="0"/>
              <a:t>Using</a:t>
            </a:r>
            <a:r>
              <a:rPr spc="-7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Bucket</a:t>
            </a:r>
            <a:r>
              <a:rPr spc="-85" dirty="0"/>
              <a:t> </a:t>
            </a:r>
            <a:r>
              <a:rPr dirty="0"/>
              <a:t>Plan</a:t>
            </a:r>
            <a:r>
              <a:rPr spc="-6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Releases</a:t>
            </a:r>
            <a:r>
              <a:rPr spc="-70" dirty="0"/>
              <a:t> </a:t>
            </a:r>
            <a:r>
              <a:rPr spc="-25" dirty="0"/>
              <a:t>#2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43072" y="1419605"/>
            <a:ext cx="8448675" cy="1172210"/>
            <a:chOff x="3243072" y="1419605"/>
            <a:chExt cx="8448675" cy="1172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3072" y="1419605"/>
              <a:ext cx="2436113" cy="11719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8705" y="1419605"/>
              <a:ext cx="6042660" cy="117195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17854" y="2513511"/>
            <a:ext cx="10554970" cy="3583304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29235" marR="0" lvl="0" indent="0" defTabSz="914400" eaLnBrk="1" fontAlgn="auto" latinLnBrk="0" hangingPunct="1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Tx/>
              <a:buSzTx/>
              <a:buFontTx/>
              <a:buNone/>
              <a:tabLst>
                <a:tab pos="1502410" algn="l"/>
                <a:tab pos="2675890" algn="l"/>
                <a:tab pos="3841750" algn="l"/>
                <a:tab pos="5067935" algn="l"/>
                <a:tab pos="6310630" algn="l"/>
                <a:tab pos="7527925" algn="l"/>
                <a:tab pos="8779510" algn="l"/>
                <a:tab pos="988758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6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9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Sprint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Velocity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7493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(or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cycle)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duration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low-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decomposition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(RBS-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level)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2-5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(or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successive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cycle)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duration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comparing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1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81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6388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implemented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81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6388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complexity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(difficulty,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risk,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effort)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planned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6-N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(or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far-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cycle)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duration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comparing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cycles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2-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81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6388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feature-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8175" marR="0" lvl="0" indent="-1689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75000"/>
              <a:buFont typeface="Wingdings 3"/>
              <a:buChar char=""/>
              <a:tabLst>
                <a:tab pos="63881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complexity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(difficulty,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risk,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effort)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feature-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determine</a:t>
            </a:r>
            <a:r>
              <a:rPr kumimoji="0" sz="1800" b="0" i="1" u="none" strike="noStrike" kern="0" cap="none" spc="-1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suitable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amount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effort</a:t>
            </a:r>
            <a:r>
              <a:rPr kumimoji="0" sz="18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per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1" u="none" strike="noStrike" kern="0" cap="none" spc="-3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worked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example,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bucket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equivalent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-25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people,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week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cycles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(Sprints),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days/wk,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hrs/day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700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man-hours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74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minus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days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(70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man-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hours)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allocated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630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man-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hours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905" y="948516"/>
            <a:ext cx="558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goal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leveling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cycle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plan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look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07373"/>
                </a:solidFill>
                <a:effectLst/>
                <a:uLnTx/>
                <a:uFillTx/>
                <a:latin typeface="Calibri"/>
                <a:cs typeface="Calibri"/>
              </a:rPr>
              <a:t>this: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" y="1419605"/>
            <a:ext cx="2436113" cy="11719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7930" y="6532642"/>
            <a:ext cx="72339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Source:</a:t>
            </a:r>
            <a:r>
              <a:rPr kumimoji="0" sz="1400" b="0" i="0" u="none" strike="noStrike" kern="0" cap="none" spc="48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https://itsadeliverything.com/bucket-planning-helpful-</a:t>
            </a:r>
            <a:r>
              <a:rPr kumimoji="0" sz="1400" b="0" i="0" u="sng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metaphor-</a:t>
            </a:r>
            <a:r>
              <a:rPr kumimoji="0" sz="1400" b="0" i="0" u="sng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for-</a:t>
            </a:r>
            <a:r>
              <a:rPr kumimoji="0" sz="1400" b="0" i="0" u="sng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agile-release-planning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145" marR="0" lvl="0" indent="0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©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Susan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Gasson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fld id="{81D60167-4931-47E6-BA6A-407CBD079E47}" type="slidenum"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44145" marR="0" lvl="0" indent="0" defTabSz="914400" eaLnBrk="1" fontAlgn="auto" latinLnBrk="0" hangingPunct="1">
                <a:lnSpc>
                  <a:spcPts val="9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sz="9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CFA2-E85C-BC41-944A-D8BB63AD0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DC32-5C18-3858-7A49-A69FE84F5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45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AnalogousFromLightSeedLeftStep">
      <a:dk1>
        <a:srgbClr val="000000"/>
      </a:dk1>
      <a:lt1>
        <a:srgbClr val="FFFFFF"/>
      </a:lt1>
      <a:dk2>
        <a:srgbClr val="3D3122"/>
      </a:dk2>
      <a:lt2>
        <a:srgbClr val="E6E2E8"/>
      </a:lt2>
      <a:accent1>
        <a:srgbClr val="7DAC6C"/>
      </a:accent1>
      <a:accent2>
        <a:srgbClr val="8FA958"/>
      </a:accent2>
      <a:accent3>
        <a:srgbClr val="A9A36A"/>
      </a:accent3>
      <a:accent4>
        <a:srgbClr val="CB9665"/>
      </a:accent4>
      <a:accent5>
        <a:srgbClr val="D68B86"/>
      </a:accent5>
      <a:accent6>
        <a:srgbClr val="CD6B8E"/>
      </a:accent6>
      <a:hlink>
        <a:srgbClr val="9C69AE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5691</Words>
  <Application>Microsoft Office PowerPoint</Application>
  <PresentationFormat>Widescreen</PresentationFormat>
  <Paragraphs>480</Paragraphs>
  <Slides>49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Meiryo</vt:lpstr>
      <vt:lpstr>Arial</vt:lpstr>
      <vt:lpstr>Calibri</vt:lpstr>
      <vt:lpstr>Calibri Light</vt:lpstr>
      <vt:lpstr>Corbel</vt:lpstr>
      <vt:lpstr>Lucida Sans Unicode</vt:lpstr>
      <vt:lpstr>Times New Roman</vt:lpstr>
      <vt:lpstr>Verdana</vt:lpstr>
      <vt:lpstr>Wingdings 3</vt:lpstr>
      <vt:lpstr>ShojiVTI</vt:lpstr>
      <vt:lpstr>Office Theme</vt:lpstr>
      <vt:lpstr>Agile Thoughts (Continued)</vt:lpstr>
      <vt:lpstr>The Agile Manifesto</vt:lpstr>
      <vt:lpstr>2001 – Snowbird, Utah 17 People Met</vt:lpstr>
      <vt:lpstr>12 Agile Principles</vt:lpstr>
      <vt:lpstr>Waterfall Projects (Atlassian)</vt:lpstr>
      <vt:lpstr>More Resilient to Change (Atlassian)</vt:lpstr>
      <vt:lpstr>Product Roadmap</vt:lpstr>
      <vt:lpstr>Initiatives, Epics, User Stories</vt:lpstr>
      <vt:lpstr>A User Story (Atlassian)</vt:lpstr>
      <vt:lpstr>Typical Agile Rituals/ Activities</vt:lpstr>
      <vt:lpstr>Good Agile Estimation Principles (ZenHub)</vt:lpstr>
      <vt:lpstr>Popular Agile Estimation Techniques</vt:lpstr>
      <vt:lpstr>Using Bucket Theory</vt:lpstr>
      <vt:lpstr>The Continuum of Project Life Cycles</vt:lpstr>
      <vt:lpstr>Waterfall Vs. Agile</vt:lpstr>
      <vt:lpstr>Traditional Vs. Agile Project Emphasis</vt:lpstr>
      <vt:lpstr>An Agile PMLC Develops Systems in Rapid Increments</vt:lpstr>
      <vt:lpstr>Exploring Scope</vt:lpstr>
      <vt:lpstr>Adaptive Planning</vt:lpstr>
      <vt:lpstr>Defining Scope With an Agile Project Management Life-Cycle</vt:lpstr>
      <vt:lpstr>Generic Agile Vs. SCRUM</vt:lpstr>
      <vt:lpstr>PowerPoint Presentation</vt:lpstr>
      <vt:lpstr>PowerPoint Presentation</vt:lpstr>
      <vt:lpstr>SCRUM Process</vt:lpstr>
      <vt:lpstr>Roles and Responsibilities of a Successful Scrum Team</vt:lpstr>
      <vt:lpstr>Feature-Led Development 🢧 A Change in Mindset</vt:lpstr>
      <vt:lpstr>PowerPoint Presentation</vt:lpstr>
      <vt:lpstr>Agile Planning as Navigation</vt:lpstr>
      <vt:lpstr>Rolling-wave planning: we decompose near-term activities down to the detail needed to develop those features, but only plan for future activities at a high level (as we may change direction in the meantime and never implement these features) Developing an agile roadmap is like navigating a path through misty mountains …</vt:lpstr>
      <vt:lpstr>Agile Project Features are decomposed to provide backlog items</vt:lpstr>
      <vt:lpstr>Agile – The Agile Practice Guide</vt:lpstr>
      <vt:lpstr>Delivering in an Agile Environment</vt:lpstr>
      <vt:lpstr>Iterations are planned around the backlog</vt:lpstr>
      <vt:lpstr>Stories, EtopTaisckss –, dIencoimtipaostinivg Reesqu,iraemnendts Tintho eRemleaseess†</vt:lpstr>
      <vt:lpstr>How to write Epics</vt:lpstr>
      <vt:lpstr>Elaboration and Decomposition are Critical</vt:lpstr>
      <vt:lpstr>How Features (User Stories) Feed Into The Agile Process</vt:lpstr>
      <vt:lpstr>Scope Verification – Via Story Cards</vt:lpstr>
      <vt:lpstr>Example of Elaboration and Decomposition</vt:lpstr>
      <vt:lpstr>Requirements Estimating Using the Cone of Uncertainty Rolling-wave planning: we decompose near-term activities down to the detail needed to develop those features, but only plan for future activities at a high level (as we may change direction in the meantime and never implement these features)</vt:lpstr>
      <vt:lpstr>Release-Planning: How Process Elements Fit Together</vt:lpstr>
      <vt:lpstr>PowerPoint Presentation</vt:lpstr>
      <vt:lpstr>Estimation Techniques When You Have Historical Data or Experience: Planning Poker</vt:lpstr>
      <vt:lpstr>PLANNING POKER</vt:lpstr>
      <vt:lpstr>Estimation Techniques When You Have Historical Data/Experience: Affinity Grouping</vt:lpstr>
      <vt:lpstr>Story Points are the de facto standard, but …</vt:lpstr>
      <vt:lpstr>Leveling: Using A Bucket Plan For Releases #1</vt:lpstr>
      <vt:lpstr>Leveling: Using A Bucket Plan For Releases #2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Arthanari,Ram</dc:creator>
  <cp:lastModifiedBy>Arthanari,Ram</cp:lastModifiedBy>
  <cp:revision>1</cp:revision>
  <dcterms:created xsi:type="dcterms:W3CDTF">2024-10-29T14:31:41Z</dcterms:created>
  <dcterms:modified xsi:type="dcterms:W3CDTF">2024-10-31T15:54:13Z</dcterms:modified>
</cp:coreProperties>
</file>